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8af5ab3b2b5470f" /><Relationship Type="http://schemas.openxmlformats.org/officeDocument/2006/relationships/extended-properties" Target="/docProps/app.xml" Id="R9c4736e81e6f44b0" /><Relationship Type="http://schemas.openxmlformats.org/officeDocument/2006/relationships/officeDocument" Target="/ppt/presentation.xml" Id="R5b072f7f21e640c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6e3c746d6bc40a5"/>
  </p:sldMasterIdLst>
  <p:notesMasterIdLst>
    <p:notesMasterId xmlns:r="http://schemas.openxmlformats.org/officeDocument/2006/relationships" r:id="R13c5e2502d5c474a"/>
  </p:notesMasterIdLst>
  <p:sldIdLst>
    <p:sldId xmlns:r="http://schemas.openxmlformats.org/officeDocument/2006/relationships" id="256" r:id="Rc95c8461be54415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3f2ec6d4c224158" /><Relationship Type="http://schemas.openxmlformats.org/officeDocument/2006/relationships/slideMaster" Target="/ppt/slideMasters/slideMaster1.xml" Id="R96e3c746d6bc40a5" /><Relationship Type="http://schemas.openxmlformats.org/officeDocument/2006/relationships/notesMaster" Target="/ppt/notesMasters/notesMaster1.xml" Id="R13c5e2502d5c474a" /><Relationship Type="http://schemas.openxmlformats.org/officeDocument/2006/relationships/presProps" Target="/ppt/presProps.xml" Id="Re440c968a6d3480f" /><Relationship Type="http://schemas.openxmlformats.org/officeDocument/2006/relationships/tableStyles" Target="/ppt/tableStyles.xml" Id="R3e788238664e4647" /><Relationship Type="http://schemas.openxmlformats.org/officeDocument/2006/relationships/slide" Target="/ppt/slides/slide1.xml" Id="Rc95c8461be54415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ec06a96eaa845e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6771b448a9b4bec" /><Relationship Type="http://schemas.openxmlformats.org/officeDocument/2006/relationships/notesMaster" Target="/ppt/notesMasters/notesMaster1.xml" Id="R601f1e6869b4469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0e5228dabb4c4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eac046da8fc4c00" /><Relationship Type="http://schemas.openxmlformats.org/officeDocument/2006/relationships/slideLayout" Target="/ppt/slideLayouts/slideLayout1.xml" Id="R3bd6cab1d6724ea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bd6cab1d6724ea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b52b8c022d49c8" /><Relationship Type="http://schemas.openxmlformats.org/officeDocument/2006/relationships/image" Target="/ppt/media/image.png" Id="R352da3833fb24c43" /><Relationship Type="http://schemas.openxmlformats.org/officeDocument/2006/relationships/image" Target="/ppt/media/image.svg" Id="Re9bc27a18212482d" /><Relationship Type="http://schemas.openxmlformats.org/officeDocument/2006/relationships/notesSlide" Target="/ppt/notesSlides/notesSlide1.xml" Id="R789eb742fa5e492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D643B5FB-0A2F-480A-9B8B-811DB13C4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19F2D8F-E167-4AA5-A689-64FE89FAF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3350"/>
            <a:ext cx="11144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82968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082968"/>
                </a:solidFill>
                <a:latin typeface="Aptos Display"/>
                <a:ea typeface="Aptos Display"/>
                <a:cs typeface="Aptos Display"/>
              </a:rPr>
              <a:t>BROKER PROFILE COMPARISON - KNOWN vs UNKNOWN NTU REASON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23588807-FBE0-42A6-96E0-D750AFF9C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42925"/>
            <a:ext cx="81915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A0A0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A0A0D"/>
                </a:solidFill>
                <a:latin typeface="Aptos"/>
                <a:ea typeface="Aptos"/>
                <a:cs typeface="Aptos"/>
              </a:rPr>
              <a:t>Analysis of Top 15 Brokers by Count of Submissions based on NTU Reason Classification</a:t>
            </a:r>
          </a:p>
        </p:txBody>
      </p:sp>
      <p:sp>
        <p:nvSpPr>
          <p:cNvPr id="4" name="known-panel">
            <a:extLst xmlns:a="http://schemas.openxmlformats.org/drawingml/2006/main">
              <a:ext uri="{FF2B5EF4-FFF2-40B4-BE49-F238E27FC236}">
                <a16:creationId xmlns:a16="http://schemas.microsoft.com/office/drawing/2014/main" id="{F0717A7D-DFD4-429C-900F-5CB2EF9A1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876300"/>
            <a:ext cx="5715000" cy="430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2E2"/>
            </a:solidFill>
            <a:prstDash val="solid"/>
          </a:ln>
        </p:spPr>
      </p:sp>
      <p:sp>
        <p:nvSpPr>
          <p:cNvPr id="5" name="known-title-band">
            <a:extLst xmlns:a="http://schemas.openxmlformats.org/drawingml/2006/main">
              <a:ext uri="{FF2B5EF4-FFF2-40B4-BE49-F238E27FC236}">
                <a16:creationId xmlns:a16="http://schemas.microsoft.com/office/drawing/2014/main" id="{D3FD2E8C-A189-4711-9480-F6DA48B51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876300"/>
            <a:ext cx="57150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968"/>
          </a:solidFill>
          <a:ln xmlns:a="http://schemas.openxmlformats.org/drawingml/2006/main" w="0">
            <a:solidFill>
              <a:srgbClr val="082968"/>
            </a:solidFill>
            <a:prstDash val="solid"/>
          </a:ln>
        </p:spPr>
      </p:sp>
      <p:sp>
        <p:nvSpPr>
          <p:cNvPr id="6" name="known-title">
            <a:extLst xmlns:a="http://schemas.openxmlformats.org/drawingml/2006/main">
              <a:ext uri="{FF2B5EF4-FFF2-40B4-BE49-F238E27FC236}">
                <a16:creationId xmlns:a16="http://schemas.microsoft.com/office/drawing/2014/main" id="{8EE16D4A-6270-4D64-9A8D-A4CA35614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942975"/>
            <a:ext cx="571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TOP 15 BROKERS - KNOWN NTU REASON</a:t>
            </a:r>
          </a:p>
        </p:txBody>
      </p:sp>
      <p:sp>
        <p:nvSpPr>
          <p:cNvPr id="7" name="known-subtitle">
            <a:extLst xmlns:a="http://schemas.openxmlformats.org/drawingml/2006/main">
              <a:ext uri="{FF2B5EF4-FFF2-40B4-BE49-F238E27FC236}">
                <a16:creationId xmlns:a16="http://schemas.microsoft.com/office/drawing/2014/main" id="{74832B59-1572-430C-B9C3-E8F8E27BF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1314450"/>
            <a:ext cx="571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0A0A0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0A0A0D"/>
                </a:solidFill>
                <a:latin typeface="Aptos"/>
                <a:ea typeface="Aptos"/>
                <a:cs typeface="Aptos"/>
              </a:rPr>
              <a:t>Brokers where NTU reason is captured and classified</a:t>
            </a:r>
          </a:p>
        </p:txBody>
      </p:sp>
      <p:sp>
        <p:nvSpPr>
          <p:cNvPr id="8" name="known-column-header">
            <a:extLst xmlns:a="http://schemas.openxmlformats.org/drawingml/2006/main">
              <a:ext uri="{FF2B5EF4-FFF2-40B4-BE49-F238E27FC236}">
                <a16:creationId xmlns:a16="http://schemas.microsoft.com/office/drawing/2014/main" id="{FA7D39C5-B757-48B7-836C-97A11AF59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1581150"/>
            <a:ext cx="57150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D"/>
          </a:solidFill>
          <a:ln xmlns:a="http://schemas.openxmlformats.org/drawingml/2006/main" w="6668">
            <a:solidFill>
              <a:srgbClr val="C8D2E2"/>
            </a:solidFill>
            <a:prstDash val="solid"/>
          </a:ln>
        </p:spPr>
      </p:sp>
      <p:sp>
        <p:nvSpPr>
          <p:cNvPr id="9" name="known-hash">
            <a:extLst xmlns:a="http://schemas.openxmlformats.org/drawingml/2006/main">
              <a:ext uri="{FF2B5EF4-FFF2-40B4-BE49-F238E27FC236}">
                <a16:creationId xmlns:a16="http://schemas.microsoft.com/office/drawing/2014/main" id="{393285B8-6986-4204-A0F0-936C33422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676400"/>
            <a:ext cx="228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08296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082968"/>
                </a:solidFill>
                <a:latin typeface="Aptos"/>
                <a:ea typeface="Aptos"/>
                <a:cs typeface="Aptos"/>
              </a:rPr>
              <a:t>#</a:t>
            </a:r>
          </a:p>
        </p:txBody>
      </p:sp>
      <p:sp>
        <p:nvSpPr>
          <p:cNvPr id="10" name="known-broker-head">
            <a:extLst xmlns:a="http://schemas.openxmlformats.org/drawingml/2006/main">
              <a:ext uri="{FF2B5EF4-FFF2-40B4-BE49-F238E27FC236}">
                <a16:creationId xmlns:a16="http://schemas.microsoft.com/office/drawing/2014/main" id="{40F4B6AE-A291-40D4-9046-937E2A833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676400"/>
            <a:ext cx="1809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8296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082968"/>
                </a:solidFill>
                <a:latin typeface="Aptos"/>
                <a:ea typeface="Aptos"/>
                <a:cs typeface="Aptos"/>
              </a:rPr>
              <a:t>BROKER NAME</a:t>
            </a:r>
          </a:p>
        </p:txBody>
      </p:sp>
      <p:sp>
        <p:nvSpPr>
          <p:cNvPr id="11" name="known-count-head">
            <a:extLst xmlns:a="http://schemas.openxmlformats.org/drawingml/2006/main">
              <a:ext uri="{FF2B5EF4-FFF2-40B4-BE49-F238E27FC236}">
                <a16:creationId xmlns:a16="http://schemas.microsoft.com/office/drawing/2014/main" id="{30AAA797-A6B2-4D54-9FF0-46D6D6893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676400"/>
            <a:ext cx="1638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08296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082968"/>
                </a:solidFill>
                <a:latin typeface="Aptos"/>
                <a:ea typeface="Aptos"/>
                <a:cs typeface="Aptos"/>
              </a:rPr>
              <a:t>COUNT OF SUBMISSIONS</a:t>
            </a:r>
          </a:p>
        </p:txBody>
      </p:sp>
      <p:sp>
        <p:nvSpPr>
          <p:cNvPr id="12" name="known-bar-axis">
            <a:extLst xmlns:a="http://schemas.openxmlformats.org/drawingml/2006/main">
              <a:ext uri="{FF2B5EF4-FFF2-40B4-BE49-F238E27FC236}">
                <a16:creationId xmlns:a16="http://schemas.microsoft.com/office/drawing/2014/main" id="{1FEA503D-4EBD-463C-A2DE-B9F925BD1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1933575"/>
            <a:ext cx="9525" cy="29598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2E2"/>
          </a:solidFill>
          <a:ln xmlns:a="http://schemas.openxmlformats.org/drawingml/2006/main" w="0">
            <a:solidFill>
              <a:srgbClr val="C8D2E2"/>
            </a:solidFill>
            <a:prstDash val="solid"/>
          </a:ln>
        </p:spPr>
      </p:sp>
      <p:sp>
        <p:nvSpPr>
          <p:cNvPr id="13" name="known-rank-0">
            <a:extLst xmlns:a="http://schemas.openxmlformats.org/drawingml/2006/main">
              <a:ext uri="{FF2B5EF4-FFF2-40B4-BE49-F238E27FC236}">
                <a16:creationId xmlns:a16="http://schemas.microsoft.com/office/drawing/2014/main" id="{C0E5ED27-E5D1-4F96-AE6F-7BCA13AAA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973580"/>
            <a:ext cx="20955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82" b="0">
                <a:solidFill>
                  <a:srgbClr val="0A0A0D"/>
                </a:solidFill>
                <a:latin typeface="Aptos"/>
                <a:ea typeface="Aptos"/>
                <a:cs typeface="Aptos"/>
              </a:defRPr>
            </a:pPr>
            <a:r>
              <a:rPr sz="682" b="0">
                <a:solidFill>
                  <a:srgbClr val="0A0A0D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4" name="known-broker-0">
            <a:extLst xmlns:a="http://schemas.openxmlformats.org/drawingml/2006/main">
              <a:ext uri="{FF2B5EF4-FFF2-40B4-BE49-F238E27FC236}">
                <a16:creationId xmlns:a16="http://schemas.microsoft.com/office/drawing/2014/main" id="{BBDFA6D4-6934-42AC-9B2E-BD90366F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973580"/>
            <a:ext cx="1619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0A0A0D"/>
                </a:solidFill>
                <a:latin typeface="Aptos"/>
                <a:ea typeface="Aptos"/>
                <a:cs typeface="Aptos"/>
              </a:defRPr>
            </a:pPr>
            <a:r>
              <a:rPr sz="757" b="0">
                <a:solidFill>
                  <a:srgbClr val="0A0A0D"/>
                </a:solidFill>
                <a:latin typeface="Aptos"/>
                <a:ea typeface="Aptos"/>
                <a:cs typeface="Aptos"/>
              </a:rPr>
              <a:t>Aon</a:t>
            </a:r>
          </a:p>
        </p:txBody>
      </p:sp>
      <p:sp>
        <p:nvSpPr>
          <p:cNvPr id="15" name="known-bar-0">
            <a:extLst xmlns:a="http://schemas.openxmlformats.org/drawingml/2006/main">
              <a:ext uri="{FF2B5EF4-FFF2-40B4-BE49-F238E27FC236}">
                <a16:creationId xmlns:a16="http://schemas.microsoft.com/office/drawing/2014/main" id="{A35EFFB3-824D-4075-B8CC-89BA8370E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1994535"/>
            <a:ext cx="2476500" cy="90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968"/>
          </a:solidFill>
          <a:ln xmlns:a="http://schemas.openxmlformats.org/drawingml/2006/main" w="0">
            <a:solidFill>
              <a:srgbClr val="082968"/>
            </a:solidFill>
            <a:prstDash val="solid"/>
          </a:ln>
        </p:spPr>
      </p:sp>
      <p:sp>
        <p:nvSpPr>
          <p:cNvPr id="16" name="known-value-0">
            <a:extLst xmlns:a="http://schemas.openxmlformats.org/drawingml/2006/main">
              <a:ext uri="{FF2B5EF4-FFF2-40B4-BE49-F238E27FC236}">
                <a16:creationId xmlns:a16="http://schemas.microsoft.com/office/drawing/2014/main" id="{DFB4C5BE-1246-4A7D-8069-40040E6FC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973580"/>
            <a:ext cx="2667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20" b="0">
                <a:solidFill>
                  <a:srgbClr val="0A0A0D"/>
                </a:solidFill>
                <a:latin typeface="Aptos"/>
                <a:ea typeface="Aptos"/>
                <a:cs typeface="Aptos"/>
              </a:defRPr>
            </a:pPr>
            <a:r>
              <a:rPr sz="720" b="0">
                <a:solidFill>
                  <a:srgbClr val="0A0A0D"/>
                </a:solidFill>
                <a:latin typeface="Aptos"/>
                <a:ea typeface="Aptos"/>
                <a:cs typeface="Aptos"/>
              </a:rPr>
              <a:t>269</a:t>
            </a:r>
          </a:p>
        </p:txBody>
      </p:sp>
      <p:sp>
        <p:nvSpPr>
          <p:cNvPr id="17" name="known-rank-1">
            <a:extLst xmlns:a="http://schemas.openxmlformats.org/drawingml/2006/main">
              <a:ext uri="{FF2B5EF4-FFF2-40B4-BE49-F238E27FC236}">
                <a16:creationId xmlns:a16="http://schemas.microsoft.com/office/drawing/2014/main" id="{8E1CF3DA-FAA1-4ADF-99AE-0FACCD609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168366"/>
            <a:ext cx="20955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82" b="0">
                <a:solidFill>
                  <a:srgbClr val="0A0A0D"/>
                </a:solidFill>
                <a:latin typeface="Aptos"/>
                <a:ea typeface="Aptos"/>
                <a:cs typeface="Aptos"/>
              </a:defRPr>
            </a:pPr>
            <a:r>
              <a:rPr sz="682" b="0">
                <a:solidFill>
                  <a:srgbClr val="0A0A0D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8" name="known-broker-1">
            <a:extLst xmlns:a="http://schemas.openxmlformats.org/drawingml/2006/main">
              <a:ext uri="{FF2B5EF4-FFF2-40B4-BE49-F238E27FC236}">
                <a16:creationId xmlns:a16="http://schemas.microsoft.com/office/drawing/2014/main" id="{91672EF6-0FE9-43DC-94A7-57EC05A11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168366"/>
            <a:ext cx="1619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0A0A0D"/>
                </a:solidFill>
                <a:latin typeface="Aptos"/>
                <a:ea typeface="Aptos"/>
                <a:cs typeface="Aptos"/>
              </a:defRPr>
            </a:pPr>
            <a:r>
              <a:rPr sz="757" b="0">
                <a:solidFill>
                  <a:srgbClr val="0A0A0D"/>
                </a:solidFill>
                <a:latin typeface="Aptos"/>
                <a:ea typeface="Aptos"/>
                <a:cs typeface="Aptos"/>
              </a:rPr>
              <a:t>Marsh McLennan</a:t>
            </a:r>
          </a:p>
        </p:txBody>
      </p:sp>
      <p:sp>
        <p:nvSpPr>
          <p:cNvPr id="19" name="known-bar-1">
            <a:extLst xmlns:a="http://schemas.openxmlformats.org/drawingml/2006/main">
              <a:ext uri="{FF2B5EF4-FFF2-40B4-BE49-F238E27FC236}">
                <a16:creationId xmlns:a16="http://schemas.microsoft.com/office/drawing/2014/main" id="{B0197246-AB01-432F-B7D2-3A49EE47D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189321"/>
            <a:ext cx="2375230" cy="90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968"/>
          </a:solidFill>
          <a:ln xmlns:a="http://schemas.openxmlformats.org/drawingml/2006/main" w="0">
            <a:solidFill>
              <a:srgbClr val="082968"/>
            </a:solidFill>
            <a:prstDash val="solid"/>
          </a:ln>
        </p:spPr>
      </p:sp>
      <p:sp>
        <p:nvSpPr>
          <p:cNvPr id="20" name="known-value-1">
            <a:extLst xmlns:a="http://schemas.openxmlformats.org/drawingml/2006/main">
              <a:ext uri="{FF2B5EF4-FFF2-40B4-BE49-F238E27FC236}">
                <a16:creationId xmlns:a16="http://schemas.microsoft.com/office/drawing/2014/main" id="{7FD2F860-55E4-40E7-A45F-091BF3F6B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168366"/>
            <a:ext cx="2667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20" b="0">
                <a:solidFill>
                  <a:srgbClr val="0A0A0D"/>
                </a:solidFill>
                <a:latin typeface="Aptos"/>
                <a:ea typeface="Aptos"/>
                <a:cs typeface="Aptos"/>
              </a:defRPr>
            </a:pPr>
            <a:r>
              <a:rPr sz="720" b="0">
                <a:solidFill>
                  <a:srgbClr val="0A0A0D"/>
                </a:solidFill>
                <a:latin typeface="Aptos"/>
                <a:ea typeface="Aptos"/>
                <a:cs typeface="Aptos"/>
              </a:rPr>
              <a:t>258</a:t>
            </a:r>
          </a:p>
        </p:txBody>
      </p:sp>
      <p:sp>
        <p:nvSpPr>
          <p:cNvPr id="21" name="known-rank-2">
            <a:extLst xmlns:a="http://schemas.openxmlformats.org/drawingml/2006/main">
              <a:ext uri="{FF2B5EF4-FFF2-40B4-BE49-F238E27FC236}">
                <a16:creationId xmlns:a16="http://schemas.microsoft.com/office/drawing/2014/main" id="{A99E7E9C-5FA6-4066-A410-CCC4D8D6A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363153"/>
            <a:ext cx="20955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82" b="0">
                <a:solidFill>
                  <a:srgbClr val="0A0A0D"/>
                </a:solidFill>
                <a:latin typeface="Aptos"/>
                <a:ea typeface="Aptos"/>
                <a:cs typeface="Aptos"/>
              </a:defRPr>
            </a:pPr>
            <a:r>
              <a:rPr sz="682" b="0">
                <a:solidFill>
                  <a:srgbClr val="0A0A0D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2" name="known-broker-2">
            <a:extLst xmlns:a="http://schemas.openxmlformats.org/drawingml/2006/main">
              <a:ext uri="{FF2B5EF4-FFF2-40B4-BE49-F238E27FC236}">
                <a16:creationId xmlns:a16="http://schemas.microsoft.com/office/drawing/2014/main" id="{280DF3B6-18D3-4FA9-BB65-175C3C24D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363153"/>
            <a:ext cx="1619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0A0A0D"/>
                </a:solidFill>
                <a:latin typeface="Aptos"/>
                <a:ea typeface="Aptos"/>
                <a:cs typeface="Aptos"/>
              </a:defRPr>
            </a:pPr>
            <a:r>
              <a:rPr sz="757" b="0">
                <a:solidFill>
                  <a:srgbClr val="0A0A0D"/>
                </a:solidFill>
                <a:latin typeface="Aptos"/>
                <a:ea typeface="Aptos"/>
                <a:cs typeface="Aptos"/>
              </a:rPr>
              <a:t>Willis (WTW)</a:t>
            </a:r>
          </a:p>
        </p:txBody>
      </p:sp>
      <p:sp>
        <p:nvSpPr>
          <p:cNvPr id="23" name="known-bar-2">
            <a:extLst xmlns:a="http://schemas.openxmlformats.org/drawingml/2006/main">
              <a:ext uri="{FF2B5EF4-FFF2-40B4-BE49-F238E27FC236}">
                <a16:creationId xmlns:a16="http://schemas.microsoft.com/office/drawing/2014/main" id="{1DE638EE-EA34-411B-A229-7E105EE3F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384108"/>
            <a:ext cx="2154279" cy="90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968"/>
          </a:solidFill>
          <a:ln xmlns:a="http://schemas.openxmlformats.org/drawingml/2006/main" w="0">
            <a:solidFill>
              <a:srgbClr val="082968"/>
            </a:solidFill>
            <a:prstDash val="solid"/>
          </a:ln>
        </p:spPr>
      </p:sp>
      <p:sp>
        <p:nvSpPr>
          <p:cNvPr id="24" name="known-value-2">
            <a:extLst xmlns:a="http://schemas.openxmlformats.org/drawingml/2006/main">
              <a:ext uri="{FF2B5EF4-FFF2-40B4-BE49-F238E27FC236}">
                <a16:creationId xmlns:a16="http://schemas.microsoft.com/office/drawing/2014/main" id="{5208A02F-A9A6-4DF7-AD83-E857880AD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363153"/>
            <a:ext cx="2667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20" b="0">
                <a:solidFill>
                  <a:srgbClr val="0A0A0D"/>
                </a:solidFill>
                <a:latin typeface="Aptos"/>
                <a:ea typeface="Aptos"/>
                <a:cs typeface="Aptos"/>
              </a:defRPr>
            </a:pPr>
            <a:r>
              <a:rPr sz="720" b="0">
                <a:solidFill>
                  <a:srgbClr val="0A0A0D"/>
                </a:solidFill>
                <a:latin typeface="Aptos"/>
                <a:ea typeface="Aptos"/>
                <a:cs typeface="Aptos"/>
              </a:rPr>
              <a:t>234</a:t>
            </a:r>
          </a:p>
        </p:txBody>
      </p:sp>
      <p:sp>
        <p:nvSpPr>
          <p:cNvPr id="25" name="known-rank-3">
            <a:extLst xmlns:a="http://schemas.openxmlformats.org/drawingml/2006/main">
              <a:ext uri="{FF2B5EF4-FFF2-40B4-BE49-F238E27FC236}">
                <a16:creationId xmlns:a16="http://schemas.microsoft.com/office/drawing/2014/main" id="{10E80A2F-BDC5-47C6-8F65-EC6756FD4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557939"/>
            <a:ext cx="20955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82" b="0">
                <a:solidFill>
                  <a:srgbClr val="0A0A0D"/>
                </a:solidFill>
                <a:latin typeface="Aptos"/>
                <a:ea typeface="Aptos"/>
                <a:cs typeface="Aptos"/>
              </a:defRPr>
            </a:pPr>
            <a:r>
              <a:rPr sz="682" b="0">
                <a:solidFill>
                  <a:srgbClr val="0A0A0D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6" name="known-broker-3">
            <a:extLst xmlns:a="http://schemas.openxmlformats.org/drawingml/2006/main">
              <a:ext uri="{FF2B5EF4-FFF2-40B4-BE49-F238E27FC236}">
                <a16:creationId xmlns:a16="http://schemas.microsoft.com/office/drawing/2014/main" id="{7E622682-0D5A-4890-A4B6-44160712E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557939"/>
            <a:ext cx="1619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0A0A0D"/>
                </a:solidFill>
                <a:latin typeface="Aptos"/>
                <a:ea typeface="Aptos"/>
                <a:cs typeface="Aptos"/>
              </a:defRPr>
            </a:pPr>
            <a:r>
              <a:rPr sz="757" b="0">
                <a:solidFill>
                  <a:srgbClr val="0A0A0D"/>
                </a:solidFill>
                <a:latin typeface="Aptos"/>
                <a:ea typeface="Aptos"/>
                <a:cs typeface="Aptos"/>
              </a:rPr>
              <a:t>Arthur J Gallagher</a:t>
            </a:r>
          </a:p>
        </p:txBody>
      </p:sp>
      <p:sp>
        <p:nvSpPr>
          <p:cNvPr id="27" name="known-bar-3">
            <a:extLst xmlns:a="http://schemas.openxmlformats.org/drawingml/2006/main">
              <a:ext uri="{FF2B5EF4-FFF2-40B4-BE49-F238E27FC236}">
                <a16:creationId xmlns:a16="http://schemas.microsoft.com/office/drawing/2014/main" id="{9C4B37D1-E786-42CC-B8F3-C2CE9F379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578894"/>
            <a:ext cx="2154279" cy="90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968"/>
          </a:solidFill>
          <a:ln xmlns:a="http://schemas.openxmlformats.org/drawingml/2006/main" w="0">
            <a:solidFill>
              <a:srgbClr val="082968"/>
            </a:solidFill>
            <a:prstDash val="solid"/>
          </a:ln>
        </p:spPr>
      </p:sp>
      <p:sp>
        <p:nvSpPr>
          <p:cNvPr id="28" name="known-value-3">
            <a:extLst xmlns:a="http://schemas.openxmlformats.org/drawingml/2006/main">
              <a:ext uri="{FF2B5EF4-FFF2-40B4-BE49-F238E27FC236}">
                <a16:creationId xmlns:a16="http://schemas.microsoft.com/office/drawing/2014/main" id="{493DD5C2-DDD5-4F65-8E6E-7725AFB0D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557939"/>
            <a:ext cx="2667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20" b="0">
                <a:solidFill>
                  <a:srgbClr val="0A0A0D"/>
                </a:solidFill>
                <a:latin typeface="Aptos"/>
                <a:ea typeface="Aptos"/>
                <a:cs typeface="Aptos"/>
              </a:defRPr>
            </a:pPr>
            <a:r>
              <a:rPr sz="720" b="0">
                <a:solidFill>
                  <a:srgbClr val="0A0A0D"/>
                </a:solidFill>
                <a:latin typeface="Aptos"/>
                <a:ea typeface="Aptos"/>
                <a:cs typeface="Aptos"/>
              </a:rPr>
              <a:t>234</a:t>
            </a:r>
          </a:p>
        </p:txBody>
      </p:sp>
      <p:sp>
        <p:nvSpPr>
          <p:cNvPr id="29" name="known-rank-4">
            <a:extLst xmlns:a="http://schemas.openxmlformats.org/drawingml/2006/main">
              <a:ext uri="{FF2B5EF4-FFF2-40B4-BE49-F238E27FC236}">
                <a16:creationId xmlns:a16="http://schemas.microsoft.com/office/drawing/2014/main" id="{050F0114-C6F7-4D46-B485-2204970DA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752725"/>
            <a:ext cx="20955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82" b="0">
                <a:solidFill>
                  <a:srgbClr val="0A0A0D"/>
                </a:solidFill>
                <a:latin typeface="Aptos"/>
                <a:ea typeface="Aptos"/>
                <a:cs typeface="Aptos"/>
              </a:defRPr>
            </a:pPr>
            <a:r>
              <a:rPr sz="682" b="0">
                <a:solidFill>
                  <a:srgbClr val="0A0A0D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0" name="known-broker-4">
            <a:extLst xmlns:a="http://schemas.openxmlformats.org/drawingml/2006/main">
              <a:ext uri="{FF2B5EF4-FFF2-40B4-BE49-F238E27FC236}">
                <a16:creationId xmlns:a16="http://schemas.microsoft.com/office/drawing/2014/main" id="{47F58B45-947F-4E56-9F4F-F4D6CE3F8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752725"/>
            <a:ext cx="1619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0A0A0D"/>
                </a:solidFill>
                <a:latin typeface="Aptos"/>
                <a:ea typeface="Aptos"/>
                <a:cs typeface="Aptos"/>
              </a:defRPr>
            </a:pPr>
            <a:r>
              <a:rPr sz="757" b="0">
                <a:solidFill>
                  <a:srgbClr val="0A0A0D"/>
                </a:solidFill>
                <a:latin typeface="Aptos"/>
                <a:ea typeface="Aptos"/>
                <a:cs typeface="Aptos"/>
              </a:rPr>
              <a:t>Lockton</a:t>
            </a:r>
          </a:p>
        </p:txBody>
      </p:sp>
      <p:sp>
        <p:nvSpPr>
          <p:cNvPr id="31" name="known-bar-4">
            <a:extLst xmlns:a="http://schemas.openxmlformats.org/drawingml/2006/main">
              <a:ext uri="{FF2B5EF4-FFF2-40B4-BE49-F238E27FC236}">
                <a16:creationId xmlns:a16="http://schemas.microsoft.com/office/drawing/2014/main" id="{9DA9D57D-947E-45BE-8B72-B166ACF89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773680"/>
            <a:ext cx="1988565" cy="90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968"/>
          </a:solidFill>
          <a:ln xmlns:a="http://schemas.openxmlformats.org/drawingml/2006/main" w="0">
            <a:solidFill>
              <a:srgbClr val="082968"/>
            </a:solidFill>
            <a:prstDash val="solid"/>
          </a:ln>
        </p:spPr>
      </p:sp>
      <p:sp>
        <p:nvSpPr>
          <p:cNvPr id="32" name="known-value-4">
            <a:extLst xmlns:a="http://schemas.openxmlformats.org/drawingml/2006/main">
              <a:ext uri="{FF2B5EF4-FFF2-40B4-BE49-F238E27FC236}">
                <a16:creationId xmlns:a16="http://schemas.microsoft.com/office/drawing/2014/main" id="{47B44B6C-BCA8-4C20-8C9B-FD291AEEF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752725"/>
            <a:ext cx="2667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20" b="0">
                <a:solidFill>
                  <a:srgbClr val="0A0A0D"/>
                </a:solidFill>
                <a:latin typeface="Aptos"/>
                <a:ea typeface="Aptos"/>
                <a:cs typeface="Aptos"/>
              </a:defRPr>
            </a:pPr>
            <a:r>
              <a:rPr sz="720" b="0">
                <a:solidFill>
                  <a:srgbClr val="0A0A0D"/>
                </a:solidFill>
                <a:latin typeface="Aptos"/>
                <a:ea typeface="Aptos"/>
                <a:cs typeface="Aptos"/>
              </a:rPr>
              <a:t>216</a:t>
            </a:r>
          </a:p>
        </p:txBody>
      </p:sp>
      <p:sp>
        <p:nvSpPr>
          <p:cNvPr id="33" name="known-rank-5">
            <a:extLst xmlns:a="http://schemas.openxmlformats.org/drawingml/2006/main">
              <a:ext uri="{FF2B5EF4-FFF2-40B4-BE49-F238E27FC236}">
                <a16:creationId xmlns:a16="http://schemas.microsoft.com/office/drawing/2014/main" id="{22F5F09B-3EC7-4354-8341-83DEC1318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947511"/>
            <a:ext cx="20955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82" b="0">
                <a:solidFill>
                  <a:srgbClr val="0A0A0D"/>
                </a:solidFill>
                <a:latin typeface="Aptos"/>
                <a:ea typeface="Aptos"/>
                <a:cs typeface="Aptos"/>
              </a:defRPr>
            </a:pPr>
            <a:r>
              <a:rPr sz="682" b="0">
                <a:solidFill>
                  <a:srgbClr val="0A0A0D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34" name="known-broker-5">
            <a:extLst xmlns:a="http://schemas.openxmlformats.org/drawingml/2006/main">
              <a:ext uri="{FF2B5EF4-FFF2-40B4-BE49-F238E27FC236}">
                <a16:creationId xmlns:a16="http://schemas.microsoft.com/office/drawing/2014/main" id="{0DFAFDBB-9664-4F63-83E9-10139AE4F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947511"/>
            <a:ext cx="1619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0A0A0D"/>
                </a:solidFill>
                <a:latin typeface="Aptos"/>
                <a:ea typeface="Aptos"/>
                <a:cs typeface="Aptos"/>
              </a:defRPr>
            </a:pPr>
            <a:r>
              <a:rPr sz="757" b="0">
                <a:solidFill>
                  <a:srgbClr val="0A0A0D"/>
                </a:solidFill>
                <a:latin typeface="Aptos"/>
                <a:ea typeface="Aptos"/>
                <a:cs typeface="Aptos"/>
              </a:rPr>
              <a:t>Howden Group</a:t>
            </a:r>
          </a:p>
        </p:txBody>
      </p:sp>
      <p:sp>
        <p:nvSpPr>
          <p:cNvPr id="35" name="known-bar-5">
            <a:extLst xmlns:a="http://schemas.openxmlformats.org/drawingml/2006/main">
              <a:ext uri="{FF2B5EF4-FFF2-40B4-BE49-F238E27FC236}">
                <a16:creationId xmlns:a16="http://schemas.microsoft.com/office/drawing/2014/main" id="{0BF9EEFC-A217-4769-93E1-DA1C09022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968466"/>
            <a:ext cx="1178409" cy="90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968"/>
          </a:solidFill>
          <a:ln xmlns:a="http://schemas.openxmlformats.org/drawingml/2006/main" w="0">
            <a:solidFill>
              <a:srgbClr val="082968"/>
            </a:solidFill>
            <a:prstDash val="solid"/>
          </a:ln>
        </p:spPr>
      </p:sp>
      <p:sp>
        <p:nvSpPr>
          <p:cNvPr id="36" name="known-value-5">
            <a:extLst xmlns:a="http://schemas.openxmlformats.org/drawingml/2006/main">
              <a:ext uri="{FF2B5EF4-FFF2-40B4-BE49-F238E27FC236}">
                <a16:creationId xmlns:a16="http://schemas.microsoft.com/office/drawing/2014/main" id="{75E57D11-84E7-4C24-9D19-56A13831D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947511"/>
            <a:ext cx="2667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20" b="0">
                <a:solidFill>
                  <a:srgbClr val="0A0A0D"/>
                </a:solidFill>
                <a:latin typeface="Aptos"/>
                <a:ea typeface="Aptos"/>
                <a:cs typeface="Aptos"/>
              </a:defRPr>
            </a:pPr>
            <a:r>
              <a:rPr sz="720" b="0">
                <a:solidFill>
                  <a:srgbClr val="0A0A0D"/>
                </a:solidFill>
                <a:latin typeface="Aptos"/>
                <a:ea typeface="Aptos"/>
                <a:cs typeface="Aptos"/>
              </a:rPr>
              <a:t>128</a:t>
            </a:r>
          </a:p>
        </p:txBody>
      </p:sp>
      <p:sp>
        <p:nvSpPr>
          <p:cNvPr id="37" name="known-rank-6">
            <a:extLst xmlns:a="http://schemas.openxmlformats.org/drawingml/2006/main">
              <a:ext uri="{FF2B5EF4-FFF2-40B4-BE49-F238E27FC236}">
                <a16:creationId xmlns:a16="http://schemas.microsoft.com/office/drawing/2014/main" id="{6DE7F6CC-DCE4-4705-8654-83ECEDE14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3142298"/>
            <a:ext cx="20955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82" b="0">
                <a:solidFill>
                  <a:srgbClr val="0A0A0D"/>
                </a:solidFill>
                <a:latin typeface="Aptos"/>
                <a:ea typeface="Aptos"/>
                <a:cs typeface="Aptos"/>
              </a:defRPr>
            </a:pPr>
            <a:r>
              <a:rPr sz="682" b="0">
                <a:solidFill>
                  <a:srgbClr val="0A0A0D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38" name="known-broker-6">
            <a:extLst xmlns:a="http://schemas.openxmlformats.org/drawingml/2006/main">
              <a:ext uri="{FF2B5EF4-FFF2-40B4-BE49-F238E27FC236}">
                <a16:creationId xmlns:a16="http://schemas.microsoft.com/office/drawing/2014/main" id="{7347DD40-C2B5-4154-A7F3-7C2C0F783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142298"/>
            <a:ext cx="1619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0A0A0D"/>
                </a:solidFill>
                <a:latin typeface="Aptos"/>
                <a:ea typeface="Aptos"/>
                <a:cs typeface="Aptos"/>
              </a:defRPr>
            </a:pPr>
            <a:r>
              <a:rPr sz="757" b="0">
                <a:solidFill>
                  <a:srgbClr val="0A0A0D"/>
                </a:solidFill>
                <a:latin typeface="Aptos"/>
                <a:ea typeface="Aptos"/>
                <a:cs typeface="Aptos"/>
              </a:rPr>
              <a:t>BMS Group</a:t>
            </a:r>
          </a:p>
        </p:txBody>
      </p:sp>
      <p:sp>
        <p:nvSpPr>
          <p:cNvPr id="39" name="known-bar-6">
            <a:extLst xmlns:a="http://schemas.openxmlformats.org/drawingml/2006/main">
              <a:ext uri="{FF2B5EF4-FFF2-40B4-BE49-F238E27FC236}">
                <a16:creationId xmlns:a16="http://schemas.microsoft.com/office/drawing/2014/main" id="{44347D1C-EBC0-4958-B2A4-BC81DF06A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163252"/>
            <a:ext cx="1021901" cy="90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968"/>
          </a:solidFill>
          <a:ln xmlns:a="http://schemas.openxmlformats.org/drawingml/2006/main" w="0">
            <a:solidFill>
              <a:srgbClr val="082968"/>
            </a:solidFill>
            <a:prstDash val="solid"/>
          </a:ln>
        </p:spPr>
      </p:sp>
      <p:sp>
        <p:nvSpPr>
          <p:cNvPr id="40" name="known-value-6">
            <a:extLst xmlns:a="http://schemas.openxmlformats.org/drawingml/2006/main">
              <a:ext uri="{FF2B5EF4-FFF2-40B4-BE49-F238E27FC236}">
                <a16:creationId xmlns:a16="http://schemas.microsoft.com/office/drawing/2014/main" id="{0B699123-21BC-4EE1-B41A-7AA08B484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142298"/>
            <a:ext cx="2667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20" b="0">
                <a:solidFill>
                  <a:srgbClr val="0A0A0D"/>
                </a:solidFill>
                <a:latin typeface="Aptos"/>
                <a:ea typeface="Aptos"/>
                <a:cs typeface="Aptos"/>
              </a:defRPr>
            </a:pPr>
            <a:r>
              <a:rPr sz="720" b="0">
                <a:solidFill>
                  <a:srgbClr val="0A0A0D"/>
                </a:solidFill>
                <a:latin typeface="Aptos"/>
                <a:ea typeface="Aptos"/>
                <a:cs typeface="Aptos"/>
              </a:rPr>
              <a:t>111</a:t>
            </a:r>
          </a:p>
        </p:txBody>
      </p:sp>
      <p:sp>
        <p:nvSpPr>
          <p:cNvPr id="41" name="known-rank-7">
            <a:extLst xmlns:a="http://schemas.openxmlformats.org/drawingml/2006/main">
              <a:ext uri="{FF2B5EF4-FFF2-40B4-BE49-F238E27FC236}">
                <a16:creationId xmlns:a16="http://schemas.microsoft.com/office/drawing/2014/main" id="{44EDF537-79C8-4286-B51B-3ACC9CE81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3337084"/>
            <a:ext cx="20955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82" b="0">
                <a:solidFill>
                  <a:srgbClr val="0A0A0D"/>
                </a:solidFill>
                <a:latin typeface="Aptos"/>
                <a:ea typeface="Aptos"/>
                <a:cs typeface="Aptos"/>
              </a:defRPr>
            </a:pPr>
            <a:r>
              <a:rPr sz="682" b="0">
                <a:solidFill>
                  <a:srgbClr val="0A0A0D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42" name="known-broker-7">
            <a:extLst xmlns:a="http://schemas.openxmlformats.org/drawingml/2006/main">
              <a:ext uri="{FF2B5EF4-FFF2-40B4-BE49-F238E27FC236}">
                <a16:creationId xmlns:a16="http://schemas.microsoft.com/office/drawing/2014/main" id="{4ACBE6F9-45ED-4779-B8BB-C8FC96222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337084"/>
            <a:ext cx="1619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0A0A0D"/>
                </a:solidFill>
                <a:latin typeface="Aptos"/>
                <a:ea typeface="Aptos"/>
                <a:cs typeface="Aptos"/>
              </a:defRPr>
            </a:pPr>
            <a:r>
              <a:rPr sz="757" b="0">
                <a:solidFill>
                  <a:srgbClr val="0A0A0D"/>
                </a:solidFill>
                <a:latin typeface="Aptos"/>
                <a:ea typeface="Aptos"/>
                <a:cs typeface="Aptos"/>
              </a:rPr>
              <a:t>Ardonagh Group</a:t>
            </a:r>
          </a:p>
        </p:txBody>
      </p:sp>
      <p:sp>
        <p:nvSpPr>
          <p:cNvPr id="43" name="known-bar-7">
            <a:extLst xmlns:a="http://schemas.openxmlformats.org/drawingml/2006/main">
              <a:ext uri="{FF2B5EF4-FFF2-40B4-BE49-F238E27FC236}">
                <a16:creationId xmlns:a16="http://schemas.microsoft.com/office/drawing/2014/main" id="{147796A7-DC42-477D-A00B-6C3A72B5A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358039"/>
            <a:ext cx="948251" cy="90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968"/>
          </a:solidFill>
          <a:ln xmlns:a="http://schemas.openxmlformats.org/drawingml/2006/main" w="0">
            <a:solidFill>
              <a:srgbClr val="082968"/>
            </a:solidFill>
            <a:prstDash val="solid"/>
          </a:ln>
        </p:spPr>
      </p:sp>
      <p:sp>
        <p:nvSpPr>
          <p:cNvPr id="44" name="known-value-7">
            <a:extLst xmlns:a="http://schemas.openxmlformats.org/drawingml/2006/main">
              <a:ext uri="{FF2B5EF4-FFF2-40B4-BE49-F238E27FC236}">
                <a16:creationId xmlns:a16="http://schemas.microsoft.com/office/drawing/2014/main" id="{4994A4F2-8646-46C1-B7D4-498DF4BE5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337084"/>
            <a:ext cx="2667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20" b="0">
                <a:solidFill>
                  <a:srgbClr val="0A0A0D"/>
                </a:solidFill>
                <a:latin typeface="Aptos"/>
                <a:ea typeface="Aptos"/>
                <a:cs typeface="Aptos"/>
              </a:defRPr>
            </a:pPr>
            <a:r>
              <a:rPr sz="720" b="0">
                <a:solidFill>
                  <a:srgbClr val="0A0A0D"/>
                </a:solidFill>
                <a:latin typeface="Aptos"/>
                <a:ea typeface="Aptos"/>
                <a:cs typeface="Aptos"/>
              </a:rPr>
              <a:t>103</a:t>
            </a:r>
          </a:p>
        </p:txBody>
      </p:sp>
      <p:sp>
        <p:nvSpPr>
          <p:cNvPr id="45" name="known-rank-8">
            <a:extLst xmlns:a="http://schemas.openxmlformats.org/drawingml/2006/main">
              <a:ext uri="{FF2B5EF4-FFF2-40B4-BE49-F238E27FC236}">
                <a16:creationId xmlns:a16="http://schemas.microsoft.com/office/drawing/2014/main" id="{410DC26E-12FE-4E59-9137-ADDD78861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3531870"/>
            <a:ext cx="20955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82" b="0">
                <a:solidFill>
                  <a:srgbClr val="0A0A0D"/>
                </a:solidFill>
                <a:latin typeface="Aptos"/>
                <a:ea typeface="Aptos"/>
                <a:cs typeface="Aptos"/>
              </a:defRPr>
            </a:pPr>
            <a:r>
              <a:rPr sz="682" b="0">
                <a:solidFill>
                  <a:srgbClr val="0A0A0D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46" name="known-broker-8">
            <a:extLst xmlns:a="http://schemas.openxmlformats.org/drawingml/2006/main">
              <a:ext uri="{FF2B5EF4-FFF2-40B4-BE49-F238E27FC236}">
                <a16:creationId xmlns:a16="http://schemas.microsoft.com/office/drawing/2014/main" id="{F79521DE-EA12-4F9F-997A-52872B516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531870"/>
            <a:ext cx="1619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0A0A0D"/>
                </a:solidFill>
                <a:latin typeface="Aptos"/>
                <a:ea typeface="Aptos"/>
                <a:cs typeface="Aptos"/>
              </a:defRPr>
            </a:pPr>
            <a:r>
              <a:rPr sz="757" b="0">
                <a:solidFill>
                  <a:srgbClr val="0A0A0D"/>
                </a:solidFill>
                <a:latin typeface="Aptos"/>
                <a:ea typeface="Aptos"/>
                <a:cs typeface="Aptos"/>
              </a:rPr>
              <a:t>Guy Carpenter</a:t>
            </a:r>
          </a:p>
        </p:txBody>
      </p:sp>
      <p:sp>
        <p:nvSpPr>
          <p:cNvPr id="47" name="known-bar-8">
            <a:extLst xmlns:a="http://schemas.openxmlformats.org/drawingml/2006/main">
              <a:ext uri="{FF2B5EF4-FFF2-40B4-BE49-F238E27FC236}">
                <a16:creationId xmlns:a16="http://schemas.microsoft.com/office/drawing/2014/main" id="{D2C859FE-838A-4B4B-9A2B-23ACC75CE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552825"/>
            <a:ext cx="810156" cy="90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968"/>
          </a:solidFill>
          <a:ln xmlns:a="http://schemas.openxmlformats.org/drawingml/2006/main" w="0">
            <a:solidFill>
              <a:srgbClr val="082968"/>
            </a:solidFill>
            <a:prstDash val="solid"/>
          </a:ln>
        </p:spPr>
      </p:sp>
      <p:sp>
        <p:nvSpPr>
          <p:cNvPr id="48" name="known-value-8">
            <a:extLst xmlns:a="http://schemas.openxmlformats.org/drawingml/2006/main">
              <a:ext uri="{FF2B5EF4-FFF2-40B4-BE49-F238E27FC236}">
                <a16:creationId xmlns:a16="http://schemas.microsoft.com/office/drawing/2014/main" id="{EC860176-8BE5-4DF9-ACD3-5A227882C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531870"/>
            <a:ext cx="2667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20" b="0">
                <a:solidFill>
                  <a:srgbClr val="0A0A0D"/>
                </a:solidFill>
                <a:latin typeface="Aptos"/>
                <a:ea typeface="Aptos"/>
                <a:cs typeface="Aptos"/>
              </a:defRPr>
            </a:pPr>
            <a:r>
              <a:rPr sz="720" b="0">
                <a:solidFill>
                  <a:srgbClr val="0A0A0D"/>
                </a:solidFill>
                <a:latin typeface="Aptos"/>
                <a:ea typeface="Aptos"/>
                <a:cs typeface="Aptos"/>
              </a:rPr>
              <a:t>88</a:t>
            </a:r>
          </a:p>
        </p:txBody>
      </p:sp>
      <p:sp>
        <p:nvSpPr>
          <p:cNvPr id="49" name="known-rank-9">
            <a:extLst xmlns:a="http://schemas.openxmlformats.org/drawingml/2006/main">
              <a:ext uri="{FF2B5EF4-FFF2-40B4-BE49-F238E27FC236}">
                <a16:creationId xmlns:a16="http://schemas.microsoft.com/office/drawing/2014/main" id="{C6F16FAC-C0E3-4015-80AC-7E3CC5C14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3726656"/>
            <a:ext cx="20955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82" b="0">
                <a:solidFill>
                  <a:srgbClr val="0A0A0D"/>
                </a:solidFill>
                <a:latin typeface="Aptos"/>
                <a:ea typeface="Aptos"/>
                <a:cs typeface="Aptos"/>
              </a:defRPr>
            </a:pPr>
            <a:r>
              <a:rPr sz="682" b="0">
                <a:solidFill>
                  <a:srgbClr val="0A0A0D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50" name="known-broker-9">
            <a:extLst xmlns:a="http://schemas.openxmlformats.org/drawingml/2006/main">
              <a:ext uri="{FF2B5EF4-FFF2-40B4-BE49-F238E27FC236}">
                <a16:creationId xmlns:a16="http://schemas.microsoft.com/office/drawing/2014/main" id="{4C9B034F-0AF9-4DF3-A327-1BE84184B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726656"/>
            <a:ext cx="1619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0A0A0D"/>
                </a:solidFill>
                <a:latin typeface="Aptos"/>
                <a:ea typeface="Aptos"/>
                <a:cs typeface="Aptos"/>
              </a:defRPr>
            </a:pPr>
            <a:r>
              <a:rPr sz="757" b="0">
                <a:solidFill>
                  <a:srgbClr val="0A0A0D"/>
                </a:solidFill>
                <a:latin typeface="Aptos"/>
                <a:ea typeface="Aptos"/>
                <a:cs typeface="Aptos"/>
              </a:rPr>
              <a:t>Amwins</a:t>
            </a:r>
          </a:p>
        </p:txBody>
      </p:sp>
      <p:sp>
        <p:nvSpPr>
          <p:cNvPr id="51" name="known-bar-9">
            <a:extLst xmlns:a="http://schemas.openxmlformats.org/drawingml/2006/main">
              <a:ext uri="{FF2B5EF4-FFF2-40B4-BE49-F238E27FC236}">
                <a16:creationId xmlns:a16="http://schemas.microsoft.com/office/drawing/2014/main" id="{07E8DF75-B3D5-49DD-A332-F8D62C0DC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747611"/>
            <a:ext cx="616823" cy="90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968"/>
          </a:solidFill>
          <a:ln xmlns:a="http://schemas.openxmlformats.org/drawingml/2006/main" w="0">
            <a:solidFill>
              <a:srgbClr val="082968"/>
            </a:solidFill>
            <a:prstDash val="solid"/>
          </a:ln>
        </p:spPr>
      </p:sp>
      <p:sp>
        <p:nvSpPr>
          <p:cNvPr id="52" name="known-value-9">
            <a:extLst xmlns:a="http://schemas.openxmlformats.org/drawingml/2006/main">
              <a:ext uri="{FF2B5EF4-FFF2-40B4-BE49-F238E27FC236}">
                <a16:creationId xmlns:a16="http://schemas.microsoft.com/office/drawing/2014/main" id="{E31E3A15-BD3F-4C5B-839F-8EE6B73DB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726656"/>
            <a:ext cx="2667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20" b="0">
                <a:solidFill>
                  <a:srgbClr val="0A0A0D"/>
                </a:solidFill>
                <a:latin typeface="Aptos"/>
                <a:ea typeface="Aptos"/>
                <a:cs typeface="Aptos"/>
              </a:defRPr>
            </a:pPr>
            <a:r>
              <a:rPr sz="720" b="0">
                <a:solidFill>
                  <a:srgbClr val="0A0A0D"/>
                </a:solidFill>
                <a:latin typeface="Aptos"/>
                <a:ea typeface="Aptos"/>
                <a:cs typeface="Aptos"/>
              </a:rPr>
              <a:t>67</a:t>
            </a:r>
          </a:p>
        </p:txBody>
      </p:sp>
      <p:sp>
        <p:nvSpPr>
          <p:cNvPr id="53" name="known-rank-10">
            <a:extLst xmlns:a="http://schemas.openxmlformats.org/drawingml/2006/main">
              <a:ext uri="{FF2B5EF4-FFF2-40B4-BE49-F238E27FC236}">
                <a16:creationId xmlns:a16="http://schemas.microsoft.com/office/drawing/2014/main" id="{07660F8C-7A12-4712-AE1E-316430884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3921443"/>
            <a:ext cx="20955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82" b="0">
                <a:solidFill>
                  <a:srgbClr val="0A0A0D"/>
                </a:solidFill>
                <a:latin typeface="Aptos"/>
                <a:ea typeface="Aptos"/>
                <a:cs typeface="Aptos"/>
              </a:defRPr>
            </a:pPr>
            <a:r>
              <a:rPr sz="682" b="0">
                <a:solidFill>
                  <a:srgbClr val="0A0A0D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54" name="known-broker-10">
            <a:extLst xmlns:a="http://schemas.openxmlformats.org/drawingml/2006/main">
              <a:ext uri="{FF2B5EF4-FFF2-40B4-BE49-F238E27FC236}">
                <a16:creationId xmlns:a16="http://schemas.microsoft.com/office/drawing/2014/main" id="{704AE975-6FC0-438E-BABA-1A289B999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921443"/>
            <a:ext cx="1619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0A0A0D"/>
                </a:solidFill>
                <a:latin typeface="Aptos"/>
                <a:ea typeface="Aptos"/>
                <a:cs typeface="Aptos"/>
              </a:defRPr>
            </a:pPr>
            <a:r>
              <a:rPr sz="757" b="0">
                <a:solidFill>
                  <a:srgbClr val="0A0A0D"/>
                </a:solidFill>
                <a:latin typeface="Aptos"/>
                <a:ea typeface="Aptos"/>
                <a:cs typeface="Aptos"/>
              </a:rPr>
              <a:t>Howden Group</a:t>
            </a:r>
          </a:p>
        </p:txBody>
      </p:sp>
      <p:sp>
        <p:nvSpPr>
          <p:cNvPr id="55" name="known-bar-10">
            <a:extLst xmlns:a="http://schemas.openxmlformats.org/drawingml/2006/main">
              <a:ext uri="{FF2B5EF4-FFF2-40B4-BE49-F238E27FC236}">
                <a16:creationId xmlns:a16="http://schemas.microsoft.com/office/drawing/2014/main" id="{66543B89-20DF-40B7-B389-9EBEA1E39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942398"/>
            <a:ext cx="810156" cy="90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968"/>
          </a:solidFill>
          <a:ln xmlns:a="http://schemas.openxmlformats.org/drawingml/2006/main" w="0">
            <a:solidFill>
              <a:srgbClr val="082968"/>
            </a:solidFill>
            <a:prstDash val="solid"/>
          </a:ln>
        </p:spPr>
      </p:sp>
      <p:sp>
        <p:nvSpPr>
          <p:cNvPr id="56" name="known-value-10">
            <a:extLst xmlns:a="http://schemas.openxmlformats.org/drawingml/2006/main">
              <a:ext uri="{FF2B5EF4-FFF2-40B4-BE49-F238E27FC236}">
                <a16:creationId xmlns:a16="http://schemas.microsoft.com/office/drawing/2014/main" id="{E1B04E04-D3FC-4718-B35D-5FD8673F0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921443"/>
            <a:ext cx="2667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20" b="0">
                <a:solidFill>
                  <a:srgbClr val="0A0A0D"/>
                </a:solidFill>
                <a:latin typeface="Aptos"/>
                <a:ea typeface="Aptos"/>
                <a:cs typeface="Aptos"/>
              </a:defRPr>
            </a:pPr>
            <a:r>
              <a:rPr sz="720" b="0">
                <a:solidFill>
                  <a:srgbClr val="0A0A0D"/>
                </a:solidFill>
                <a:latin typeface="Aptos"/>
                <a:ea typeface="Aptos"/>
                <a:cs typeface="Aptos"/>
              </a:rPr>
              <a:t>88</a:t>
            </a:r>
          </a:p>
        </p:txBody>
      </p:sp>
      <p:sp>
        <p:nvSpPr>
          <p:cNvPr id="57" name="known-rank-11">
            <a:extLst xmlns:a="http://schemas.openxmlformats.org/drawingml/2006/main">
              <a:ext uri="{FF2B5EF4-FFF2-40B4-BE49-F238E27FC236}">
                <a16:creationId xmlns:a16="http://schemas.microsoft.com/office/drawing/2014/main" id="{33CF74D4-D967-4370-964C-86BB3E5C9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4116229"/>
            <a:ext cx="20955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82" b="0">
                <a:solidFill>
                  <a:srgbClr val="0A0A0D"/>
                </a:solidFill>
                <a:latin typeface="Aptos"/>
                <a:ea typeface="Aptos"/>
                <a:cs typeface="Aptos"/>
              </a:defRPr>
            </a:pPr>
            <a:r>
              <a:rPr sz="682" b="0">
                <a:solidFill>
                  <a:srgbClr val="0A0A0D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58" name="known-broker-11">
            <a:extLst xmlns:a="http://schemas.openxmlformats.org/drawingml/2006/main">
              <a:ext uri="{FF2B5EF4-FFF2-40B4-BE49-F238E27FC236}">
                <a16:creationId xmlns:a16="http://schemas.microsoft.com/office/drawing/2014/main" id="{8EBBF1A5-C707-404E-9948-0F149E0CB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116229"/>
            <a:ext cx="1619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0A0A0D"/>
                </a:solidFill>
                <a:latin typeface="Aptos"/>
                <a:ea typeface="Aptos"/>
                <a:cs typeface="Aptos"/>
              </a:defRPr>
            </a:pPr>
            <a:r>
              <a:rPr sz="757" b="0">
                <a:solidFill>
                  <a:srgbClr val="0A0A0D"/>
                </a:solidFill>
                <a:latin typeface="Aptos"/>
                <a:ea typeface="Aptos"/>
                <a:cs typeface="Aptos"/>
              </a:rPr>
              <a:t>BMS Group</a:t>
            </a:r>
          </a:p>
        </p:txBody>
      </p:sp>
      <p:sp>
        <p:nvSpPr>
          <p:cNvPr id="59" name="known-bar-11">
            <a:extLst xmlns:a="http://schemas.openxmlformats.org/drawingml/2006/main">
              <a:ext uri="{FF2B5EF4-FFF2-40B4-BE49-F238E27FC236}">
                <a16:creationId xmlns:a16="http://schemas.microsoft.com/office/drawing/2014/main" id="{02396A86-9FA2-49C7-8B80-48451ECE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137184"/>
            <a:ext cx="616823" cy="90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968"/>
          </a:solidFill>
          <a:ln xmlns:a="http://schemas.openxmlformats.org/drawingml/2006/main" w="0">
            <a:solidFill>
              <a:srgbClr val="082968"/>
            </a:solidFill>
            <a:prstDash val="solid"/>
          </a:ln>
        </p:spPr>
      </p:sp>
      <p:sp>
        <p:nvSpPr>
          <p:cNvPr id="60" name="known-value-11">
            <a:extLst xmlns:a="http://schemas.openxmlformats.org/drawingml/2006/main">
              <a:ext uri="{FF2B5EF4-FFF2-40B4-BE49-F238E27FC236}">
                <a16:creationId xmlns:a16="http://schemas.microsoft.com/office/drawing/2014/main" id="{51681949-8C61-4EED-99A8-078F8A198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116229"/>
            <a:ext cx="2667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20" b="0">
                <a:solidFill>
                  <a:srgbClr val="0A0A0D"/>
                </a:solidFill>
                <a:latin typeface="Aptos"/>
                <a:ea typeface="Aptos"/>
                <a:cs typeface="Aptos"/>
              </a:defRPr>
            </a:pPr>
            <a:r>
              <a:rPr sz="720" b="0">
                <a:solidFill>
                  <a:srgbClr val="0A0A0D"/>
                </a:solidFill>
                <a:latin typeface="Aptos"/>
                <a:ea typeface="Aptos"/>
                <a:cs typeface="Aptos"/>
              </a:rPr>
              <a:t>67</a:t>
            </a:r>
          </a:p>
        </p:txBody>
      </p:sp>
      <p:sp>
        <p:nvSpPr>
          <p:cNvPr id="61" name="known-rank-12">
            <a:extLst xmlns:a="http://schemas.openxmlformats.org/drawingml/2006/main">
              <a:ext uri="{FF2B5EF4-FFF2-40B4-BE49-F238E27FC236}">
                <a16:creationId xmlns:a16="http://schemas.microsoft.com/office/drawing/2014/main" id="{A953E04A-5B3E-4BFC-AB01-7DFED0530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4311015"/>
            <a:ext cx="20955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82" b="0">
                <a:solidFill>
                  <a:srgbClr val="0A0A0D"/>
                </a:solidFill>
                <a:latin typeface="Aptos"/>
                <a:ea typeface="Aptos"/>
                <a:cs typeface="Aptos"/>
              </a:defRPr>
            </a:pPr>
            <a:r>
              <a:rPr sz="682" b="0">
                <a:solidFill>
                  <a:srgbClr val="0A0A0D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62" name="known-broker-12">
            <a:extLst xmlns:a="http://schemas.openxmlformats.org/drawingml/2006/main">
              <a:ext uri="{FF2B5EF4-FFF2-40B4-BE49-F238E27FC236}">
                <a16:creationId xmlns:a16="http://schemas.microsoft.com/office/drawing/2014/main" id="{44BCB7AD-779A-4286-807C-6EDF905F5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311015"/>
            <a:ext cx="1619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0A0A0D"/>
                </a:solidFill>
                <a:latin typeface="Aptos"/>
                <a:ea typeface="Aptos"/>
                <a:cs typeface="Aptos"/>
              </a:defRPr>
            </a:pPr>
            <a:r>
              <a:rPr sz="757" b="0">
                <a:solidFill>
                  <a:srgbClr val="0A0A0D"/>
                </a:solidFill>
                <a:latin typeface="Aptos"/>
                <a:ea typeface="Aptos"/>
                <a:cs typeface="Aptos"/>
              </a:rPr>
              <a:t>Unclassified</a:t>
            </a:r>
          </a:p>
        </p:txBody>
      </p:sp>
      <p:sp>
        <p:nvSpPr>
          <p:cNvPr id="63" name="known-bar-12">
            <a:extLst xmlns:a="http://schemas.openxmlformats.org/drawingml/2006/main">
              <a:ext uri="{FF2B5EF4-FFF2-40B4-BE49-F238E27FC236}">
                <a16:creationId xmlns:a16="http://schemas.microsoft.com/office/drawing/2014/main" id="{4A99F63F-693B-4420-9858-5F43EDD1C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331970"/>
            <a:ext cx="579998" cy="90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968"/>
          </a:solidFill>
          <a:ln xmlns:a="http://schemas.openxmlformats.org/drawingml/2006/main" w="0">
            <a:solidFill>
              <a:srgbClr val="082968"/>
            </a:solidFill>
            <a:prstDash val="solid"/>
          </a:ln>
        </p:spPr>
      </p:sp>
      <p:sp>
        <p:nvSpPr>
          <p:cNvPr id="64" name="known-value-12">
            <a:extLst xmlns:a="http://schemas.openxmlformats.org/drawingml/2006/main">
              <a:ext uri="{FF2B5EF4-FFF2-40B4-BE49-F238E27FC236}">
                <a16:creationId xmlns:a16="http://schemas.microsoft.com/office/drawing/2014/main" id="{8B852F13-C99A-463D-A499-4BEE0F2EE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311015"/>
            <a:ext cx="2667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20" b="0">
                <a:solidFill>
                  <a:srgbClr val="0A0A0D"/>
                </a:solidFill>
                <a:latin typeface="Aptos"/>
                <a:ea typeface="Aptos"/>
                <a:cs typeface="Aptos"/>
              </a:defRPr>
            </a:pPr>
            <a:r>
              <a:rPr sz="720" b="0">
                <a:solidFill>
                  <a:srgbClr val="0A0A0D"/>
                </a:solidFill>
                <a:latin typeface="Aptos"/>
                <a:ea typeface="Aptos"/>
                <a:cs typeface="Aptos"/>
              </a:rPr>
              <a:t>63</a:t>
            </a:r>
          </a:p>
        </p:txBody>
      </p:sp>
      <p:sp>
        <p:nvSpPr>
          <p:cNvPr id="65" name="known-rank-13">
            <a:extLst xmlns:a="http://schemas.openxmlformats.org/drawingml/2006/main">
              <a:ext uri="{FF2B5EF4-FFF2-40B4-BE49-F238E27FC236}">
                <a16:creationId xmlns:a16="http://schemas.microsoft.com/office/drawing/2014/main" id="{FB5FA694-ACED-4FD9-82CC-C6D42CEEE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4505801"/>
            <a:ext cx="20955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82" b="0">
                <a:solidFill>
                  <a:srgbClr val="0A0A0D"/>
                </a:solidFill>
                <a:latin typeface="Aptos"/>
                <a:ea typeface="Aptos"/>
                <a:cs typeface="Aptos"/>
              </a:defRPr>
            </a:pPr>
            <a:r>
              <a:rPr sz="682" b="0">
                <a:solidFill>
                  <a:srgbClr val="0A0A0D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66" name="known-broker-13">
            <a:extLst xmlns:a="http://schemas.openxmlformats.org/drawingml/2006/main">
              <a:ext uri="{FF2B5EF4-FFF2-40B4-BE49-F238E27FC236}">
                <a16:creationId xmlns:a16="http://schemas.microsoft.com/office/drawing/2014/main" id="{5FADB2D6-D273-4156-9447-43AFF0318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505801"/>
            <a:ext cx="1619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0A0A0D"/>
                </a:solidFill>
                <a:latin typeface="Aptos"/>
                <a:ea typeface="Aptos"/>
                <a:cs typeface="Aptos"/>
              </a:defRPr>
            </a:pPr>
            <a:r>
              <a:rPr sz="757" b="0">
                <a:solidFill>
                  <a:srgbClr val="0A0A0D"/>
                </a:solidFill>
                <a:latin typeface="Aptos"/>
                <a:ea typeface="Aptos"/>
                <a:cs typeface="Aptos"/>
              </a:rPr>
              <a:t>Miller</a:t>
            </a:r>
          </a:p>
        </p:txBody>
      </p:sp>
      <p:sp>
        <p:nvSpPr>
          <p:cNvPr id="67" name="known-bar-13">
            <a:extLst xmlns:a="http://schemas.openxmlformats.org/drawingml/2006/main">
              <a:ext uri="{FF2B5EF4-FFF2-40B4-BE49-F238E27FC236}">
                <a16:creationId xmlns:a16="http://schemas.microsoft.com/office/drawing/2014/main" id="{FE1C05A3-1FBA-40A2-B60D-D50AE2CC4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526756"/>
            <a:ext cx="386665" cy="90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968"/>
          </a:solidFill>
          <a:ln xmlns:a="http://schemas.openxmlformats.org/drawingml/2006/main" w="0">
            <a:solidFill>
              <a:srgbClr val="082968"/>
            </a:solidFill>
            <a:prstDash val="solid"/>
          </a:ln>
        </p:spPr>
      </p:sp>
      <p:sp>
        <p:nvSpPr>
          <p:cNvPr id="68" name="known-value-13">
            <a:extLst xmlns:a="http://schemas.openxmlformats.org/drawingml/2006/main">
              <a:ext uri="{FF2B5EF4-FFF2-40B4-BE49-F238E27FC236}">
                <a16:creationId xmlns:a16="http://schemas.microsoft.com/office/drawing/2014/main" id="{07910564-1C83-4CD7-930C-E5DBFFE61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05801"/>
            <a:ext cx="2667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20" b="0">
                <a:solidFill>
                  <a:srgbClr val="0A0A0D"/>
                </a:solidFill>
                <a:latin typeface="Aptos"/>
                <a:ea typeface="Aptos"/>
                <a:cs typeface="Aptos"/>
              </a:defRPr>
            </a:pPr>
            <a:r>
              <a:rPr sz="720" b="0">
                <a:solidFill>
                  <a:srgbClr val="0A0A0D"/>
                </a:solidFill>
                <a:latin typeface="Aptos"/>
                <a:ea typeface="Aptos"/>
                <a:cs typeface="Aptos"/>
              </a:rPr>
              <a:t>42</a:t>
            </a:r>
          </a:p>
        </p:txBody>
      </p:sp>
      <p:sp>
        <p:nvSpPr>
          <p:cNvPr id="69" name="known-rank-14">
            <a:extLst xmlns:a="http://schemas.openxmlformats.org/drawingml/2006/main">
              <a:ext uri="{FF2B5EF4-FFF2-40B4-BE49-F238E27FC236}">
                <a16:creationId xmlns:a16="http://schemas.microsoft.com/office/drawing/2014/main" id="{E20BD6DD-4661-4331-9203-B45F6ECBA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4700588"/>
            <a:ext cx="20955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82" b="0">
                <a:solidFill>
                  <a:srgbClr val="0A0A0D"/>
                </a:solidFill>
                <a:latin typeface="Aptos"/>
                <a:ea typeface="Aptos"/>
                <a:cs typeface="Aptos"/>
              </a:defRPr>
            </a:pPr>
            <a:r>
              <a:rPr sz="682" b="0">
                <a:solidFill>
                  <a:srgbClr val="0A0A0D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70" name="known-broker-14">
            <a:extLst xmlns:a="http://schemas.openxmlformats.org/drawingml/2006/main">
              <a:ext uri="{FF2B5EF4-FFF2-40B4-BE49-F238E27FC236}">
                <a16:creationId xmlns:a16="http://schemas.microsoft.com/office/drawing/2014/main" id="{EFA25E93-465A-4FD2-8662-C27026B0E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700588"/>
            <a:ext cx="1619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0A0A0D"/>
                </a:solidFill>
                <a:latin typeface="Aptos"/>
                <a:ea typeface="Aptos"/>
                <a:cs typeface="Aptos"/>
              </a:defRPr>
            </a:pPr>
            <a:r>
              <a:rPr sz="757" b="0">
                <a:solidFill>
                  <a:srgbClr val="0A0A0D"/>
                </a:solidFill>
                <a:latin typeface="Aptos"/>
                <a:ea typeface="Aptos"/>
                <a:cs typeface="Aptos"/>
              </a:rPr>
              <a:t>McGill and Partners</a:t>
            </a:r>
          </a:p>
        </p:txBody>
      </p:sp>
      <p:sp>
        <p:nvSpPr>
          <p:cNvPr id="71" name="known-bar-14">
            <a:extLst xmlns:a="http://schemas.openxmlformats.org/drawingml/2006/main">
              <a:ext uri="{FF2B5EF4-FFF2-40B4-BE49-F238E27FC236}">
                <a16:creationId xmlns:a16="http://schemas.microsoft.com/office/drawing/2014/main" id="{E17894DA-A347-4F7A-962A-D9812F6DE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721543"/>
            <a:ext cx="156507" cy="90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968"/>
          </a:solidFill>
          <a:ln xmlns:a="http://schemas.openxmlformats.org/drawingml/2006/main" w="0">
            <a:solidFill>
              <a:srgbClr val="082968"/>
            </a:solidFill>
            <a:prstDash val="solid"/>
          </a:ln>
        </p:spPr>
      </p:sp>
      <p:sp>
        <p:nvSpPr>
          <p:cNvPr id="72" name="known-value-14">
            <a:extLst xmlns:a="http://schemas.openxmlformats.org/drawingml/2006/main">
              <a:ext uri="{FF2B5EF4-FFF2-40B4-BE49-F238E27FC236}">
                <a16:creationId xmlns:a16="http://schemas.microsoft.com/office/drawing/2014/main" id="{10F5DB20-0B7B-418A-B617-1FFCC8B80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700588"/>
            <a:ext cx="2667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20" b="0">
                <a:solidFill>
                  <a:srgbClr val="0A0A0D"/>
                </a:solidFill>
                <a:latin typeface="Aptos"/>
                <a:ea typeface="Aptos"/>
                <a:cs typeface="Aptos"/>
              </a:defRPr>
            </a:pPr>
            <a:r>
              <a:rPr sz="720" b="0">
                <a:solidFill>
                  <a:srgbClr val="0A0A0D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73" name="known-total-band">
            <a:extLst xmlns:a="http://schemas.openxmlformats.org/drawingml/2006/main">
              <a:ext uri="{FF2B5EF4-FFF2-40B4-BE49-F238E27FC236}">
                <a16:creationId xmlns:a16="http://schemas.microsoft.com/office/drawing/2014/main" id="{DEF9AD70-5D95-44C5-9F3E-962076C75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4848225"/>
            <a:ext cx="57150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D"/>
          </a:solidFill>
          <a:ln xmlns:a="http://schemas.openxmlformats.org/drawingml/2006/main" w="6668">
            <a:solidFill>
              <a:srgbClr val="C8D2E2"/>
            </a:solidFill>
            <a:prstDash val="solid"/>
          </a:ln>
        </p:spPr>
      </p:sp>
      <p:sp>
        <p:nvSpPr>
          <p:cNvPr id="74" name="known-grand-label">
            <a:extLst xmlns:a="http://schemas.openxmlformats.org/drawingml/2006/main">
              <a:ext uri="{FF2B5EF4-FFF2-40B4-BE49-F238E27FC236}">
                <a16:creationId xmlns:a16="http://schemas.microsoft.com/office/drawing/2014/main" id="{4FA3E35B-280A-47D2-9CC7-8F6A9FC0F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0"/>
            <a:ext cx="1428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082968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082968"/>
                </a:solidFill>
                <a:latin typeface="Aptos"/>
                <a:ea typeface="Aptos"/>
                <a:cs typeface="Aptos"/>
              </a:rPr>
              <a:t>GRAND TOTAL</a:t>
            </a:r>
          </a:p>
        </p:txBody>
      </p:sp>
      <p:sp>
        <p:nvSpPr>
          <p:cNvPr id="75" name="known-grand-total">
            <a:extLst xmlns:a="http://schemas.openxmlformats.org/drawingml/2006/main">
              <a:ext uri="{FF2B5EF4-FFF2-40B4-BE49-F238E27FC236}">
                <a16:creationId xmlns:a16="http://schemas.microsoft.com/office/drawing/2014/main" id="{073DC702-427C-409B-AD16-5A2EB12B8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4924425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85" b="1">
                <a:solidFill>
                  <a:srgbClr val="082968"/>
                </a:solidFill>
                <a:latin typeface="Aptos"/>
                <a:ea typeface="Aptos"/>
                <a:cs typeface="Aptos"/>
              </a:defRPr>
            </a:pPr>
            <a:r>
              <a:rPr sz="1185" b="1">
                <a:solidFill>
                  <a:srgbClr val="082968"/>
                </a:solidFill>
                <a:latin typeface="Aptos"/>
                <a:ea typeface="Aptos"/>
                <a:cs typeface="Aptos"/>
              </a:rPr>
              <a:t>1,913</a:t>
            </a:r>
          </a:p>
        </p:txBody>
      </p:sp>
      <p:sp>
        <p:nvSpPr>
          <p:cNvPr id="76" name="unknown-panel">
            <a:extLst xmlns:a="http://schemas.openxmlformats.org/drawingml/2006/main">
              <a:ext uri="{FF2B5EF4-FFF2-40B4-BE49-F238E27FC236}">
                <a16:creationId xmlns:a16="http://schemas.microsoft.com/office/drawing/2014/main" id="{AA44CEA9-E9F4-464A-9584-181B737B7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876300"/>
            <a:ext cx="5715000" cy="430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2E2"/>
            </a:solidFill>
            <a:prstDash val="solid"/>
          </a:ln>
        </p:spPr>
      </p:sp>
      <p:sp>
        <p:nvSpPr>
          <p:cNvPr id="77" name="unknown-title-band">
            <a:extLst xmlns:a="http://schemas.openxmlformats.org/drawingml/2006/main">
              <a:ext uri="{FF2B5EF4-FFF2-40B4-BE49-F238E27FC236}">
                <a16:creationId xmlns:a16="http://schemas.microsoft.com/office/drawing/2014/main" id="{2C9FDA24-CC78-4EDB-8BAA-E96934DE1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876300"/>
            <a:ext cx="57150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22A"/>
          </a:solidFill>
          <a:ln xmlns:a="http://schemas.openxmlformats.org/drawingml/2006/main" w="0">
            <a:solidFill>
              <a:srgbClr val="17622A"/>
            </a:solidFill>
            <a:prstDash val="solid"/>
          </a:ln>
        </p:spPr>
      </p:sp>
      <p:sp>
        <p:nvSpPr>
          <p:cNvPr id="78" name="unknown-title">
            <a:extLst xmlns:a="http://schemas.openxmlformats.org/drawingml/2006/main">
              <a:ext uri="{FF2B5EF4-FFF2-40B4-BE49-F238E27FC236}">
                <a16:creationId xmlns:a16="http://schemas.microsoft.com/office/drawing/2014/main" id="{916F5393-FE96-474D-B8C9-3AE3F701C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42975"/>
            <a:ext cx="571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TOP 15 BROKERS - UNKNOWN NTU REASON</a:t>
            </a:r>
          </a:p>
        </p:txBody>
      </p:sp>
      <p:sp>
        <p:nvSpPr>
          <p:cNvPr id="79" name="unknown-subtitle">
            <a:extLst xmlns:a="http://schemas.openxmlformats.org/drawingml/2006/main">
              <a:ext uri="{FF2B5EF4-FFF2-40B4-BE49-F238E27FC236}">
                <a16:creationId xmlns:a16="http://schemas.microsoft.com/office/drawing/2014/main" id="{D803F6F7-DFA6-47A3-B755-14031F991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314450"/>
            <a:ext cx="571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0A0A0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0A0A0D"/>
                </a:solidFill>
                <a:latin typeface="Aptos"/>
                <a:ea typeface="Aptos"/>
                <a:cs typeface="Aptos"/>
              </a:rPr>
              <a:t>Brokers where NTU reason is not captured / unknown</a:t>
            </a:r>
          </a:p>
        </p:txBody>
      </p:sp>
      <p:sp>
        <p:nvSpPr>
          <p:cNvPr id="80" name="unknown-column-header">
            <a:extLst xmlns:a="http://schemas.openxmlformats.org/drawingml/2006/main">
              <a:ext uri="{FF2B5EF4-FFF2-40B4-BE49-F238E27FC236}">
                <a16:creationId xmlns:a16="http://schemas.microsoft.com/office/drawing/2014/main" id="{BC1E28D0-2940-44A3-A391-A097FE124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581150"/>
            <a:ext cx="57150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1"/>
          </a:solidFill>
          <a:ln xmlns:a="http://schemas.openxmlformats.org/drawingml/2006/main" w="6668">
            <a:solidFill>
              <a:srgbClr val="C8D2E2"/>
            </a:solidFill>
            <a:prstDash val="solid"/>
          </a:ln>
        </p:spPr>
      </p:sp>
      <p:sp>
        <p:nvSpPr>
          <p:cNvPr id="81" name="unknown-hash">
            <a:extLst xmlns:a="http://schemas.openxmlformats.org/drawingml/2006/main">
              <a:ext uri="{FF2B5EF4-FFF2-40B4-BE49-F238E27FC236}">
                <a16:creationId xmlns:a16="http://schemas.microsoft.com/office/drawing/2014/main" id="{B931A875-010D-4589-A235-2ACE3FB9C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76400"/>
            <a:ext cx="228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7622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7622A"/>
                </a:solidFill>
                <a:latin typeface="Aptos"/>
                <a:ea typeface="Aptos"/>
                <a:cs typeface="Aptos"/>
              </a:rPr>
              <a:t>#</a:t>
            </a:r>
          </a:p>
        </p:txBody>
      </p:sp>
      <p:sp>
        <p:nvSpPr>
          <p:cNvPr id="82" name="unknown-broker-head">
            <a:extLst xmlns:a="http://schemas.openxmlformats.org/drawingml/2006/main">
              <a:ext uri="{FF2B5EF4-FFF2-40B4-BE49-F238E27FC236}">
                <a16:creationId xmlns:a16="http://schemas.microsoft.com/office/drawing/2014/main" id="{06925484-AE1C-4CC0-ABE4-69CF16F8F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676400"/>
            <a:ext cx="1809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7622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7622A"/>
                </a:solidFill>
                <a:latin typeface="Aptos"/>
                <a:ea typeface="Aptos"/>
                <a:cs typeface="Aptos"/>
              </a:rPr>
              <a:t>BROKER NAME</a:t>
            </a:r>
          </a:p>
        </p:txBody>
      </p:sp>
      <p:sp>
        <p:nvSpPr>
          <p:cNvPr id="83" name="unknown-count-head">
            <a:extLst xmlns:a="http://schemas.openxmlformats.org/drawingml/2006/main">
              <a:ext uri="{FF2B5EF4-FFF2-40B4-BE49-F238E27FC236}">
                <a16:creationId xmlns:a16="http://schemas.microsoft.com/office/drawing/2014/main" id="{011A7BF0-B7EE-4A4A-9728-AFCD0CE6C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1676400"/>
            <a:ext cx="1638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17622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7622A"/>
                </a:solidFill>
                <a:latin typeface="Aptos"/>
                <a:ea typeface="Aptos"/>
                <a:cs typeface="Aptos"/>
              </a:rPr>
              <a:t>COUNT OF SUBMISSIONS</a:t>
            </a:r>
          </a:p>
        </p:txBody>
      </p:sp>
      <p:sp>
        <p:nvSpPr>
          <p:cNvPr id="84" name="unknown-bar-axis">
            <a:extLst xmlns:a="http://schemas.openxmlformats.org/drawingml/2006/main">
              <a:ext uri="{FF2B5EF4-FFF2-40B4-BE49-F238E27FC236}">
                <a16:creationId xmlns:a16="http://schemas.microsoft.com/office/drawing/2014/main" id="{65D720B7-50F6-448B-9007-CFE1FE718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1933575"/>
            <a:ext cx="9525" cy="29598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2E2"/>
          </a:solidFill>
          <a:ln xmlns:a="http://schemas.openxmlformats.org/drawingml/2006/main" w="0">
            <a:solidFill>
              <a:srgbClr val="C8D2E2"/>
            </a:solidFill>
            <a:prstDash val="solid"/>
          </a:ln>
        </p:spPr>
      </p:sp>
      <p:sp>
        <p:nvSpPr>
          <p:cNvPr id="85" name="unknown-rank-0">
            <a:extLst xmlns:a="http://schemas.openxmlformats.org/drawingml/2006/main">
              <a:ext uri="{FF2B5EF4-FFF2-40B4-BE49-F238E27FC236}">
                <a16:creationId xmlns:a16="http://schemas.microsoft.com/office/drawing/2014/main" id="{798BFFDE-29DC-4411-B800-40AC7D368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73580"/>
            <a:ext cx="20955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82" b="0">
                <a:solidFill>
                  <a:srgbClr val="0A0A0D"/>
                </a:solidFill>
                <a:latin typeface="Aptos"/>
                <a:ea typeface="Aptos"/>
                <a:cs typeface="Aptos"/>
              </a:defRPr>
            </a:pPr>
            <a:r>
              <a:rPr sz="682" b="0">
                <a:solidFill>
                  <a:srgbClr val="0A0A0D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6" name="unknown-broker-0">
            <a:extLst xmlns:a="http://schemas.openxmlformats.org/drawingml/2006/main">
              <a:ext uri="{FF2B5EF4-FFF2-40B4-BE49-F238E27FC236}">
                <a16:creationId xmlns:a16="http://schemas.microsoft.com/office/drawing/2014/main" id="{D6839720-8592-43F3-B430-998BC3642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973580"/>
            <a:ext cx="1619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0A0A0D"/>
                </a:solidFill>
                <a:latin typeface="Aptos"/>
                <a:ea typeface="Aptos"/>
                <a:cs typeface="Aptos"/>
              </a:defRPr>
            </a:pPr>
            <a:r>
              <a:rPr sz="757" b="0">
                <a:solidFill>
                  <a:srgbClr val="0A0A0D"/>
                </a:solidFill>
                <a:latin typeface="Aptos"/>
                <a:ea typeface="Aptos"/>
                <a:cs typeface="Aptos"/>
              </a:rPr>
              <a:t>Marsh McLennan</a:t>
            </a:r>
          </a:p>
        </p:txBody>
      </p:sp>
      <p:sp>
        <p:nvSpPr>
          <p:cNvPr id="87" name="unknown-bar-0">
            <a:extLst xmlns:a="http://schemas.openxmlformats.org/drawingml/2006/main">
              <a:ext uri="{FF2B5EF4-FFF2-40B4-BE49-F238E27FC236}">
                <a16:creationId xmlns:a16="http://schemas.microsoft.com/office/drawing/2014/main" id="{D85DF8BD-0C69-4B5F-9CB7-8F03D5A2A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994535"/>
            <a:ext cx="2476500" cy="90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22A"/>
          </a:solidFill>
          <a:ln xmlns:a="http://schemas.openxmlformats.org/drawingml/2006/main" w="0">
            <a:solidFill>
              <a:srgbClr val="17622A"/>
            </a:solidFill>
            <a:prstDash val="solid"/>
          </a:ln>
        </p:spPr>
      </p:sp>
      <p:sp>
        <p:nvSpPr>
          <p:cNvPr id="88" name="unknown-value-0">
            <a:extLst xmlns:a="http://schemas.openxmlformats.org/drawingml/2006/main">
              <a:ext uri="{FF2B5EF4-FFF2-40B4-BE49-F238E27FC236}">
                <a16:creationId xmlns:a16="http://schemas.microsoft.com/office/drawing/2014/main" id="{E4664093-2C26-45E4-B60F-27F0D4CF2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5725" y="1973580"/>
            <a:ext cx="2667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20" b="0">
                <a:solidFill>
                  <a:srgbClr val="0A0A0D"/>
                </a:solidFill>
                <a:latin typeface="Aptos"/>
                <a:ea typeface="Aptos"/>
                <a:cs typeface="Aptos"/>
              </a:defRPr>
            </a:pPr>
            <a:r>
              <a:rPr sz="720" b="0">
                <a:solidFill>
                  <a:srgbClr val="0A0A0D"/>
                </a:solidFill>
                <a:latin typeface="Aptos"/>
                <a:ea typeface="Aptos"/>
                <a:cs typeface="Aptos"/>
              </a:rPr>
              <a:t>235</a:t>
            </a:r>
          </a:p>
        </p:txBody>
      </p:sp>
      <p:sp>
        <p:nvSpPr>
          <p:cNvPr id="89" name="unknown-rank-1">
            <a:extLst xmlns:a="http://schemas.openxmlformats.org/drawingml/2006/main">
              <a:ext uri="{FF2B5EF4-FFF2-40B4-BE49-F238E27FC236}">
                <a16:creationId xmlns:a16="http://schemas.microsoft.com/office/drawing/2014/main" id="{944BB38A-A18C-4236-AA56-2FAE25294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68366"/>
            <a:ext cx="20955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82" b="0">
                <a:solidFill>
                  <a:srgbClr val="0A0A0D"/>
                </a:solidFill>
                <a:latin typeface="Aptos"/>
                <a:ea typeface="Aptos"/>
                <a:cs typeface="Aptos"/>
              </a:defRPr>
            </a:pPr>
            <a:r>
              <a:rPr sz="682" b="0">
                <a:solidFill>
                  <a:srgbClr val="0A0A0D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90" name="unknown-broker-1">
            <a:extLst xmlns:a="http://schemas.openxmlformats.org/drawingml/2006/main">
              <a:ext uri="{FF2B5EF4-FFF2-40B4-BE49-F238E27FC236}">
                <a16:creationId xmlns:a16="http://schemas.microsoft.com/office/drawing/2014/main" id="{11241E60-2296-4A53-AED1-FC2880B49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168366"/>
            <a:ext cx="1619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0A0A0D"/>
                </a:solidFill>
                <a:latin typeface="Aptos"/>
                <a:ea typeface="Aptos"/>
                <a:cs typeface="Aptos"/>
              </a:defRPr>
            </a:pPr>
            <a:r>
              <a:rPr sz="757" b="0">
                <a:solidFill>
                  <a:srgbClr val="0A0A0D"/>
                </a:solidFill>
                <a:latin typeface="Aptos"/>
                <a:ea typeface="Aptos"/>
                <a:cs typeface="Aptos"/>
              </a:rPr>
              <a:t>Lockton</a:t>
            </a:r>
          </a:p>
        </p:txBody>
      </p:sp>
      <p:sp>
        <p:nvSpPr>
          <p:cNvPr id="91" name="unknown-bar-1">
            <a:extLst xmlns:a="http://schemas.openxmlformats.org/drawingml/2006/main">
              <a:ext uri="{FF2B5EF4-FFF2-40B4-BE49-F238E27FC236}">
                <a16:creationId xmlns:a16="http://schemas.microsoft.com/office/drawing/2014/main" id="{CC338703-7AA7-41C7-ADDC-2369ECDF7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189321"/>
            <a:ext cx="1759896" cy="90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22A"/>
          </a:solidFill>
          <a:ln xmlns:a="http://schemas.openxmlformats.org/drawingml/2006/main" w="0">
            <a:solidFill>
              <a:srgbClr val="17622A"/>
            </a:solidFill>
            <a:prstDash val="solid"/>
          </a:ln>
        </p:spPr>
      </p:sp>
      <p:sp>
        <p:nvSpPr>
          <p:cNvPr id="92" name="unknown-value-1">
            <a:extLst xmlns:a="http://schemas.openxmlformats.org/drawingml/2006/main">
              <a:ext uri="{FF2B5EF4-FFF2-40B4-BE49-F238E27FC236}">
                <a16:creationId xmlns:a16="http://schemas.microsoft.com/office/drawing/2014/main" id="{1A87C0DA-B669-416C-8378-C7AFFB477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5725" y="2168366"/>
            <a:ext cx="2667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20" b="0">
                <a:solidFill>
                  <a:srgbClr val="0A0A0D"/>
                </a:solidFill>
                <a:latin typeface="Aptos"/>
                <a:ea typeface="Aptos"/>
                <a:cs typeface="Aptos"/>
              </a:defRPr>
            </a:pPr>
            <a:r>
              <a:rPr sz="720" b="0">
                <a:solidFill>
                  <a:srgbClr val="0A0A0D"/>
                </a:solidFill>
                <a:latin typeface="Aptos"/>
                <a:ea typeface="Aptos"/>
                <a:cs typeface="Aptos"/>
              </a:rPr>
              <a:t>167</a:t>
            </a:r>
          </a:p>
        </p:txBody>
      </p:sp>
      <p:sp>
        <p:nvSpPr>
          <p:cNvPr id="93" name="unknown-rank-2">
            <a:extLst xmlns:a="http://schemas.openxmlformats.org/drawingml/2006/main">
              <a:ext uri="{FF2B5EF4-FFF2-40B4-BE49-F238E27FC236}">
                <a16:creationId xmlns:a16="http://schemas.microsoft.com/office/drawing/2014/main" id="{98F6F502-842F-4A62-9BFD-14B801CCD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363153"/>
            <a:ext cx="20955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82" b="0">
                <a:solidFill>
                  <a:srgbClr val="0A0A0D"/>
                </a:solidFill>
                <a:latin typeface="Aptos"/>
                <a:ea typeface="Aptos"/>
                <a:cs typeface="Aptos"/>
              </a:defRPr>
            </a:pPr>
            <a:r>
              <a:rPr sz="682" b="0">
                <a:solidFill>
                  <a:srgbClr val="0A0A0D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94" name="unknown-broker-2">
            <a:extLst xmlns:a="http://schemas.openxmlformats.org/drawingml/2006/main">
              <a:ext uri="{FF2B5EF4-FFF2-40B4-BE49-F238E27FC236}">
                <a16:creationId xmlns:a16="http://schemas.microsoft.com/office/drawing/2014/main" id="{C5A1E975-3110-4DB5-9B6E-0785C5A15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363153"/>
            <a:ext cx="1619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0A0A0D"/>
                </a:solidFill>
                <a:latin typeface="Aptos"/>
                <a:ea typeface="Aptos"/>
                <a:cs typeface="Aptos"/>
              </a:defRPr>
            </a:pPr>
            <a:r>
              <a:rPr sz="757" b="0">
                <a:solidFill>
                  <a:srgbClr val="0A0A0D"/>
                </a:solidFill>
                <a:latin typeface="Aptos"/>
                <a:ea typeface="Aptos"/>
                <a:cs typeface="Aptos"/>
              </a:rPr>
              <a:t>Aon</a:t>
            </a:r>
          </a:p>
        </p:txBody>
      </p:sp>
      <p:sp>
        <p:nvSpPr>
          <p:cNvPr id="95" name="unknown-bar-2">
            <a:extLst xmlns:a="http://schemas.openxmlformats.org/drawingml/2006/main">
              <a:ext uri="{FF2B5EF4-FFF2-40B4-BE49-F238E27FC236}">
                <a16:creationId xmlns:a16="http://schemas.microsoft.com/office/drawing/2014/main" id="{BDBE7D57-BD76-4DC4-B9B6-23A452F7D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384108"/>
            <a:ext cx="1601821" cy="90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22A"/>
          </a:solidFill>
          <a:ln xmlns:a="http://schemas.openxmlformats.org/drawingml/2006/main" w="0">
            <a:solidFill>
              <a:srgbClr val="17622A"/>
            </a:solidFill>
            <a:prstDash val="solid"/>
          </a:ln>
        </p:spPr>
      </p:sp>
      <p:sp>
        <p:nvSpPr>
          <p:cNvPr id="96" name="unknown-value-2">
            <a:extLst xmlns:a="http://schemas.openxmlformats.org/drawingml/2006/main">
              <a:ext uri="{FF2B5EF4-FFF2-40B4-BE49-F238E27FC236}">
                <a16:creationId xmlns:a16="http://schemas.microsoft.com/office/drawing/2014/main" id="{E36ABF81-3C1A-4003-8E99-1E1D57401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5725" y="2363153"/>
            <a:ext cx="2667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20" b="0">
                <a:solidFill>
                  <a:srgbClr val="0A0A0D"/>
                </a:solidFill>
                <a:latin typeface="Aptos"/>
                <a:ea typeface="Aptos"/>
                <a:cs typeface="Aptos"/>
              </a:defRPr>
            </a:pPr>
            <a:r>
              <a:rPr sz="720" b="0">
                <a:solidFill>
                  <a:srgbClr val="0A0A0D"/>
                </a:solidFill>
                <a:latin typeface="Aptos"/>
                <a:ea typeface="Aptos"/>
                <a:cs typeface="Aptos"/>
              </a:rPr>
              <a:t>152</a:t>
            </a:r>
          </a:p>
        </p:txBody>
      </p:sp>
      <p:sp>
        <p:nvSpPr>
          <p:cNvPr id="97" name="unknown-rank-3">
            <a:extLst xmlns:a="http://schemas.openxmlformats.org/drawingml/2006/main">
              <a:ext uri="{FF2B5EF4-FFF2-40B4-BE49-F238E27FC236}">
                <a16:creationId xmlns:a16="http://schemas.microsoft.com/office/drawing/2014/main" id="{F38C22DD-CA48-4F10-9444-01C8023B4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57939"/>
            <a:ext cx="20955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82" b="0">
                <a:solidFill>
                  <a:srgbClr val="0A0A0D"/>
                </a:solidFill>
                <a:latin typeface="Aptos"/>
                <a:ea typeface="Aptos"/>
                <a:cs typeface="Aptos"/>
              </a:defRPr>
            </a:pPr>
            <a:r>
              <a:rPr sz="682" b="0">
                <a:solidFill>
                  <a:srgbClr val="0A0A0D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98" name="unknown-broker-3">
            <a:extLst xmlns:a="http://schemas.openxmlformats.org/drawingml/2006/main">
              <a:ext uri="{FF2B5EF4-FFF2-40B4-BE49-F238E27FC236}">
                <a16:creationId xmlns:a16="http://schemas.microsoft.com/office/drawing/2014/main" id="{94895025-85BE-420D-9437-B47C86A79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557939"/>
            <a:ext cx="1619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0A0A0D"/>
                </a:solidFill>
                <a:latin typeface="Aptos"/>
                <a:ea typeface="Aptos"/>
                <a:cs typeface="Aptos"/>
              </a:defRPr>
            </a:pPr>
            <a:r>
              <a:rPr sz="757" b="0">
                <a:solidFill>
                  <a:srgbClr val="0A0A0D"/>
                </a:solidFill>
                <a:latin typeface="Aptos"/>
                <a:ea typeface="Aptos"/>
                <a:cs typeface="Aptos"/>
              </a:rPr>
              <a:t>Willis (WTW)</a:t>
            </a:r>
          </a:p>
        </p:txBody>
      </p:sp>
      <p:sp>
        <p:nvSpPr>
          <p:cNvPr id="99" name="unknown-bar-3">
            <a:extLst xmlns:a="http://schemas.openxmlformats.org/drawingml/2006/main">
              <a:ext uri="{FF2B5EF4-FFF2-40B4-BE49-F238E27FC236}">
                <a16:creationId xmlns:a16="http://schemas.microsoft.com/office/drawing/2014/main" id="{058F712C-E71B-40FF-A748-6238E7BCD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578894"/>
            <a:ext cx="1095983" cy="90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22A"/>
          </a:solidFill>
          <a:ln xmlns:a="http://schemas.openxmlformats.org/drawingml/2006/main" w="0">
            <a:solidFill>
              <a:srgbClr val="17622A"/>
            </a:solidFill>
            <a:prstDash val="solid"/>
          </a:ln>
        </p:spPr>
      </p:sp>
      <p:sp>
        <p:nvSpPr>
          <p:cNvPr id="100" name="unknown-value-3">
            <a:extLst xmlns:a="http://schemas.openxmlformats.org/drawingml/2006/main">
              <a:ext uri="{FF2B5EF4-FFF2-40B4-BE49-F238E27FC236}">
                <a16:creationId xmlns:a16="http://schemas.microsoft.com/office/drawing/2014/main" id="{BE44E70A-4498-4B5E-BCED-8A3EDBF64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5725" y="2557939"/>
            <a:ext cx="2667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20" b="0">
                <a:solidFill>
                  <a:srgbClr val="0A0A0D"/>
                </a:solidFill>
                <a:latin typeface="Aptos"/>
                <a:ea typeface="Aptos"/>
                <a:cs typeface="Aptos"/>
              </a:defRPr>
            </a:pPr>
            <a:r>
              <a:rPr sz="720" b="0">
                <a:solidFill>
                  <a:srgbClr val="0A0A0D"/>
                </a:solidFill>
                <a:latin typeface="Aptos"/>
                <a:ea typeface="Aptos"/>
                <a:cs typeface="Aptos"/>
              </a:rPr>
              <a:t>104</a:t>
            </a:r>
          </a:p>
        </p:txBody>
      </p:sp>
      <p:sp>
        <p:nvSpPr>
          <p:cNvPr id="101" name="unknown-rank-4">
            <a:extLst xmlns:a="http://schemas.openxmlformats.org/drawingml/2006/main">
              <a:ext uri="{FF2B5EF4-FFF2-40B4-BE49-F238E27FC236}">
                <a16:creationId xmlns:a16="http://schemas.microsoft.com/office/drawing/2014/main" id="{EA9A2627-A6C3-4220-AE1F-7097406A6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52725"/>
            <a:ext cx="20955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82" b="0">
                <a:solidFill>
                  <a:srgbClr val="0A0A0D"/>
                </a:solidFill>
                <a:latin typeface="Aptos"/>
                <a:ea typeface="Aptos"/>
                <a:cs typeface="Aptos"/>
              </a:defRPr>
            </a:pPr>
            <a:r>
              <a:rPr sz="682" b="0">
                <a:solidFill>
                  <a:srgbClr val="0A0A0D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102" name="unknown-broker-4">
            <a:extLst xmlns:a="http://schemas.openxmlformats.org/drawingml/2006/main">
              <a:ext uri="{FF2B5EF4-FFF2-40B4-BE49-F238E27FC236}">
                <a16:creationId xmlns:a16="http://schemas.microsoft.com/office/drawing/2014/main" id="{FF976C07-C8C3-480E-B617-7F9B07F14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752725"/>
            <a:ext cx="1619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0A0A0D"/>
                </a:solidFill>
                <a:latin typeface="Aptos"/>
                <a:ea typeface="Aptos"/>
                <a:cs typeface="Aptos"/>
              </a:defRPr>
            </a:pPr>
            <a:r>
              <a:rPr sz="757" b="0">
                <a:solidFill>
                  <a:srgbClr val="0A0A0D"/>
                </a:solidFill>
                <a:latin typeface="Aptos"/>
                <a:ea typeface="Aptos"/>
                <a:cs typeface="Aptos"/>
              </a:rPr>
              <a:t>Arthur J Gallagher</a:t>
            </a:r>
          </a:p>
        </p:txBody>
      </p:sp>
      <p:sp>
        <p:nvSpPr>
          <p:cNvPr id="103" name="unknown-bar-4">
            <a:extLst xmlns:a="http://schemas.openxmlformats.org/drawingml/2006/main">
              <a:ext uri="{FF2B5EF4-FFF2-40B4-BE49-F238E27FC236}">
                <a16:creationId xmlns:a16="http://schemas.microsoft.com/office/drawing/2014/main" id="{2FD71FE6-E3A2-4C16-8CCD-90849DFA3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773680"/>
            <a:ext cx="958985" cy="90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22A"/>
          </a:solidFill>
          <a:ln xmlns:a="http://schemas.openxmlformats.org/drawingml/2006/main" w="0">
            <a:solidFill>
              <a:srgbClr val="17622A"/>
            </a:solidFill>
            <a:prstDash val="solid"/>
          </a:ln>
        </p:spPr>
      </p:sp>
      <p:sp>
        <p:nvSpPr>
          <p:cNvPr id="104" name="unknown-value-4">
            <a:extLst xmlns:a="http://schemas.openxmlformats.org/drawingml/2006/main">
              <a:ext uri="{FF2B5EF4-FFF2-40B4-BE49-F238E27FC236}">
                <a16:creationId xmlns:a16="http://schemas.microsoft.com/office/drawing/2014/main" id="{6E185816-AAE9-4D08-A16D-BAF9F767C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5725" y="2752725"/>
            <a:ext cx="2667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20" b="0">
                <a:solidFill>
                  <a:srgbClr val="0A0A0D"/>
                </a:solidFill>
                <a:latin typeface="Aptos"/>
                <a:ea typeface="Aptos"/>
                <a:cs typeface="Aptos"/>
              </a:defRPr>
            </a:pPr>
            <a:r>
              <a:rPr sz="720" b="0">
                <a:solidFill>
                  <a:srgbClr val="0A0A0D"/>
                </a:solidFill>
                <a:latin typeface="Aptos"/>
                <a:ea typeface="Aptos"/>
                <a:cs typeface="Aptos"/>
              </a:rPr>
              <a:t>91</a:t>
            </a:r>
          </a:p>
        </p:txBody>
      </p:sp>
      <p:sp>
        <p:nvSpPr>
          <p:cNvPr id="105" name="unknown-rank-5">
            <a:extLst xmlns:a="http://schemas.openxmlformats.org/drawingml/2006/main">
              <a:ext uri="{FF2B5EF4-FFF2-40B4-BE49-F238E27FC236}">
                <a16:creationId xmlns:a16="http://schemas.microsoft.com/office/drawing/2014/main" id="{9E0B39E1-8B8D-4807-BEE9-5CB83185D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47511"/>
            <a:ext cx="20955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82" b="0">
                <a:solidFill>
                  <a:srgbClr val="0A0A0D"/>
                </a:solidFill>
                <a:latin typeface="Aptos"/>
                <a:ea typeface="Aptos"/>
                <a:cs typeface="Aptos"/>
              </a:defRPr>
            </a:pPr>
            <a:r>
              <a:rPr sz="682" b="0">
                <a:solidFill>
                  <a:srgbClr val="0A0A0D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106" name="unknown-broker-5">
            <a:extLst xmlns:a="http://schemas.openxmlformats.org/drawingml/2006/main">
              <a:ext uri="{FF2B5EF4-FFF2-40B4-BE49-F238E27FC236}">
                <a16:creationId xmlns:a16="http://schemas.microsoft.com/office/drawing/2014/main" id="{7799091E-06A6-42B7-8FC7-F97EDA14E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947511"/>
            <a:ext cx="1619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0A0A0D"/>
                </a:solidFill>
                <a:latin typeface="Aptos"/>
                <a:ea typeface="Aptos"/>
                <a:cs typeface="Aptos"/>
              </a:defRPr>
            </a:pPr>
            <a:r>
              <a:rPr sz="757" b="0">
                <a:solidFill>
                  <a:srgbClr val="0A0A0D"/>
                </a:solidFill>
                <a:latin typeface="Aptos"/>
                <a:ea typeface="Aptos"/>
                <a:cs typeface="Aptos"/>
              </a:rPr>
              <a:t>Howden Group</a:t>
            </a:r>
          </a:p>
        </p:txBody>
      </p:sp>
      <p:sp>
        <p:nvSpPr>
          <p:cNvPr id="107" name="unknown-bar-5">
            <a:extLst xmlns:a="http://schemas.openxmlformats.org/drawingml/2006/main">
              <a:ext uri="{FF2B5EF4-FFF2-40B4-BE49-F238E27FC236}">
                <a16:creationId xmlns:a16="http://schemas.microsoft.com/office/drawing/2014/main" id="{BD7B24A7-21C1-481F-B01D-868D9F9B1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968466"/>
            <a:ext cx="874679" cy="90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22A"/>
          </a:solidFill>
          <a:ln xmlns:a="http://schemas.openxmlformats.org/drawingml/2006/main" w="0">
            <a:solidFill>
              <a:srgbClr val="17622A"/>
            </a:solidFill>
            <a:prstDash val="solid"/>
          </a:ln>
        </p:spPr>
      </p:sp>
      <p:sp>
        <p:nvSpPr>
          <p:cNvPr id="108" name="unknown-value-5">
            <a:extLst xmlns:a="http://schemas.openxmlformats.org/drawingml/2006/main">
              <a:ext uri="{FF2B5EF4-FFF2-40B4-BE49-F238E27FC236}">
                <a16:creationId xmlns:a16="http://schemas.microsoft.com/office/drawing/2014/main" id="{C7F3FE17-1443-40E2-B11E-29B0067E7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5725" y="2947511"/>
            <a:ext cx="2667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20" b="0">
                <a:solidFill>
                  <a:srgbClr val="0A0A0D"/>
                </a:solidFill>
                <a:latin typeface="Aptos"/>
                <a:ea typeface="Aptos"/>
                <a:cs typeface="Aptos"/>
              </a:defRPr>
            </a:pPr>
            <a:r>
              <a:rPr sz="720" b="0">
                <a:solidFill>
                  <a:srgbClr val="0A0A0D"/>
                </a:solidFill>
                <a:latin typeface="Aptos"/>
                <a:ea typeface="Aptos"/>
                <a:cs typeface="Aptos"/>
              </a:rPr>
              <a:t>83</a:t>
            </a:r>
          </a:p>
        </p:txBody>
      </p:sp>
      <p:sp>
        <p:nvSpPr>
          <p:cNvPr id="109" name="unknown-rank-6">
            <a:extLst xmlns:a="http://schemas.openxmlformats.org/drawingml/2006/main">
              <a:ext uri="{FF2B5EF4-FFF2-40B4-BE49-F238E27FC236}">
                <a16:creationId xmlns:a16="http://schemas.microsoft.com/office/drawing/2014/main" id="{16B5C0D7-E917-484D-8641-CA88F4516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42298"/>
            <a:ext cx="20955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82" b="0">
                <a:solidFill>
                  <a:srgbClr val="0A0A0D"/>
                </a:solidFill>
                <a:latin typeface="Aptos"/>
                <a:ea typeface="Aptos"/>
                <a:cs typeface="Aptos"/>
              </a:defRPr>
            </a:pPr>
            <a:r>
              <a:rPr sz="682" b="0">
                <a:solidFill>
                  <a:srgbClr val="0A0A0D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110" name="unknown-broker-6">
            <a:extLst xmlns:a="http://schemas.openxmlformats.org/drawingml/2006/main">
              <a:ext uri="{FF2B5EF4-FFF2-40B4-BE49-F238E27FC236}">
                <a16:creationId xmlns:a16="http://schemas.microsoft.com/office/drawing/2014/main" id="{BE483EAC-5DAF-449C-B589-79D245C4E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142298"/>
            <a:ext cx="1619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0A0A0D"/>
                </a:solidFill>
                <a:latin typeface="Aptos"/>
                <a:ea typeface="Aptos"/>
                <a:cs typeface="Aptos"/>
              </a:defRPr>
            </a:pPr>
            <a:r>
              <a:rPr sz="757" b="0">
                <a:solidFill>
                  <a:srgbClr val="0A0A0D"/>
                </a:solidFill>
                <a:latin typeface="Aptos"/>
                <a:ea typeface="Aptos"/>
                <a:cs typeface="Aptos"/>
              </a:rPr>
              <a:t>BMS Group</a:t>
            </a:r>
          </a:p>
        </p:txBody>
      </p:sp>
      <p:sp>
        <p:nvSpPr>
          <p:cNvPr id="111" name="unknown-bar-6">
            <a:extLst xmlns:a="http://schemas.openxmlformats.org/drawingml/2006/main">
              <a:ext uri="{FF2B5EF4-FFF2-40B4-BE49-F238E27FC236}">
                <a16:creationId xmlns:a16="http://schemas.microsoft.com/office/drawing/2014/main" id="{A50CE589-BE72-42C8-BA86-632BB48E5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163252"/>
            <a:ext cx="748219" cy="90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22A"/>
          </a:solidFill>
          <a:ln xmlns:a="http://schemas.openxmlformats.org/drawingml/2006/main" w="0">
            <a:solidFill>
              <a:srgbClr val="17622A"/>
            </a:solidFill>
            <a:prstDash val="solid"/>
          </a:ln>
        </p:spPr>
      </p:sp>
      <p:sp>
        <p:nvSpPr>
          <p:cNvPr id="112" name="unknown-value-6">
            <a:extLst xmlns:a="http://schemas.openxmlformats.org/drawingml/2006/main">
              <a:ext uri="{FF2B5EF4-FFF2-40B4-BE49-F238E27FC236}">
                <a16:creationId xmlns:a16="http://schemas.microsoft.com/office/drawing/2014/main" id="{72BDF8B8-37E1-4F3B-9F0B-0794D0AE9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5725" y="3142298"/>
            <a:ext cx="2667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20" b="0">
                <a:solidFill>
                  <a:srgbClr val="0A0A0D"/>
                </a:solidFill>
                <a:latin typeface="Aptos"/>
                <a:ea typeface="Aptos"/>
                <a:cs typeface="Aptos"/>
              </a:defRPr>
            </a:pPr>
            <a:r>
              <a:rPr sz="720" b="0">
                <a:solidFill>
                  <a:srgbClr val="0A0A0D"/>
                </a:solidFill>
                <a:latin typeface="Aptos"/>
                <a:ea typeface="Aptos"/>
                <a:cs typeface="Aptos"/>
              </a:rPr>
              <a:t>71</a:t>
            </a:r>
          </a:p>
        </p:txBody>
      </p:sp>
      <p:sp>
        <p:nvSpPr>
          <p:cNvPr id="113" name="unknown-rank-7">
            <a:extLst xmlns:a="http://schemas.openxmlformats.org/drawingml/2006/main">
              <a:ext uri="{FF2B5EF4-FFF2-40B4-BE49-F238E27FC236}">
                <a16:creationId xmlns:a16="http://schemas.microsoft.com/office/drawing/2014/main" id="{2FAC93D2-A173-4ED3-A1B5-677764C9A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37084"/>
            <a:ext cx="20955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82" b="0">
                <a:solidFill>
                  <a:srgbClr val="0A0A0D"/>
                </a:solidFill>
                <a:latin typeface="Aptos"/>
                <a:ea typeface="Aptos"/>
                <a:cs typeface="Aptos"/>
              </a:defRPr>
            </a:pPr>
            <a:r>
              <a:rPr sz="682" b="0">
                <a:solidFill>
                  <a:srgbClr val="0A0A0D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114" name="unknown-broker-7">
            <a:extLst xmlns:a="http://schemas.openxmlformats.org/drawingml/2006/main">
              <a:ext uri="{FF2B5EF4-FFF2-40B4-BE49-F238E27FC236}">
                <a16:creationId xmlns:a16="http://schemas.microsoft.com/office/drawing/2014/main" id="{865B7EE5-0D1A-42C1-B084-B858615B2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337084"/>
            <a:ext cx="1619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0A0A0D"/>
                </a:solidFill>
                <a:latin typeface="Aptos"/>
                <a:ea typeface="Aptos"/>
                <a:cs typeface="Aptos"/>
              </a:defRPr>
            </a:pPr>
            <a:r>
              <a:rPr sz="757" b="0">
                <a:solidFill>
                  <a:srgbClr val="0A0A0D"/>
                </a:solidFill>
                <a:latin typeface="Aptos"/>
                <a:ea typeface="Aptos"/>
                <a:cs typeface="Aptos"/>
              </a:rPr>
              <a:t>Ardonagh Group</a:t>
            </a:r>
          </a:p>
        </p:txBody>
      </p:sp>
      <p:sp>
        <p:nvSpPr>
          <p:cNvPr id="115" name="unknown-bar-7">
            <a:extLst xmlns:a="http://schemas.openxmlformats.org/drawingml/2006/main">
              <a:ext uri="{FF2B5EF4-FFF2-40B4-BE49-F238E27FC236}">
                <a16:creationId xmlns:a16="http://schemas.microsoft.com/office/drawing/2014/main" id="{4108BAD2-E292-44DE-A07B-28BF702C1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58039"/>
            <a:ext cx="695528" cy="90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22A"/>
          </a:solidFill>
          <a:ln xmlns:a="http://schemas.openxmlformats.org/drawingml/2006/main" w="0">
            <a:solidFill>
              <a:srgbClr val="17622A"/>
            </a:solidFill>
            <a:prstDash val="solid"/>
          </a:ln>
        </p:spPr>
      </p:sp>
      <p:sp>
        <p:nvSpPr>
          <p:cNvPr id="116" name="unknown-value-7">
            <a:extLst xmlns:a="http://schemas.openxmlformats.org/drawingml/2006/main">
              <a:ext uri="{FF2B5EF4-FFF2-40B4-BE49-F238E27FC236}">
                <a16:creationId xmlns:a16="http://schemas.microsoft.com/office/drawing/2014/main" id="{924CF821-98B8-4098-9A83-6070E6D95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5725" y="3337084"/>
            <a:ext cx="2667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20" b="0">
                <a:solidFill>
                  <a:srgbClr val="0A0A0D"/>
                </a:solidFill>
                <a:latin typeface="Aptos"/>
                <a:ea typeface="Aptos"/>
                <a:cs typeface="Aptos"/>
              </a:defRPr>
            </a:pPr>
            <a:r>
              <a:rPr sz="720" b="0">
                <a:solidFill>
                  <a:srgbClr val="0A0A0D"/>
                </a:solidFill>
                <a:latin typeface="Aptos"/>
                <a:ea typeface="Aptos"/>
                <a:cs typeface="Aptos"/>
              </a:rPr>
              <a:t>66</a:t>
            </a:r>
          </a:p>
        </p:txBody>
      </p:sp>
      <p:sp>
        <p:nvSpPr>
          <p:cNvPr id="117" name="unknown-rank-8">
            <a:extLst xmlns:a="http://schemas.openxmlformats.org/drawingml/2006/main">
              <a:ext uri="{FF2B5EF4-FFF2-40B4-BE49-F238E27FC236}">
                <a16:creationId xmlns:a16="http://schemas.microsoft.com/office/drawing/2014/main" id="{6BCDA084-85E8-4FDD-B00E-54C14B175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31870"/>
            <a:ext cx="20955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82" b="0">
                <a:solidFill>
                  <a:srgbClr val="0A0A0D"/>
                </a:solidFill>
                <a:latin typeface="Aptos"/>
                <a:ea typeface="Aptos"/>
                <a:cs typeface="Aptos"/>
              </a:defRPr>
            </a:pPr>
            <a:r>
              <a:rPr sz="682" b="0">
                <a:solidFill>
                  <a:srgbClr val="0A0A0D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118" name="unknown-broker-8">
            <a:extLst xmlns:a="http://schemas.openxmlformats.org/drawingml/2006/main">
              <a:ext uri="{FF2B5EF4-FFF2-40B4-BE49-F238E27FC236}">
                <a16:creationId xmlns:a16="http://schemas.microsoft.com/office/drawing/2014/main" id="{62CE2C3A-06F6-4620-A146-3693BC733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531870"/>
            <a:ext cx="1619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0A0A0D"/>
                </a:solidFill>
                <a:latin typeface="Aptos"/>
                <a:ea typeface="Aptos"/>
                <a:cs typeface="Aptos"/>
              </a:defRPr>
            </a:pPr>
            <a:r>
              <a:rPr sz="757" b="0">
                <a:solidFill>
                  <a:srgbClr val="0A0A0D"/>
                </a:solidFill>
                <a:latin typeface="Aptos"/>
                <a:ea typeface="Aptos"/>
                <a:cs typeface="Aptos"/>
              </a:rPr>
              <a:t>Amwins</a:t>
            </a:r>
          </a:p>
        </p:txBody>
      </p:sp>
      <p:sp>
        <p:nvSpPr>
          <p:cNvPr id="119" name="unknown-bar-8">
            <a:extLst xmlns:a="http://schemas.openxmlformats.org/drawingml/2006/main">
              <a:ext uri="{FF2B5EF4-FFF2-40B4-BE49-F238E27FC236}">
                <a16:creationId xmlns:a16="http://schemas.microsoft.com/office/drawing/2014/main" id="{D17119D4-0686-461A-9F3F-6E479E0C2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552825"/>
            <a:ext cx="516377" cy="90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22A"/>
          </a:solidFill>
          <a:ln xmlns:a="http://schemas.openxmlformats.org/drawingml/2006/main" w="0">
            <a:solidFill>
              <a:srgbClr val="17622A"/>
            </a:solidFill>
            <a:prstDash val="solid"/>
          </a:ln>
        </p:spPr>
      </p:sp>
      <p:sp>
        <p:nvSpPr>
          <p:cNvPr id="120" name="unknown-value-8">
            <a:extLst xmlns:a="http://schemas.openxmlformats.org/drawingml/2006/main">
              <a:ext uri="{FF2B5EF4-FFF2-40B4-BE49-F238E27FC236}">
                <a16:creationId xmlns:a16="http://schemas.microsoft.com/office/drawing/2014/main" id="{48773999-5F06-421F-BBCC-00A7CDA07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5725" y="3531870"/>
            <a:ext cx="2667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20" b="0">
                <a:solidFill>
                  <a:srgbClr val="0A0A0D"/>
                </a:solidFill>
                <a:latin typeface="Aptos"/>
                <a:ea typeface="Aptos"/>
                <a:cs typeface="Aptos"/>
              </a:defRPr>
            </a:pPr>
            <a:r>
              <a:rPr sz="720" b="0">
                <a:solidFill>
                  <a:srgbClr val="0A0A0D"/>
                </a:solidFill>
                <a:latin typeface="Aptos"/>
                <a:ea typeface="Aptos"/>
                <a:cs typeface="Aptos"/>
              </a:rPr>
              <a:t>49</a:t>
            </a:r>
          </a:p>
        </p:txBody>
      </p:sp>
      <p:sp>
        <p:nvSpPr>
          <p:cNvPr id="121" name="unknown-rank-9">
            <a:extLst xmlns:a="http://schemas.openxmlformats.org/drawingml/2006/main">
              <a:ext uri="{FF2B5EF4-FFF2-40B4-BE49-F238E27FC236}">
                <a16:creationId xmlns:a16="http://schemas.microsoft.com/office/drawing/2014/main" id="{0FEDBA87-BAB4-4B35-8642-BB0746EBE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26656"/>
            <a:ext cx="20955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82" b="0">
                <a:solidFill>
                  <a:srgbClr val="0A0A0D"/>
                </a:solidFill>
                <a:latin typeface="Aptos"/>
                <a:ea typeface="Aptos"/>
                <a:cs typeface="Aptos"/>
              </a:defRPr>
            </a:pPr>
            <a:r>
              <a:rPr sz="682" b="0">
                <a:solidFill>
                  <a:srgbClr val="0A0A0D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122" name="unknown-broker-9">
            <a:extLst xmlns:a="http://schemas.openxmlformats.org/drawingml/2006/main">
              <a:ext uri="{FF2B5EF4-FFF2-40B4-BE49-F238E27FC236}">
                <a16:creationId xmlns:a16="http://schemas.microsoft.com/office/drawing/2014/main" id="{1ACF4657-28D4-45EF-9BD8-CD2D9CC13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726656"/>
            <a:ext cx="1619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0A0A0D"/>
                </a:solidFill>
                <a:latin typeface="Aptos"/>
                <a:ea typeface="Aptos"/>
                <a:cs typeface="Aptos"/>
              </a:defRPr>
            </a:pPr>
            <a:r>
              <a:rPr sz="757" b="0">
                <a:solidFill>
                  <a:srgbClr val="0A0A0D"/>
                </a:solidFill>
                <a:latin typeface="Aptos"/>
                <a:ea typeface="Aptos"/>
                <a:cs typeface="Aptos"/>
              </a:rPr>
              <a:t>Guy Carpenter</a:t>
            </a:r>
          </a:p>
        </p:txBody>
      </p:sp>
      <p:sp>
        <p:nvSpPr>
          <p:cNvPr id="123" name="unknown-bar-9">
            <a:extLst xmlns:a="http://schemas.openxmlformats.org/drawingml/2006/main">
              <a:ext uri="{FF2B5EF4-FFF2-40B4-BE49-F238E27FC236}">
                <a16:creationId xmlns:a16="http://schemas.microsoft.com/office/drawing/2014/main" id="{156F935B-F3E3-471F-BCA7-446468DCD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747611"/>
            <a:ext cx="316149" cy="90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22A"/>
          </a:solidFill>
          <a:ln xmlns:a="http://schemas.openxmlformats.org/drawingml/2006/main" w="0">
            <a:solidFill>
              <a:srgbClr val="17622A"/>
            </a:solidFill>
            <a:prstDash val="solid"/>
          </a:ln>
        </p:spPr>
      </p:sp>
      <p:sp>
        <p:nvSpPr>
          <p:cNvPr id="124" name="unknown-value-9">
            <a:extLst xmlns:a="http://schemas.openxmlformats.org/drawingml/2006/main">
              <a:ext uri="{FF2B5EF4-FFF2-40B4-BE49-F238E27FC236}">
                <a16:creationId xmlns:a16="http://schemas.microsoft.com/office/drawing/2014/main" id="{1268C6E2-23A9-44F9-9672-BEE77A159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5725" y="3726656"/>
            <a:ext cx="2667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20" b="0">
                <a:solidFill>
                  <a:srgbClr val="0A0A0D"/>
                </a:solidFill>
                <a:latin typeface="Aptos"/>
                <a:ea typeface="Aptos"/>
                <a:cs typeface="Aptos"/>
              </a:defRPr>
            </a:pPr>
            <a:r>
              <a:rPr sz="720" b="0">
                <a:solidFill>
                  <a:srgbClr val="0A0A0D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125" name="unknown-rank-10">
            <a:extLst xmlns:a="http://schemas.openxmlformats.org/drawingml/2006/main">
              <a:ext uri="{FF2B5EF4-FFF2-40B4-BE49-F238E27FC236}">
                <a16:creationId xmlns:a16="http://schemas.microsoft.com/office/drawing/2014/main" id="{CEB76E21-AF81-4A85-963B-F46B282A7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921443"/>
            <a:ext cx="20955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82" b="0">
                <a:solidFill>
                  <a:srgbClr val="0A0A0D"/>
                </a:solidFill>
                <a:latin typeface="Aptos"/>
                <a:ea typeface="Aptos"/>
                <a:cs typeface="Aptos"/>
              </a:defRPr>
            </a:pPr>
            <a:r>
              <a:rPr sz="682" b="0">
                <a:solidFill>
                  <a:srgbClr val="0A0A0D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126" name="unknown-broker-10">
            <a:extLst xmlns:a="http://schemas.openxmlformats.org/drawingml/2006/main">
              <a:ext uri="{FF2B5EF4-FFF2-40B4-BE49-F238E27FC236}">
                <a16:creationId xmlns:a16="http://schemas.microsoft.com/office/drawing/2014/main" id="{A311152C-797B-43B9-85E0-DB5311AEE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921443"/>
            <a:ext cx="1619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0A0A0D"/>
                </a:solidFill>
                <a:latin typeface="Aptos"/>
                <a:ea typeface="Aptos"/>
                <a:cs typeface="Aptos"/>
              </a:defRPr>
            </a:pPr>
            <a:r>
              <a:rPr sz="757" b="0">
                <a:solidFill>
                  <a:srgbClr val="0A0A0D"/>
                </a:solidFill>
                <a:latin typeface="Aptos"/>
                <a:ea typeface="Aptos"/>
                <a:cs typeface="Aptos"/>
              </a:rPr>
              <a:t>Miller</a:t>
            </a:r>
          </a:p>
        </p:txBody>
      </p:sp>
      <p:sp>
        <p:nvSpPr>
          <p:cNvPr id="127" name="unknown-bar-10">
            <a:extLst xmlns:a="http://schemas.openxmlformats.org/drawingml/2006/main">
              <a:ext uri="{FF2B5EF4-FFF2-40B4-BE49-F238E27FC236}">
                <a16:creationId xmlns:a16="http://schemas.microsoft.com/office/drawing/2014/main" id="{BA6D7CC2-DC37-48F4-8CBD-3A5E6315A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942398"/>
            <a:ext cx="663913" cy="90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22A"/>
          </a:solidFill>
          <a:ln xmlns:a="http://schemas.openxmlformats.org/drawingml/2006/main" w="0">
            <a:solidFill>
              <a:srgbClr val="17622A"/>
            </a:solidFill>
            <a:prstDash val="solid"/>
          </a:ln>
        </p:spPr>
      </p:sp>
      <p:sp>
        <p:nvSpPr>
          <p:cNvPr id="128" name="unknown-value-10">
            <a:extLst xmlns:a="http://schemas.openxmlformats.org/drawingml/2006/main">
              <a:ext uri="{FF2B5EF4-FFF2-40B4-BE49-F238E27FC236}">
                <a16:creationId xmlns:a16="http://schemas.microsoft.com/office/drawing/2014/main" id="{06EF48FF-1643-48DB-A3CF-C8CC2694F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5725" y="3921443"/>
            <a:ext cx="2667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20" b="0">
                <a:solidFill>
                  <a:srgbClr val="0A0A0D"/>
                </a:solidFill>
                <a:latin typeface="Aptos"/>
                <a:ea typeface="Aptos"/>
                <a:cs typeface="Aptos"/>
              </a:defRPr>
            </a:pPr>
            <a:r>
              <a:rPr sz="720" b="0">
                <a:solidFill>
                  <a:srgbClr val="0A0A0D"/>
                </a:solidFill>
                <a:latin typeface="Aptos"/>
                <a:ea typeface="Aptos"/>
                <a:cs typeface="Aptos"/>
              </a:rPr>
              <a:t>63</a:t>
            </a:r>
          </a:p>
        </p:txBody>
      </p:sp>
      <p:sp>
        <p:nvSpPr>
          <p:cNvPr id="129" name="unknown-rank-11">
            <a:extLst xmlns:a="http://schemas.openxmlformats.org/drawingml/2006/main">
              <a:ext uri="{FF2B5EF4-FFF2-40B4-BE49-F238E27FC236}">
                <a16:creationId xmlns:a16="http://schemas.microsoft.com/office/drawing/2014/main" id="{AF5E5784-4CC5-4821-853A-CB7FB7A11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116229"/>
            <a:ext cx="20955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82" b="0">
                <a:solidFill>
                  <a:srgbClr val="0A0A0D"/>
                </a:solidFill>
                <a:latin typeface="Aptos"/>
                <a:ea typeface="Aptos"/>
                <a:cs typeface="Aptos"/>
              </a:defRPr>
            </a:pPr>
            <a:r>
              <a:rPr sz="682" b="0">
                <a:solidFill>
                  <a:srgbClr val="0A0A0D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130" name="unknown-broker-11">
            <a:extLst xmlns:a="http://schemas.openxmlformats.org/drawingml/2006/main">
              <a:ext uri="{FF2B5EF4-FFF2-40B4-BE49-F238E27FC236}">
                <a16:creationId xmlns:a16="http://schemas.microsoft.com/office/drawing/2014/main" id="{8476C9AC-4067-4ABF-B6D2-716FF5508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116229"/>
            <a:ext cx="1619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0A0A0D"/>
                </a:solidFill>
                <a:latin typeface="Aptos"/>
                <a:ea typeface="Aptos"/>
                <a:cs typeface="Aptos"/>
              </a:defRPr>
            </a:pPr>
            <a:r>
              <a:rPr sz="757" b="0">
                <a:solidFill>
                  <a:srgbClr val="0A0A0D"/>
                </a:solidFill>
                <a:latin typeface="Aptos"/>
                <a:ea typeface="Aptos"/>
                <a:cs typeface="Aptos"/>
              </a:rPr>
              <a:t>Oneglobal</a:t>
            </a:r>
          </a:p>
        </p:txBody>
      </p:sp>
      <p:sp>
        <p:nvSpPr>
          <p:cNvPr id="131" name="unknown-bar-11">
            <a:extLst xmlns:a="http://schemas.openxmlformats.org/drawingml/2006/main">
              <a:ext uri="{FF2B5EF4-FFF2-40B4-BE49-F238E27FC236}">
                <a16:creationId xmlns:a16="http://schemas.microsoft.com/office/drawing/2014/main" id="{21BE40B6-28E7-4382-B6F0-48055973C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137184"/>
            <a:ext cx="442609" cy="90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22A"/>
          </a:solidFill>
          <a:ln xmlns:a="http://schemas.openxmlformats.org/drawingml/2006/main" w="0">
            <a:solidFill>
              <a:srgbClr val="17622A"/>
            </a:solidFill>
            <a:prstDash val="solid"/>
          </a:ln>
        </p:spPr>
      </p:sp>
      <p:sp>
        <p:nvSpPr>
          <p:cNvPr id="132" name="unknown-value-11">
            <a:extLst xmlns:a="http://schemas.openxmlformats.org/drawingml/2006/main">
              <a:ext uri="{FF2B5EF4-FFF2-40B4-BE49-F238E27FC236}">
                <a16:creationId xmlns:a16="http://schemas.microsoft.com/office/drawing/2014/main" id="{AC9DA4A4-C7F5-4FF8-BF73-64E1532CB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5725" y="4116229"/>
            <a:ext cx="2667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20" b="0">
                <a:solidFill>
                  <a:srgbClr val="0A0A0D"/>
                </a:solidFill>
                <a:latin typeface="Aptos"/>
                <a:ea typeface="Aptos"/>
                <a:cs typeface="Aptos"/>
              </a:defRPr>
            </a:pPr>
            <a:r>
              <a:rPr sz="720" b="0">
                <a:solidFill>
                  <a:srgbClr val="0A0A0D"/>
                </a:solidFill>
                <a:latin typeface="Aptos"/>
                <a:ea typeface="Aptos"/>
                <a:cs typeface="Aptos"/>
              </a:rPr>
              <a:t>42</a:t>
            </a:r>
          </a:p>
        </p:txBody>
      </p:sp>
      <p:sp>
        <p:nvSpPr>
          <p:cNvPr id="133" name="unknown-rank-12">
            <a:extLst xmlns:a="http://schemas.openxmlformats.org/drawingml/2006/main">
              <a:ext uri="{FF2B5EF4-FFF2-40B4-BE49-F238E27FC236}">
                <a16:creationId xmlns:a16="http://schemas.microsoft.com/office/drawing/2014/main" id="{7F72E8CD-6B6B-4D07-A219-C73E5A0CB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311015"/>
            <a:ext cx="20955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82" b="0">
                <a:solidFill>
                  <a:srgbClr val="0A0A0D"/>
                </a:solidFill>
                <a:latin typeface="Aptos"/>
                <a:ea typeface="Aptos"/>
                <a:cs typeface="Aptos"/>
              </a:defRPr>
            </a:pPr>
            <a:r>
              <a:rPr sz="682" b="0">
                <a:solidFill>
                  <a:srgbClr val="0A0A0D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134" name="unknown-broker-12">
            <a:extLst xmlns:a="http://schemas.openxmlformats.org/drawingml/2006/main">
              <a:ext uri="{FF2B5EF4-FFF2-40B4-BE49-F238E27FC236}">
                <a16:creationId xmlns:a16="http://schemas.microsoft.com/office/drawing/2014/main" id="{E8FB253B-CB78-4432-8BCD-1C525778D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311015"/>
            <a:ext cx="1619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0A0A0D"/>
                </a:solidFill>
                <a:latin typeface="Aptos"/>
                <a:ea typeface="Aptos"/>
                <a:cs typeface="Aptos"/>
              </a:defRPr>
            </a:pPr>
            <a:r>
              <a:rPr sz="757" b="0">
                <a:solidFill>
                  <a:srgbClr val="0A0A0D"/>
                </a:solidFill>
                <a:latin typeface="Aptos"/>
                <a:ea typeface="Aptos"/>
                <a:cs typeface="Aptos"/>
              </a:rPr>
              <a:t>Tysers</a:t>
            </a:r>
          </a:p>
        </p:txBody>
      </p:sp>
      <p:sp>
        <p:nvSpPr>
          <p:cNvPr id="135" name="unknown-bar-12">
            <a:extLst xmlns:a="http://schemas.openxmlformats.org/drawingml/2006/main">
              <a:ext uri="{FF2B5EF4-FFF2-40B4-BE49-F238E27FC236}">
                <a16:creationId xmlns:a16="http://schemas.microsoft.com/office/drawing/2014/main" id="{5758465F-0F9D-4110-8E6D-4EF2EA5F4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331970"/>
            <a:ext cx="410994" cy="90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22A"/>
          </a:solidFill>
          <a:ln xmlns:a="http://schemas.openxmlformats.org/drawingml/2006/main" w="0">
            <a:solidFill>
              <a:srgbClr val="17622A"/>
            </a:solidFill>
            <a:prstDash val="solid"/>
          </a:ln>
        </p:spPr>
      </p:sp>
      <p:sp>
        <p:nvSpPr>
          <p:cNvPr id="136" name="unknown-value-12">
            <a:extLst xmlns:a="http://schemas.openxmlformats.org/drawingml/2006/main">
              <a:ext uri="{FF2B5EF4-FFF2-40B4-BE49-F238E27FC236}">
                <a16:creationId xmlns:a16="http://schemas.microsoft.com/office/drawing/2014/main" id="{1D4B6FC0-A396-4935-86AB-5C836E0EE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5725" y="4311015"/>
            <a:ext cx="2667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20" b="0">
                <a:solidFill>
                  <a:srgbClr val="0A0A0D"/>
                </a:solidFill>
                <a:latin typeface="Aptos"/>
                <a:ea typeface="Aptos"/>
                <a:cs typeface="Aptos"/>
              </a:defRPr>
            </a:pPr>
            <a:r>
              <a:rPr sz="720" b="0">
                <a:solidFill>
                  <a:srgbClr val="0A0A0D"/>
                </a:solidFill>
                <a:latin typeface="Aptos"/>
                <a:ea typeface="Aptos"/>
                <a:cs typeface="Aptos"/>
              </a:rPr>
              <a:t>39</a:t>
            </a:r>
          </a:p>
        </p:txBody>
      </p:sp>
      <p:sp>
        <p:nvSpPr>
          <p:cNvPr id="137" name="unknown-rank-13">
            <a:extLst xmlns:a="http://schemas.openxmlformats.org/drawingml/2006/main">
              <a:ext uri="{FF2B5EF4-FFF2-40B4-BE49-F238E27FC236}">
                <a16:creationId xmlns:a16="http://schemas.microsoft.com/office/drawing/2014/main" id="{7ABC22A9-2469-4E87-8315-A78732148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505801"/>
            <a:ext cx="20955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82" b="0">
                <a:solidFill>
                  <a:srgbClr val="0A0A0D"/>
                </a:solidFill>
                <a:latin typeface="Aptos"/>
                <a:ea typeface="Aptos"/>
                <a:cs typeface="Aptos"/>
              </a:defRPr>
            </a:pPr>
            <a:r>
              <a:rPr sz="682" b="0">
                <a:solidFill>
                  <a:srgbClr val="0A0A0D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138" name="unknown-broker-13">
            <a:extLst xmlns:a="http://schemas.openxmlformats.org/drawingml/2006/main">
              <a:ext uri="{FF2B5EF4-FFF2-40B4-BE49-F238E27FC236}">
                <a16:creationId xmlns:a16="http://schemas.microsoft.com/office/drawing/2014/main" id="{D9436D0F-BDD2-42F3-8472-A42A73C1A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505801"/>
            <a:ext cx="1619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0A0A0D"/>
                </a:solidFill>
                <a:latin typeface="Aptos"/>
                <a:ea typeface="Aptos"/>
                <a:cs typeface="Aptos"/>
              </a:defRPr>
            </a:pPr>
            <a:r>
              <a:rPr sz="757" b="0">
                <a:solidFill>
                  <a:srgbClr val="0A0A0D"/>
                </a:solidFill>
                <a:latin typeface="Aptos"/>
                <a:ea typeface="Aptos"/>
                <a:cs typeface="Aptos"/>
              </a:rPr>
              <a:t>McGill and Partners</a:t>
            </a:r>
          </a:p>
        </p:txBody>
      </p:sp>
      <p:sp>
        <p:nvSpPr>
          <p:cNvPr id="139" name="unknown-bar-13">
            <a:extLst xmlns:a="http://schemas.openxmlformats.org/drawingml/2006/main">
              <a:ext uri="{FF2B5EF4-FFF2-40B4-BE49-F238E27FC236}">
                <a16:creationId xmlns:a16="http://schemas.microsoft.com/office/drawing/2014/main" id="{F6E6B2B2-0FFA-4A0E-BE45-55B0D9306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526756"/>
            <a:ext cx="326687" cy="90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22A"/>
          </a:solidFill>
          <a:ln xmlns:a="http://schemas.openxmlformats.org/drawingml/2006/main" w="0">
            <a:solidFill>
              <a:srgbClr val="17622A"/>
            </a:solidFill>
            <a:prstDash val="solid"/>
          </a:ln>
        </p:spPr>
      </p:sp>
      <p:sp>
        <p:nvSpPr>
          <p:cNvPr id="140" name="unknown-value-13">
            <a:extLst xmlns:a="http://schemas.openxmlformats.org/drawingml/2006/main">
              <a:ext uri="{FF2B5EF4-FFF2-40B4-BE49-F238E27FC236}">
                <a16:creationId xmlns:a16="http://schemas.microsoft.com/office/drawing/2014/main" id="{1CECC883-CE57-4DFD-9881-F08F944BF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5725" y="4505801"/>
            <a:ext cx="2667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20" b="0">
                <a:solidFill>
                  <a:srgbClr val="0A0A0D"/>
                </a:solidFill>
                <a:latin typeface="Aptos"/>
                <a:ea typeface="Aptos"/>
                <a:cs typeface="Aptos"/>
              </a:defRPr>
            </a:pPr>
            <a:r>
              <a:rPr sz="720" b="0">
                <a:solidFill>
                  <a:srgbClr val="0A0A0D"/>
                </a:solidFill>
                <a:latin typeface="Aptos"/>
                <a:ea typeface="Aptos"/>
                <a:cs typeface="Aptos"/>
              </a:rPr>
              <a:t>31</a:t>
            </a:r>
          </a:p>
        </p:txBody>
      </p:sp>
      <p:sp>
        <p:nvSpPr>
          <p:cNvPr id="141" name="unknown-rank-14">
            <a:extLst xmlns:a="http://schemas.openxmlformats.org/drawingml/2006/main">
              <a:ext uri="{FF2B5EF4-FFF2-40B4-BE49-F238E27FC236}">
                <a16:creationId xmlns:a16="http://schemas.microsoft.com/office/drawing/2014/main" id="{E18F30D1-3207-46C5-A28E-269E1D6EE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700588"/>
            <a:ext cx="20955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82" b="0">
                <a:solidFill>
                  <a:srgbClr val="0A0A0D"/>
                </a:solidFill>
                <a:latin typeface="Aptos"/>
                <a:ea typeface="Aptos"/>
                <a:cs typeface="Aptos"/>
              </a:defRPr>
            </a:pPr>
            <a:r>
              <a:rPr sz="682" b="0">
                <a:solidFill>
                  <a:srgbClr val="0A0A0D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142" name="unknown-broker-14">
            <a:extLst xmlns:a="http://schemas.openxmlformats.org/drawingml/2006/main">
              <a:ext uri="{FF2B5EF4-FFF2-40B4-BE49-F238E27FC236}">
                <a16:creationId xmlns:a16="http://schemas.microsoft.com/office/drawing/2014/main" id="{5B62738C-7953-4CB0-AFD9-AF28B9989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700588"/>
            <a:ext cx="1619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0A0A0D"/>
                </a:solidFill>
                <a:latin typeface="Aptos"/>
                <a:ea typeface="Aptos"/>
                <a:cs typeface="Aptos"/>
              </a:defRPr>
            </a:pPr>
            <a:r>
              <a:rPr sz="757" b="0">
                <a:solidFill>
                  <a:srgbClr val="0A0A0D"/>
                </a:solidFill>
                <a:latin typeface="Aptos"/>
                <a:ea typeface="Aptos"/>
                <a:cs typeface="Aptos"/>
              </a:rPr>
              <a:t>Cogent Re</a:t>
            </a:r>
          </a:p>
        </p:txBody>
      </p:sp>
      <p:sp>
        <p:nvSpPr>
          <p:cNvPr id="143" name="unknown-bar-14">
            <a:extLst xmlns:a="http://schemas.openxmlformats.org/drawingml/2006/main">
              <a:ext uri="{FF2B5EF4-FFF2-40B4-BE49-F238E27FC236}">
                <a16:creationId xmlns:a16="http://schemas.microsoft.com/office/drawing/2014/main" id="{A3A31F1C-2C75-438A-9D38-B53CACD04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721543"/>
            <a:ext cx="168613" cy="90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22A"/>
          </a:solidFill>
          <a:ln xmlns:a="http://schemas.openxmlformats.org/drawingml/2006/main" w="0">
            <a:solidFill>
              <a:srgbClr val="17622A"/>
            </a:solidFill>
            <a:prstDash val="solid"/>
          </a:ln>
        </p:spPr>
      </p:sp>
      <p:sp>
        <p:nvSpPr>
          <p:cNvPr id="144" name="unknown-value-14">
            <a:extLst xmlns:a="http://schemas.openxmlformats.org/drawingml/2006/main">
              <a:ext uri="{FF2B5EF4-FFF2-40B4-BE49-F238E27FC236}">
                <a16:creationId xmlns:a16="http://schemas.microsoft.com/office/drawing/2014/main" id="{3986B1DB-5475-4014-900B-11F29624A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5725" y="4700588"/>
            <a:ext cx="2667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20" b="0">
                <a:solidFill>
                  <a:srgbClr val="0A0A0D"/>
                </a:solidFill>
                <a:latin typeface="Aptos"/>
                <a:ea typeface="Aptos"/>
                <a:cs typeface="Aptos"/>
              </a:defRPr>
            </a:pPr>
            <a:r>
              <a:rPr sz="720" b="0">
                <a:solidFill>
                  <a:srgbClr val="0A0A0D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145" name="unknown-total-band">
            <a:extLst xmlns:a="http://schemas.openxmlformats.org/drawingml/2006/main">
              <a:ext uri="{FF2B5EF4-FFF2-40B4-BE49-F238E27FC236}">
                <a16:creationId xmlns:a16="http://schemas.microsoft.com/office/drawing/2014/main" id="{3F8FE5AA-B996-49F4-8AFB-D04D75726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848225"/>
            <a:ext cx="57150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1"/>
          </a:solidFill>
          <a:ln xmlns:a="http://schemas.openxmlformats.org/drawingml/2006/main" w="6668">
            <a:solidFill>
              <a:srgbClr val="C8D2E2"/>
            </a:solidFill>
            <a:prstDash val="solid"/>
          </a:ln>
        </p:spPr>
      </p:sp>
      <p:sp>
        <p:nvSpPr>
          <p:cNvPr id="146" name="unknown-grand-label">
            <a:extLst xmlns:a="http://schemas.openxmlformats.org/drawingml/2006/main">
              <a:ext uri="{FF2B5EF4-FFF2-40B4-BE49-F238E27FC236}">
                <a16:creationId xmlns:a16="http://schemas.microsoft.com/office/drawing/2014/main" id="{4FA026BC-48AE-4777-9E08-3D98EFF44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4953000"/>
            <a:ext cx="1428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7622A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7622A"/>
                </a:solidFill>
                <a:latin typeface="Aptos"/>
                <a:ea typeface="Aptos"/>
                <a:cs typeface="Aptos"/>
              </a:rPr>
              <a:t>GRAND TOTAL</a:t>
            </a:r>
          </a:p>
        </p:txBody>
      </p:sp>
      <p:sp>
        <p:nvSpPr>
          <p:cNvPr id="147" name="unknown-grand-total">
            <a:extLst xmlns:a="http://schemas.openxmlformats.org/drawingml/2006/main">
              <a:ext uri="{FF2B5EF4-FFF2-40B4-BE49-F238E27FC236}">
                <a16:creationId xmlns:a16="http://schemas.microsoft.com/office/drawing/2014/main" id="{AC758A01-EF8F-47F5-AF86-DEF80A5B4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924425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85" b="1">
                <a:solidFill>
                  <a:srgbClr val="17622A"/>
                </a:solidFill>
                <a:latin typeface="Aptos"/>
                <a:ea typeface="Aptos"/>
                <a:cs typeface="Aptos"/>
              </a:defRPr>
            </a:pPr>
            <a:r>
              <a:rPr sz="1185" b="1">
                <a:solidFill>
                  <a:srgbClr val="17622A"/>
                </a:solidFill>
                <a:latin typeface="Aptos"/>
                <a:ea typeface="Aptos"/>
                <a:cs typeface="Aptos"/>
              </a:rPr>
              <a:t>1,122</a:t>
            </a:r>
          </a:p>
        </p:txBody>
      </p:sp>
      <p:sp>
        <p:nvSpPr>
          <p:cNvPr id="148" name="insights-box">
            <a:extLst xmlns:a="http://schemas.openxmlformats.org/drawingml/2006/main">
              <a:ext uri="{FF2B5EF4-FFF2-40B4-BE49-F238E27FC236}">
                <a16:creationId xmlns:a16="http://schemas.microsoft.com/office/drawing/2014/main" id="{00C111A6-A3D0-4135-8222-24D3E1180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5391150"/>
            <a:ext cx="11715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2E2"/>
            </a:solidFill>
            <a:prstDash val="solid"/>
          </a:ln>
        </p:spPr>
      </p:sp>
      <p:sp>
        <p:nvSpPr>
          <p:cNvPr id="149" name="people-icon-circle">
            <a:extLst xmlns:a="http://schemas.openxmlformats.org/drawingml/2006/main">
              <a:ext uri="{FF2B5EF4-FFF2-40B4-BE49-F238E27FC236}">
                <a16:creationId xmlns:a16="http://schemas.microsoft.com/office/drawing/2014/main" id="{C089EE3D-4BA9-411D-9CB1-5ED7F58E8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67375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23EA8"/>
            </a:solidFill>
            <a:prstDash val="solid"/>
          </a:ln>
        </p:spPr>
      </p:sp>
      <p:pic>
        <p:nvPicPr>
          <p:cNvPr id="3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2da3833fb24c43">
            <a:extLst>
              <a:ext uri="{96DAC541-7B7A-43D3-8B79-37D633B846F1}">
                <asvg:svgBlip xmlns:asvg="http://schemas.microsoft.com/office/drawing/2016/SVG/main" r:embed="Re9bc27a18212482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76275" y="582930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151" name="key-label">
            <a:extLst xmlns:a="http://schemas.openxmlformats.org/drawingml/2006/main">
              <a:ext uri="{FF2B5EF4-FFF2-40B4-BE49-F238E27FC236}">
                <a16:creationId xmlns:a16="http://schemas.microsoft.com/office/drawing/2014/main" id="{BA487E84-4D61-45B9-8332-F751A7596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5810250"/>
            <a:ext cx="76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90" b="1">
                <a:solidFill>
                  <a:srgbClr val="082968"/>
                </a:solidFill>
                <a:latin typeface="Aptos Display"/>
                <a:ea typeface="Aptos Display"/>
                <a:cs typeface="Aptos Display"/>
              </a:defRPr>
            </a:pPr>
            <a:r>
              <a:rPr sz="990" b="1">
                <a:solidFill>
                  <a:srgbClr val="082968"/>
                </a:solidFill>
                <a:latin typeface="Aptos Display"/>
                <a:ea typeface="Aptos Display"/>
                <a:cs typeface="Aptos Display"/>
              </a:rPr>
              <a:t>KEY</a:t>
            </a:r>
          </a:p>
          <a:p xmlns:a="http://schemas.openxmlformats.org/drawingml/2006/main">
            <a:pPr algn="ctr">
              <a:defRPr sz="990" b="1">
                <a:solidFill>
                  <a:srgbClr val="082968"/>
                </a:solidFill>
                <a:latin typeface="Aptos Display"/>
                <a:ea typeface="Aptos Display"/>
                <a:cs typeface="Aptos Display"/>
              </a:defRPr>
            </a:pPr>
            <a:r>
              <a:rPr sz="990" b="1">
                <a:solidFill>
                  <a:srgbClr val="082968"/>
                </a:solidFill>
                <a:latin typeface="Aptos Display"/>
                <a:ea typeface="Aptos Display"/>
                <a:cs typeface="Aptos Display"/>
              </a:rPr>
              <a:t>INSIGHTS</a:t>
            </a:r>
          </a:p>
        </p:txBody>
      </p:sp>
      <p:sp>
        <p:nvSpPr>
          <p:cNvPr id="152" name="divider-left">
            <a:extLst xmlns:a="http://schemas.openxmlformats.org/drawingml/2006/main">
              <a:ext uri="{FF2B5EF4-FFF2-40B4-BE49-F238E27FC236}">
                <a16:creationId xmlns:a16="http://schemas.microsoft.com/office/drawing/2014/main" id="{216C83BF-C7DF-49EE-9408-F0708DFA7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5562600"/>
            <a:ext cx="95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EA8"/>
          </a:solidFill>
          <a:ln xmlns:a="http://schemas.openxmlformats.org/drawingml/2006/main" w="0">
            <a:solidFill>
              <a:srgbClr val="123EA8"/>
            </a:solidFill>
            <a:prstDash val="solid"/>
          </a:ln>
        </p:spPr>
      </p:sp>
      <p:sp>
        <p:nvSpPr>
          <p:cNvPr id="153" name="divider-mid">
            <a:extLst xmlns:a="http://schemas.openxmlformats.org/drawingml/2006/main">
              <a:ext uri="{FF2B5EF4-FFF2-40B4-BE49-F238E27FC236}">
                <a16:creationId xmlns:a16="http://schemas.microsoft.com/office/drawing/2014/main" id="{11342A32-8DB0-4501-A4F8-C7DCD7543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562600"/>
            <a:ext cx="95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EA8"/>
          </a:solidFill>
          <a:ln xmlns:a="http://schemas.openxmlformats.org/drawingml/2006/main" w="0">
            <a:solidFill>
              <a:srgbClr val="123EA8"/>
            </a:solidFill>
            <a:prstDash val="solid"/>
          </a:ln>
        </p:spPr>
      </p:sp>
      <p:sp>
        <p:nvSpPr>
          <p:cNvPr id="154" name="known-mini-bar-0">
            <a:extLst xmlns:a="http://schemas.openxmlformats.org/drawingml/2006/main">
              <a:ext uri="{FF2B5EF4-FFF2-40B4-BE49-F238E27FC236}">
                <a16:creationId xmlns:a16="http://schemas.microsoft.com/office/drawing/2014/main" id="{0E6A3AFD-A5CA-47A0-AF1B-68130D7B6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924550"/>
            <a:ext cx="476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EA8"/>
          </a:solidFill>
          <a:ln xmlns:a="http://schemas.openxmlformats.org/drawingml/2006/main" w="0">
            <a:solidFill>
              <a:srgbClr val="123EA8"/>
            </a:solidFill>
            <a:prstDash val="solid"/>
          </a:ln>
        </p:spPr>
      </p:sp>
      <p:sp>
        <p:nvSpPr>
          <p:cNvPr id="155" name="known-mini-bar-1">
            <a:extLst xmlns:a="http://schemas.openxmlformats.org/drawingml/2006/main">
              <a:ext uri="{FF2B5EF4-FFF2-40B4-BE49-F238E27FC236}">
                <a16:creationId xmlns:a16="http://schemas.microsoft.com/office/drawing/2014/main" id="{493CB18E-5747-4FD7-B767-E241CEF57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876925"/>
            <a:ext cx="4762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EA8"/>
          </a:solidFill>
          <a:ln xmlns:a="http://schemas.openxmlformats.org/drawingml/2006/main" w="0">
            <a:solidFill>
              <a:srgbClr val="123EA8"/>
            </a:solidFill>
            <a:prstDash val="solid"/>
          </a:ln>
        </p:spPr>
      </p:sp>
      <p:sp>
        <p:nvSpPr>
          <p:cNvPr id="156" name="known-mini-bar-2">
            <a:extLst xmlns:a="http://schemas.openxmlformats.org/drawingml/2006/main">
              <a:ext uri="{FF2B5EF4-FFF2-40B4-BE49-F238E27FC236}">
                <a16:creationId xmlns:a16="http://schemas.microsoft.com/office/drawing/2014/main" id="{8828DC75-5B8B-4124-9C17-223DF6181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810250"/>
            <a:ext cx="47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EA8"/>
          </a:solidFill>
          <a:ln xmlns:a="http://schemas.openxmlformats.org/drawingml/2006/main" w="0">
            <a:solidFill>
              <a:srgbClr val="123EA8"/>
            </a:solidFill>
            <a:prstDash val="solid"/>
          </a:ln>
        </p:spPr>
      </p:sp>
      <p:sp>
        <p:nvSpPr>
          <p:cNvPr id="157" name="known-mini-bar-3">
            <a:extLst xmlns:a="http://schemas.openxmlformats.org/drawingml/2006/main">
              <a:ext uri="{FF2B5EF4-FFF2-40B4-BE49-F238E27FC236}">
                <a16:creationId xmlns:a16="http://schemas.microsoft.com/office/drawing/2014/main" id="{CF94D2D1-4377-444E-8B19-E7C3B27D3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734050"/>
            <a:ext cx="47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EA8"/>
          </a:solidFill>
          <a:ln xmlns:a="http://schemas.openxmlformats.org/drawingml/2006/main" w="0">
            <a:solidFill>
              <a:srgbClr val="123EA8"/>
            </a:solidFill>
            <a:prstDash val="solid"/>
          </a:ln>
        </p:spPr>
      </p:sp>
      <p:sp>
        <p:nvSpPr>
          <p:cNvPr id="158" name="known-mini-base">
            <a:extLst xmlns:a="http://schemas.openxmlformats.org/drawingml/2006/main">
              <a:ext uri="{FF2B5EF4-FFF2-40B4-BE49-F238E27FC236}">
                <a16:creationId xmlns:a16="http://schemas.microsoft.com/office/drawing/2014/main" id="{FAC9A0C3-3A24-4387-9DC8-57DFA4686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6019800"/>
            <a:ext cx="4000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EA8"/>
          </a:solidFill>
          <a:ln xmlns:a="http://schemas.openxmlformats.org/drawingml/2006/main" w="0">
            <a:solidFill>
              <a:srgbClr val="123EA8"/>
            </a:solidFill>
            <a:prstDash val="solid"/>
          </a:ln>
        </p:spPr>
      </p:sp>
      <p:sp>
        <p:nvSpPr>
          <p:cNvPr id="159" name="unknown-mini-bar-0">
            <a:extLst xmlns:a="http://schemas.openxmlformats.org/drawingml/2006/main">
              <a:ext uri="{FF2B5EF4-FFF2-40B4-BE49-F238E27FC236}">
                <a16:creationId xmlns:a16="http://schemas.microsoft.com/office/drawing/2014/main" id="{F639AA01-1FB4-418C-89E5-75EE58538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5924550"/>
            <a:ext cx="476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22A"/>
          </a:solidFill>
          <a:ln xmlns:a="http://schemas.openxmlformats.org/drawingml/2006/main" w="0">
            <a:solidFill>
              <a:srgbClr val="17622A"/>
            </a:solidFill>
            <a:prstDash val="solid"/>
          </a:ln>
        </p:spPr>
      </p:sp>
      <p:sp>
        <p:nvSpPr>
          <p:cNvPr id="160" name="unknown-mini-bar-1">
            <a:extLst xmlns:a="http://schemas.openxmlformats.org/drawingml/2006/main">
              <a:ext uri="{FF2B5EF4-FFF2-40B4-BE49-F238E27FC236}">
                <a16:creationId xmlns:a16="http://schemas.microsoft.com/office/drawing/2014/main" id="{1D1A2855-4966-468F-BF23-DCB373119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5876925"/>
            <a:ext cx="4762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22A"/>
          </a:solidFill>
          <a:ln xmlns:a="http://schemas.openxmlformats.org/drawingml/2006/main" w="0">
            <a:solidFill>
              <a:srgbClr val="17622A"/>
            </a:solidFill>
            <a:prstDash val="solid"/>
          </a:ln>
        </p:spPr>
      </p:sp>
      <p:sp>
        <p:nvSpPr>
          <p:cNvPr id="161" name="unknown-mini-bar-2">
            <a:extLst xmlns:a="http://schemas.openxmlformats.org/drawingml/2006/main">
              <a:ext uri="{FF2B5EF4-FFF2-40B4-BE49-F238E27FC236}">
                <a16:creationId xmlns:a16="http://schemas.microsoft.com/office/drawing/2014/main" id="{9487E43A-606A-4028-9B4D-EF9FE937B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5810250"/>
            <a:ext cx="47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22A"/>
          </a:solidFill>
          <a:ln xmlns:a="http://schemas.openxmlformats.org/drawingml/2006/main" w="0">
            <a:solidFill>
              <a:srgbClr val="17622A"/>
            </a:solidFill>
            <a:prstDash val="solid"/>
          </a:ln>
        </p:spPr>
      </p:sp>
      <p:sp>
        <p:nvSpPr>
          <p:cNvPr id="162" name="unknown-mini-bar-3">
            <a:extLst xmlns:a="http://schemas.openxmlformats.org/drawingml/2006/main">
              <a:ext uri="{FF2B5EF4-FFF2-40B4-BE49-F238E27FC236}">
                <a16:creationId xmlns:a16="http://schemas.microsoft.com/office/drawing/2014/main" id="{19CF350D-E83B-4A19-95F3-5271DE782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5734050"/>
            <a:ext cx="47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22A"/>
          </a:solidFill>
          <a:ln xmlns:a="http://schemas.openxmlformats.org/drawingml/2006/main" w="0">
            <a:solidFill>
              <a:srgbClr val="17622A"/>
            </a:solidFill>
            <a:prstDash val="solid"/>
          </a:ln>
        </p:spPr>
      </p:sp>
      <p:sp>
        <p:nvSpPr>
          <p:cNvPr id="163" name="unknown-mini-base">
            <a:extLst xmlns:a="http://schemas.openxmlformats.org/drawingml/2006/main">
              <a:ext uri="{FF2B5EF4-FFF2-40B4-BE49-F238E27FC236}">
                <a16:creationId xmlns:a16="http://schemas.microsoft.com/office/drawing/2014/main" id="{889FA9EF-4655-4AF1-AEF4-0935555FD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6019800"/>
            <a:ext cx="4000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22A"/>
          </a:solidFill>
          <a:ln xmlns:a="http://schemas.openxmlformats.org/drawingml/2006/main" w="0">
            <a:solidFill>
              <a:srgbClr val="17622A"/>
            </a:solidFill>
            <a:prstDash val="solid"/>
          </a:ln>
        </p:spPr>
      </p:sp>
      <p:sp>
        <p:nvSpPr>
          <p:cNvPr id="164" name="left-dot-0">
            <a:extLst xmlns:a="http://schemas.openxmlformats.org/drawingml/2006/main">
              <a:ext uri="{FF2B5EF4-FFF2-40B4-BE49-F238E27FC236}">
                <a16:creationId xmlns:a16="http://schemas.microsoft.com/office/drawing/2014/main" id="{DC1E6F7E-65CD-4B74-A3BB-32B7A0084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629275"/>
            <a:ext cx="114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8296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82968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65" name="left-insight-0">
            <a:extLst xmlns:a="http://schemas.openxmlformats.org/drawingml/2006/main">
              <a:ext uri="{FF2B5EF4-FFF2-40B4-BE49-F238E27FC236}">
                <a16:creationId xmlns:a16="http://schemas.microsoft.com/office/drawing/2014/main" id="{47FD67CE-4891-4363-A30E-FB216B08F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5610225"/>
            <a:ext cx="36195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001B58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001B58"/>
                </a:solidFill>
                <a:latin typeface="Aptos"/>
                <a:ea typeface="Aptos"/>
                <a:cs typeface="Aptos"/>
              </a:rPr>
              <a:t>Known NTU reasons are highly concentrated in the top 5 brokers,</a:t>
            </a:r>
          </a:p>
          <a:p xmlns:a="http://schemas.openxmlformats.org/drawingml/2006/main">
            <a:pPr algn="l">
              <a:defRPr sz="795" b="0">
                <a:solidFill>
                  <a:srgbClr val="001B58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001B58"/>
                </a:solidFill>
                <a:latin typeface="Aptos"/>
                <a:ea typeface="Aptos"/>
                <a:cs typeface="Aptos"/>
              </a:rPr>
              <a:t>accounting for ~63% of total submissions.</a:t>
            </a:r>
          </a:p>
        </p:txBody>
      </p:sp>
      <p:sp>
        <p:nvSpPr>
          <p:cNvPr id="166" name="left-dot-1">
            <a:extLst xmlns:a="http://schemas.openxmlformats.org/drawingml/2006/main">
              <a:ext uri="{FF2B5EF4-FFF2-40B4-BE49-F238E27FC236}">
                <a16:creationId xmlns:a16="http://schemas.microsoft.com/office/drawing/2014/main" id="{320DDB71-E24B-47BE-B85A-24638EDC2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038850"/>
            <a:ext cx="114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8296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82968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67" name="left-insight-1">
            <a:extLst xmlns:a="http://schemas.openxmlformats.org/drawingml/2006/main">
              <a:ext uri="{FF2B5EF4-FFF2-40B4-BE49-F238E27FC236}">
                <a16:creationId xmlns:a16="http://schemas.microsoft.com/office/drawing/2014/main" id="{62F5A34B-88F9-43CE-A3EA-3A066F9E5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6019800"/>
            <a:ext cx="36195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001B58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001B58"/>
                </a:solidFill>
                <a:latin typeface="Aptos"/>
                <a:ea typeface="Aptos"/>
                <a:cs typeface="Aptos"/>
              </a:rPr>
              <a:t>Aon leads in known reasons with the highest submission count</a:t>
            </a:r>
          </a:p>
          <a:p xmlns:a="http://schemas.openxmlformats.org/drawingml/2006/main">
            <a:pPr algn="l">
              <a:defRPr sz="795" b="0">
                <a:solidFill>
                  <a:srgbClr val="001B58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001B58"/>
                </a:solidFill>
                <a:latin typeface="Aptos"/>
                <a:ea typeface="Aptos"/>
                <a:cs typeface="Aptos"/>
              </a:rPr>
              <a:t>(269 submissions).</a:t>
            </a:r>
          </a:p>
        </p:txBody>
      </p:sp>
      <p:sp>
        <p:nvSpPr>
          <p:cNvPr id="168" name="right-dot-0">
            <a:extLst xmlns:a="http://schemas.openxmlformats.org/drawingml/2006/main">
              <a:ext uri="{FF2B5EF4-FFF2-40B4-BE49-F238E27FC236}">
                <a16:creationId xmlns:a16="http://schemas.microsoft.com/office/drawing/2014/main" id="{54E6F782-E984-4EE1-8CB0-5F6E3BA14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657850"/>
            <a:ext cx="114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8296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82968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69" name="right-insight-0">
            <a:extLst xmlns:a="http://schemas.openxmlformats.org/drawingml/2006/main">
              <a:ext uri="{FF2B5EF4-FFF2-40B4-BE49-F238E27FC236}">
                <a16:creationId xmlns:a16="http://schemas.microsoft.com/office/drawing/2014/main" id="{6C249E67-4A0E-4E2E-98A0-8E484D67E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5638800"/>
            <a:ext cx="36195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001B58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001B58"/>
                </a:solidFill>
                <a:latin typeface="Aptos"/>
                <a:ea typeface="Aptos"/>
                <a:cs typeface="Aptos"/>
              </a:rPr>
              <a:t>Unknown NTU reasons are more fragmented across brokers.</a:t>
            </a:r>
          </a:p>
        </p:txBody>
      </p:sp>
      <p:sp>
        <p:nvSpPr>
          <p:cNvPr id="170" name="right-dot-1">
            <a:extLst xmlns:a="http://schemas.openxmlformats.org/drawingml/2006/main">
              <a:ext uri="{FF2B5EF4-FFF2-40B4-BE49-F238E27FC236}">
                <a16:creationId xmlns:a16="http://schemas.microsoft.com/office/drawing/2014/main" id="{2F8C09D4-48EF-484C-89FF-0694EE394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6010275"/>
            <a:ext cx="114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8296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82968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71" name="right-insight-1">
            <a:extLst xmlns:a="http://schemas.openxmlformats.org/drawingml/2006/main">
              <a:ext uri="{FF2B5EF4-FFF2-40B4-BE49-F238E27FC236}">
                <a16:creationId xmlns:a16="http://schemas.microsoft.com/office/drawing/2014/main" id="{0ACA3C07-D595-41BF-AA4C-6A177BD41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5991225"/>
            <a:ext cx="36195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001B58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001B58"/>
                </a:solidFill>
                <a:latin typeface="Aptos"/>
                <a:ea typeface="Aptos"/>
                <a:cs typeface="Aptos"/>
              </a:rPr>
              <a:t>Marsh McLennan leads in unknown reasons, but with lower</a:t>
            </a:r>
          </a:p>
          <a:p xmlns:a="http://schemas.openxmlformats.org/drawingml/2006/main">
            <a:pPr algn="l">
              <a:defRPr sz="795" b="0">
                <a:solidFill>
                  <a:srgbClr val="001B58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001B58"/>
                </a:solidFill>
                <a:latin typeface="Aptos"/>
                <a:ea typeface="Aptos"/>
                <a:cs typeface="Aptos"/>
              </a:rPr>
              <a:t>concentration compared to known reasons.</a:t>
            </a:r>
          </a:p>
        </p:txBody>
      </p:sp>
      <p:sp>
        <p:nvSpPr>
          <p:cNvPr id="172" name="note">
            <a:extLst xmlns:a="http://schemas.openxmlformats.org/drawingml/2006/main">
              <a:ext uri="{FF2B5EF4-FFF2-40B4-BE49-F238E27FC236}">
                <a16:creationId xmlns:a16="http://schemas.microsoft.com/office/drawing/2014/main" id="{6795C37D-039A-4F5B-9C9E-A77FF1B30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667500"/>
            <a:ext cx="79057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001B58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001B58"/>
                </a:solidFill>
                <a:latin typeface="Aptos"/>
                <a:ea typeface="Aptos"/>
                <a:cs typeface="Aptos"/>
              </a:rPr>
              <a:t>Note: Counts are based on submissions with NTU reason tagged as 'Primary NTU Reason - Multiple Items'.</a:t>
            </a:r>
          </a:p>
        </p:txBody>
      </p:sp>
    </p:spTree>
    <p:extLst>
      <p:ext uri="{BB962C8B-B14F-4D97-AF65-F5344CB8AC3E}">
        <p14:creationId xmlns:p14="http://schemas.microsoft.com/office/powerpoint/2010/main" val="16706131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2026-06-15T11:16:39.3650000Z</dcterms:created>
  <dcterms:modified xsi:type="dcterms:W3CDTF">2026-06-15T11:16:39.3650000Z</dcterms:modified>
</coreProperties>
</file>