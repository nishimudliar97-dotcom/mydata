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0adc8fbfc4224" /><Relationship Type="http://schemas.openxmlformats.org/officeDocument/2006/relationships/extended-properties" Target="/docProps/app.xml" Id="Rc3222465903d43d2" /><Relationship Type="http://schemas.openxmlformats.org/officeDocument/2006/relationships/officeDocument" Target="/ppt/presentation.xml" Id="R4afdfc3d94c14f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536f7b1bb4eca"/>
  </p:sldMasterIdLst>
  <p:notesMasterIdLst>
    <p:notesMasterId xmlns:r="http://schemas.openxmlformats.org/officeDocument/2006/relationships" r:id="R54bb819c85324a71"/>
  </p:notesMasterIdLst>
  <p:sldIdLst>
    <p:sldId xmlns:r="http://schemas.openxmlformats.org/officeDocument/2006/relationships" id="256" r:id="R5001ceb5d2bd4e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d8a17af204802" /><Relationship Type="http://schemas.openxmlformats.org/officeDocument/2006/relationships/slideMaster" Target="/ppt/slideMasters/slideMaster1.xml" Id="R4f6536f7b1bb4eca" /><Relationship Type="http://schemas.openxmlformats.org/officeDocument/2006/relationships/notesMaster" Target="/ppt/notesMasters/notesMaster1.xml" Id="R54bb819c85324a71" /><Relationship Type="http://schemas.openxmlformats.org/officeDocument/2006/relationships/presProps" Target="/ppt/presProps.xml" Id="R3479c74ddf96402d" /><Relationship Type="http://schemas.openxmlformats.org/officeDocument/2006/relationships/viewProps" Target="/ppt/viewProps.xml" Id="R26705e97c34640d1" /><Relationship Type="http://schemas.openxmlformats.org/officeDocument/2006/relationships/tableStyles" Target="/ppt/tableStyles.xml" Id="R4075e34bb643450b" /><Relationship Type="http://schemas.openxmlformats.org/officeDocument/2006/relationships/slide" Target="/ppt/slides/slide1.xml" Id="R5001ceb5d2bd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068a06670d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3984d0b6f14912" /><Relationship Type="http://schemas.openxmlformats.org/officeDocument/2006/relationships/notesMaster" Target="/ppt/notesMasters/notesMaster1.xml" Id="R4150cb3b871e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9bb453abd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69ce4798445cc" /><Relationship Type="http://schemas.openxmlformats.org/officeDocument/2006/relationships/slideLayout" Target="/ppt/slideLayouts/slideLayout1.xml" Id="R4e331f8418f5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31f8418f5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4fcaeb4334bec" /><Relationship Type="http://schemas.openxmlformats.org/officeDocument/2006/relationships/image" Target="/ppt/media/image.png" Id="Rb467a5d6e9be4336" /><Relationship Type="http://schemas.openxmlformats.org/officeDocument/2006/relationships/image" Target="/ppt/media/image.svg" Id="Rf4319a72758d4a2c" /><Relationship Type="http://schemas.openxmlformats.org/officeDocument/2006/relationships/notesSlide" Target="/ppt/notesSlides/notesSlide1.xml" Id="R160060e621b744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C6C083F-BCA5-41D3-9E70-8D6C9EA4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1D0990-EF98-4945-B5AF-65370AA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rPr>
              <a:t>TOP ENGINEERED FEATURES DRIVING RISK CLASSIFICATION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7363914-4A27-4406-BE32-61ACD6F8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8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968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Feature importance based on model output - Higher importance % indicates greater impact on prediction</a:t>
            </a:r>
          </a:p>
        </p:txBody>
      </p:sp>
      <p:sp>
        <p:nvSpPr>
          <p:cNvPr id="4" name="table-header-band">
            <a:extLst xmlns:a="http://schemas.openxmlformats.org/drawingml/2006/main">
              <a:ext uri="{FF2B5EF4-FFF2-40B4-BE49-F238E27FC236}">
                <a16:creationId xmlns:a16="http://schemas.microsoft.com/office/drawing/2014/main" id="{DCA14080-354E-42AA-958A-46523832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81050"/>
            <a:ext cx="1184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0">
            <a:solidFill>
              <a:srgbClr val="082D6F"/>
            </a:solidFill>
            <a:prstDash val="solid"/>
          </a:ln>
        </p:spPr>
      </p:sp>
      <p:sp>
        <p:nvSpPr>
          <p:cNvPr id="5" name="header-cell-0">
            <a:extLst xmlns:a="http://schemas.openxmlformats.org/drawingml/2006/main">
              <a:ext uri="{FF2B5EF4-FFF2-40B4-BE49-F238E27FC236}">
                <a16:creationId xmlns:a16="http://schemas.microsoft.com/office/drawing/2014/main" id="{359E3180-DC52-4005-B057-32DB9F4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81050"/>
            <a:ext cx="409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7620">
            <a:solidFill>
              <a:srgbClr val="B7C7DD"/>
            </a:solidFill>
            <a:prstDash val="solid"/>
          </a:ln>
        </p:spPr>
      </p:sp>
      <p:sp>
        <p:nvSpPr>
          <p:cNvPr id="6" name="header-cell-1">
            <a:extLst xmlns:a="http://schemas.openxmlformats.org/drawingml/2006/main">
              <a:ext uri="{FF2B5EF4-FFF2-40B4-BE49-F238E27FC236}">
                <a16:creationId xmlns:a16="http://schemas.microsoft.com/office/drawing/2014/main" id="{93FECFEB-8B09-4249-BC31-D0B8E1D2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810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7620">
            <a:solidFill>
              <a:srgbClr val="B7C7DD"/>
            </a:solidFill>
            <a:prstDash val="solid"/>
          </a:ln>
        </p:spPr>
      </p:sp>
      <p:sp>
        <p:nvSpPr>
          <p:cNvPr id="7" name="header-cell-2">
            <a:extLst xmlns:a="http://schemas.openxmlformats.org/drawingml/2006/main">
              <a:ext uri="{FF2B5EF4-FFF2-40B4-BE49-F238E27FC236}">
                <a16:creationId xmlns:a16="http://schemas.microsoft.com/office/drawing/2014/main" id="{E33670AC-2EEF-42C2-B787-BF5470F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7810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7620">
            <a:solidFill>
              <a:srgbClr val="B7C7DD"/>
            </a:solidFill>
            <a:prstDash val="solid"/>
          </a:ln>
        </p:spPr>
      </p:sp>
      <p:sp>
        <p:nvSpPr>
          <p:cNvPr id="8" name="header-cell-3">
            <a:extLst xmlns:a="http://schemas.openxmlformats.org/drawingml/2006/main">
              <a:ext uri="{FF2B5EF4-FFF2-40B4-BE49-F238E27FC236}">
                <a16:creationId xmlns:a16="http://schemas.microsoft.com/office/drawing/2014/main" id="{B6FB3541-6799-4452-B637-811E754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781050"/>
            <a:ext cx="5133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7620">
            <a:solidFill>
              <a:srgbClr val="B7C7DD"/>
            </a:solidFill>
            <a:prstDash val="solid"/>
          </a:ln>
        </p:spPr>
      </p:sp>
      <p:sp>
        <p:nvSpPr>
          <p:cNvPr id="9" name="header-rank-text">
            <a:extLst xmlns:a="http://schemas.openxmlformats.org/drawingml/2006/main">
              <a:ext uri="{FF2B5EF4-FFF2-40B4-BE49-F238E27FC236}">
                <a16:creationId xmlns:a16="http://schemas.microsoft.com/office/drawing/2014/main" id="{8426D181-1D54-4BB5-BFAB-EB119E99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409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#</a:t>
            </a:r>
          </a:p>
        </p:txBody>
      </p:sp>
      <p:sp>
        <p:nvSpPr>
          <p:cNvPr id="10" name="header-feature-text">
            <a:extLst xmlns:a="http://schemas.openxmlformats.org/drawingml/2006/main">
              <a:ext uri="{FF2B5EF4-FFF2-40B4-BE49-F238E27FC236}">
                <a16:creationId xmlns:a16="http://schemas.microsoft.com/office/drawing/2014/main" id="{65D59E37-1E41-44E7-B6D8-1DD6EFA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66775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FEATURE NAME</a:t>
            </a:r>
          </a:p>
        </p:txBody>
      </p:sp>
      <p:sp>
        <p:nvSpPr>
          <p:cNvPr id="11" name="header-importance-text">
            <a:extLst xmlns:a="http://schemas.openxmlformats.org/drawingml/2006/main">
              <a:ext uri="{FF2B5EF4-FFF2-40B4-BE49-F238E27FC236}">
                <a16:creationId xmlns:a16="http://schemas.microsoft.com/office/drawing/2014/main" id="{8150EE99-2F10-4F0E-A1A3-40943EC1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866775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IMPORTANCE (%)</a:t>
            </a:r>
          </a:p>
        </p:txBody>
      </p:sp>
      <p:sp>
        <p:nvSpPr>
          <p:cNvPr id="12" name="header-definition-text">
            <a:extLst xmlns:a="http://schemas.openxmlformats.org/drawingml/2006/main">
              <a:ext uri="{FF2B5EF4-FFF2-40B4-BE49-F238E27FC236}">
                <a16:creationId xmlns:a16="http://schemas.microsoft.com/office/drawing/2014/main" id="{61B9E111-64E5-4C94-B31E-168567D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66775"/>
            <a:ext cx="5133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DEFINITION</a:t>
            </a:r>
          </a:p>
        </p:txBody>
      </p:sp>
      <p:sp>
        <p:nvSpPr>
          <p:cNvPr id="13" name="row-1">
            <a:extLst xmlns:a="http://schemas.openxmlformats.org/drawingml/2006/main">
              <a:ext uri="{FF2B5EF4-FFF2-40B4-BE49-F238E27FC236}">
                <a16:creationId xmlns:a16="http://schemas.microsoft.com/office/drawing/2014/main" id="{7B60FDE6-DC90-4789-B9FB-E0E5BCE7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66800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4" name="row-1-rank-rule">
            <a:extLst xmlns:a="http://schemas.openxmlformats.org/drawingml/2006/main">
              <a:ext uri="{FF2B5EF4-FFF2-40B4-BE49-F238E27FC236}">
                <a16:creationId xmlns:a16="http://schemas.microsoft.com/office/drawing/2014/main" id="{336C3B04-424C-413A-A390-7B411AE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6680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5" name="row-1-feature-rule">
            <a:extLst xmlns:a="http://schemas.openxmlformats.org/drawingml/2006/main">
              <a:ext uri="{FF2B5EF4-FFF2-40B4-BE49-F238E27FC236}">
                <a16:creationId xmlns:a16="http://schemas.microsoft.com/office/drawing/2014/main" id="{35F09701-59DD-4F41-A556-EF396B0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6680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6" name="row-1-importance-rule">
            <a:extLst xmlns:a="http://schemas.openxmlformats.org/drawingml/2006/main">
              <a:ext uri="{FF2B5EF4-FFF2-40B4-BE49-F238E27FC236}">
                <a16:creationId xmlns:a16="http://schemas.microsoft.com/office/drawing/2014/main" id="{FC36A67B-6CF5-49D2-A558-9AFE1376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06680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7" name="rank-1">
            <a:extLst xmlns:a="http://schemas.openxmlformats.org/drawingml/2006/main">
              <a:ext uri="{FF2B5EF4-FFF2-40B4-BE49-F238E27FC236}">
                <a16:creationId xmlns:a16="http://schemas.microsoft.com/office/drawing/2014/main" id="{242C2947-0A0D-4315-8ED9-7F2CFBE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12395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feature-1">
            <a:extLst xmlns:a="http://schemas.openxmlformats.org/drawingml/2006/main">
              <a:ext uri="{FF2B5EF4-FFF2-40B4-BE49-F238E27FC236}">
                <a16:creationId xmlns:a16="http://schemas.microsoft.com/office/drawing/2014/main" id="{0CC06CAC-4689-4379-A182-5EC58EF7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19188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UWRISK_INWARDSUBMISSION_BROKERNAME</a:t>
            </a:r>
          </a:p>
        </p:txBody>
      </p:sp>
      <p:sp>
        <p:nvSpPr>
          <p:cNvPr id="19" name="pct-1">
            <a:extLst xmlns:a="http://schemas.openxmlformats.org/drawingml/2006/main">
              <a:ext uri="{FF2B5EF4-FFF2-40B4-BE49-F238E27FC236}">
                <a16:creationId xmlns:a16="http://schemas.microsoft.com/office/drawing/2014/main" id="{47CCC49F-78CF-4CDF-A81A-11EA8712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119188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7.85%</a:t>
            </a:r>
          </a:p>
        </p:txBody>
      </p:sp>
      <p:sp>
        <p:nvSpPr>
          <p:cNvPr id="20" name="track-1">
            <a:extLst xmlns:a="http://schemas.openxmlformats.org/drawingml/2006/main">
              <a:ext uri="{FF2B5EF4-FFF2-40B4-BE49-F238E27FC236}">
                <a16:creationId xmlns:a16="http://schemas.microsoft.com/office/drawing/2014/main" id="{F62035DD-B6DD-416B-A92E-29C661F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44905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21" name="bar-1">
            <a:extLst xmlns:a="http://schemas.openxmlformats.org/drawingml/2006/main">
              <a:ext uri="{FF2B5EF4-FFF2-40B4-BE49-F238E27FC236}">
                <a16:creationId xmlns:a16="http://schemas.microsoft.com/office/drawing/2014/main" id="{38F06AB6-71DF-47C7-ACD8-8170871D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144905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22" name="definition-1">
            <a:extLst xmlns:a="http://schemas.openxmlformats.org/drawingml/2006/main">
              <a:ext uri="{FF2B5EF4-FFF2-40B4-BE49-F238E27FC236}">
                <a16:creationId xmlns:a16="http://schemas.microsoft.com/office/drawing/2014/main" id="{B18ACBC8-0E9F-4C02-BF25-25DD1C8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16330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Name of the broker who submitted the insurance risk/submission</a:t>
            </a:r>
          </a:p>
        </p:txBody>
      </p:sp>
      <p:sp>
        <p:nvSpPr>
          <p:cNvPr id="23" name="row-2">
            <a:extLst xmlns:a="http://schemas.openxmlformats.org/drawingml/2006/main">
              <a:ext uri="{FF2B5EF4-FFF2-40B4-BE49-F238E27FC236}">
                <a16:creationId xmlns:a16="http://schemas.microsoft.com/office/drawing/2014/main" id="{886BCF76-7123-414F-9E47-5C3831B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6354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24" name="row-2-rank-rule">
            <a:extLst xmlns:a="http://schemas.openxmlformats.org/drawingml/2006/main">
              <a:ext uri="{FF2B5EF4-FFF2-40B4-BE49-F238E27FC236}">
                <a16:creationId xmlns:a16="http://schemas.microsoft.com/office/drawing/2014/main" id="{68D6A012-02AD-4782-9257-3E9DD2A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0635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5" name="row-2-feature-rule">
            <a:extLst xmlns:a="http://schemas.openxmlformats.org/drawingml/2006/main">
              <a:ext uri="{FF2B5EF4-FFF2-40B4-BE49-F238E27FC236}">
                <a16:creationId xmlns:a16="http://schemas.microsoft.com/office/drawing/2014/main" id="{5A4A4709-0B78-42B5-A345-3DF40EA8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30635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6" name="row-2-importance-rule">
            <a:extLst xmlns:a="http://schemas.openxmlformats.org/drawingml/2006/main">
              <a:ext uri="{FF2B5EF4-FFF2-40B4-BE49-F238E27FC236}">
                <a16:creationId xmlns:a16="http://schemas.microsoft.com/office/drawing/2014/main" id="{6A10191D-B08F-427D-90B7-364BD08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0635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7" name="rank-2">
            <a:extLst xmlns:a="http://schemas.openxmlformats.org/drawingml/2006/main">
              <a:ext uri="{FF2B5EF4-FFF2-40B4-BE49-F238E27FC236}">
                <a16:creationId xmlns:a16="http://schemas.microsoft.com/office/drawing/2014/main" id="{3AA162F8-B2F0-4215-B661-4C9258B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63504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feature-2">
            <a:extLst xmlns:a="http://schemas.openxmlformats.org/drawingml/2006/main">
              <a:ext uri="{FF2B5EF4-FFF2-40B4-BE49-F238E27FC236}">
                <a16:creationId xmlns:a16="http://schemas.microsoft.com/office/drawing/2014/main" id="{802CFF1D-ABD7-43CA-953A-F3A2654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8741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OED_UWRISK_PREDOMINANTEXPOSUREREGION</a:t>
            </a:r>
          </a:p>
        </p:txBody>
      </p:sp>
      <p:sp>
        <p:nvSpPr>
          <p:cNvPr id="29" name="pct-2">
            <a:extLst xmlns:a="http://schemas.openxmlformats.org/drawingml/2006/main">
              <a:ext uri="{FF2B5EF4-FFF2-40B4-BE49-F238E27FC236}">
                <a16:creationId xmlns:a16="http://schemas.microsoft.com/office/drawing/2014/main" id="{B2D671F0-1305-4E49-BDAD-4FD2578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358741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6.24%</a:t>
            </a:r>
          </a:p>
        </p:txBody>
      </p:sp>
      <p:sp>
        <p:nvSpPr>
          <p:cNvPr id="30" name="track-2">
            <a:extLst xmlns:a="http://schemas.openxmlformats.org/drawingml/2006/main">
              <a:ext uri="{FF2B5EF4-FFF2-40B4-BE49-F238E27FC236}">
                <a16:creationId xmlns:a16="http://schemas.microsoft.com/office/drawing/2014/main" id="{097D078F-E351-4732-8B66-BCB281DF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84459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31" name="bar-2">
            <a:extLst xmlns:a="http://schemas.openxmlformats.org/drawingml/2006/main">
              <a:ext uri="{FF2B5EF4-FFF2-40B4-BE49-F238E27FC236}">
                <a16:creationId xmlns:a16="http://schemas.microsoft.com/office/drawing/2014/main" id="{51029CD2-86D1-4B26-9A1D-77993A3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84459"/>
            <a:ext cx="1590008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32" name="definition-2">
            <a:extLst xmlns:a="http://schemas.openxmlformats.org/drawingml/2006/main">
              <a:ext uri="{FF2B5EF4-FFF2-40B4-BE49-F238E27FC236}">
                <a16:creationId xmlns:a16="http://schemas.microsoft.com/office/drawing/2014/main" id="{5F06C181-C0C5-42FF-BFA9-E313116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55884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Primary geographic region where the majority of insured exposure is located</a:t>
            </a:r>
          </a:p>
        </p:txBody>
      </p:sp>
      <p:sp>
        <p:nvSpPr>
          <p:cNvPr id="33" name="row-3">
            <a:extLst xmlns:a="http://schemas.openxmlformats.org/drawingml/2006/main">
              <a:ext uri="{FF2B5EF4-FFF2-40B4-BE49-F238E27FC236}">
                <a16:creationId xmlns:a16="http://schemas.microsoft.com/office/drawing/2014/main" id="{077E4BB5-2BA4-4D20-8569-F79FB73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45908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34" name="row-3-rank-rule">
            <a:extLst xmlns:a="http://schemas.openxmlformats.org/drawingml/2006/main">
              <a:ext uri="{FF2B5EF4-FFF2-40B4-BE49-F238E27FC236}">
                <a16:creationId xmlns:a16="http://schemas.microsoft.com/office/drawing/2014/main" id="{99D72167-522B-4F96-A189-EC242A9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4590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35" name="row-3-feature-rule">
            <a:extLst xmlns:a="http://schemas.openxmlformats.org/drawingml/2006/main">
              <a:ext uri="{FF2B5EF4-FFF2-40B4-BE49-F238E27FC236}">
                <a16:creationId xmlns:a16="http://schemas.microsoft.com/office/drawing/2014/main" id="{5AFECDEF-C0DD-4B63-A650-96EBD33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54590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36" name="row-3-importance-rule">
            <a:extLst xmlns:a="http://schemas.openxmlformats.org/drawingml/2006/main">
              <a:ext uri="{FF2B5EF4-FFF2-40B4-BE49-F238E27FC236}">
                <a16:creationId xmlns:a16="http://schemas.microsoft.com/office/drawing/2014/main" id="{16BFA4A7-EA61-4495-A11D-1643B298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4590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37" name="rank-3">
            <a:extLst xmlns:a="http://schemas.openxmlformats.org/drawingml/2006/main">
              <a:ext uri="{FF2B5EF4-FFF2-40B4-BE49-F238E27FC236}">
                <a16:creationId xmlns:a16="http://schemas.microsoft.com/office/drawing/2014/main" id="{D6F7753F-BB47-48EB-AC42-EEA6A37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03058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feature-3">
            <a:extLst xmlns:a="http://schemas.openxmlformats.org/drawingml/2006/main">
              <a:ext uri="{FF2B5EF4-FFF2-40B4-BE49-F238E27FC236}">
                <a16:creationId xmlns:a16="http://schemas.microsoft.com/office/drawing/2014/main" id="{1E443E4A-3D95-4155-A2D6-23F7D0B5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829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UWRISK_INWARDRISKSECTION_TARGETMARKET</a:t>
            </a:r>
          </a:p>
        </p:txBody>
      </p:sp>
      <p:sp>
        <p:nvSpPr>
          <p:cNvPr id="39" name="pct-3">
            <a:extLst xmlns:a="http://schemas.openxmlformats.org/drawingml/2006/main">
              <a:ext uri="{FF2B5EF4-FFF2-40B4-BE49-F238E27FC236}">
                <a16:creationId xmlns:a16="http://schemas.microsoft.com/office/drawing/2014/main" id="{DAE5044F-BB26-4FE2-9EA6-F1544B4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98295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5.81%</a:t>
            </a:r>
          </a:p>
        </p:txBody>
      </p:sp>
      <p:sp>
        <p:nvSpPr>
          <p:cNvPr id="40" name="track-3">
            <a:extLst xmlns:a="http://schemas.openxmlformats.org/drawingml/2006/main">
              <a:ext uri="{FF2B5EF4-FFF2-40B4-BE49-F238E27FC236}">
                <a16:creationId xmlns:a16="http://schemas.microsoft.com/office/drawing/2014/main" id="{2D1EE3E4-935B-48C1-B3B0-1A413A4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24013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41" name="bar-3">
            <a:extLst xmlns:a="http://schemas.openxmlformats.org/drawingml/2006/main">
              <a:ext uri="{FF2B5EF4-FFF2-40B4-BE49-F238E27FC236}">
                <a16:creationId xmlns:a16="http://schemas.microsoft.com/office/drawing/2014/main" id="{F180E21E-57FD-4104-8CF1-FAC89D71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24013"/>
            <a:ext cx="148044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42" name="definition-3">
            <a:extLst xmlns:a="http://schemas.openxmlformats.org/drawingml/2006/main">
              <a:ext uri="{FF2B5EF4-FFF2-40B4-BE49-F238E27FC236}">
                <a16:creationId xmlns:a16="http://schemas.microsoft.com/office/drawing/2014/main" id="{AF55754A-A535-4086-A7F5-578E6C4B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95438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Target market segment for the risk section</a:t>
            </a:r>
          </a:p>
        </p:txBody>
      </p:sp>
      <p:sp>
        <p:nvSpPr>
          <p:cNvPr id="43" name="row-4">
            <a:extLst xmlns:a="http://schemas.openxmlformats.org/drawingml/2006/main">
              <a:ext uri="{FF2B5EF4-FFF2-40B4-BE49-F238E27FC236}">
                <a16:creationId xmlns:a16="http://schemas.microsoft.com/office/drawing/2014/main" id="{21818060-21A8-4DF3-AD9C-EA7378FC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85461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44" name="row-4-rank-rule">
            <a:extLst xmlns:a="http://schemas.openxmlformats.org/drawingml/2006/main">
              <a:ext uri="{FF2B5EF4-FFF2-40B4-BE49-F238E27FC236}">
                <a16:creationId xmlns:a16="http://schemas.microsoft.com/office/drawing/2014/main" id="{E6D0311C-02C1-4BEE-85B7-D5A6D7F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8546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45" name="row-4-feature-rule">
            <a:extLst xmlns:a="http://schemas.openxmlformats.org/drawingml/2006/main">
              <a:ext uri="{FF2B5EF4-FFF2-40B4-BE49-F238E27FC236}">
                <a16:creationId xmlns:a16="http://schemas.microsoft.com/office/drawing/2014/main" id="{C9C6B33C-C264-4FED-8D03-7B4185E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8546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46" name="row-4-importance-rule">
            <a:extLst xmlns:a="http://schemas.openxmlformats.org/drawingml/2006/main">
              <a:ext uri="{FF2B5EF4-FFF2-40B4-BE49-F238E27FC236}">
                <a16:creationId xmlns:a16="http://schemas.microsoft.com/office/drawing/2014/main" id="{AFF38634-BBC6-485D-9621-F441F635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78546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47" name="rank-4">
            <a:extLst xmlns:a="http://schemas.openxmlformats.org/drawingml/2006/main">
              <a:ext uri="{FF2B5EF4-FFF2-40B4-BE49-F238E27FC236}">
                <a16:creationId xmlns:a16="http://schemas.microsoft.com/office/drawing/2014/main" id="{DE605831-C4A0-482D-AFB5-BF7CA1D5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2611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feature-4">
            <a:extLst xmlns:a="http://schemas.openxmlformats.org/drawingml/2006/main">
              <a:ext uri="{FF2B5EF4-FFF2-40B4-BE49-F238E27FC236}">
                <a16:creationId xmlns:a16="http://schemas.microsoft.com/office/drawing/2014/main" id="{FC58BB25-5733-4BA4-9AF7-1A622AEC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7849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OED_SUBMISSIONCONCENTRATIONRATIO</a:t>
            </a:r>
          </a:p>
        </p:txBody>
      </p:sp>
      <p:sp>
        <p:nvSpPr>
          <p:cNvPr id="49" name="pct-4">
            <a:extLst xmlns:a="http://schemas.openxmlformats.org/drawingml/2006/main">
              <a:ext uri="{FF2B5EF4-FFF2-40B4-BE49-F238E27FC236}">
                <a16:creationId xmlns:a16="http://schemas.microsoft.com/office/drawing/2014/main" id="{E61F0751-8FD9-4A8C-A86E-DF8791F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837849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5.78%</a:t>
            </a:r>
          </a:p>
        </p:txBody>
      </p:sp>
      <p:sp>
        <p:nvSpPr>
          <p:cNvPr id="50" name="track-4">
            <a:extLst xmlns:a="http://schemas.openxmlformats.org/drawingml/2006/main">
              <a:ext uri="{FF2B5EF4-FFF2-40B4-BE49-F238E27FC236}">
                <a16:creationId xmlns:a16="http://schemas.microsoft.com/office/drawing/2014/main" id="{DD437F71-0162-47A8-BD52-92C7068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63566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51" name="bar-4">
            <a:extLst xmlns:a="http://schemas.openxmlformats.org/drawingml/2006/main">
              <a:ext uri="{FF2B5EF4-FFF2-40B4-BE49-F238E27FC236}">
                <a16:creationId xmlns:a16="http://schemas.microsoft.com/office/drawing/2014/main" id="{399EB79E-6E0F-4C14-92CF-412835E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63566"/>
            <a:ext cx="1472796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52" name="definition-4">
            <a:extLst xmlns:a="http://schemas.openxmlformats.org/drawingml/2006/main">
              <a:ext uri="{FF2B5EF4-FFF2-40B4-BE49-F238E27FC236}">
                <a16:creationId xmlns:a16="http://schemas.microsoft.com/office/drawing/2014/main" id="{5E920DA5-A911-4061-A4AC-6ED247AE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34991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Ratio measuring geographic concentration of exposure within the submission</a:t>
            </a:r>
          </a:p>
        </p:txBody>
      </p:sp>
      <p:sp>
        <p:nvSpPr>
          <p:cNvPr id="53" name="row-5">
            <a:extLst xmlns:a="http://schemas.openxmlformats.org/drawingml/2006/main">
              <a:ext uri="{FF2B5EF4-FFF2-40B4-BE49-F238E27FC236}">
                <a16:creationId xmlns:a16="http://schemas.microsoft.com/office/drawing/2014/main" id="{77F124E6-FE79-4B91-8CE7-9B5651B8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25015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54" name="row-5-rank-rule">
            <a:extLst xmlns:a="http://schemas.openxmlformats.org/drawingml/2006/main">
              <a:ext uri="{FF2B5EF4-FFF2-40B4-BE49-F238E27FC236}">
                <a16:creationId xmlns:a16="http://schemas.microsoft.com/office/drawing/2014/main" id="{905D97F3-C3F4-4C0F-863B-AE39590B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501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55" name="row-5-feature-rule">
            <a:extLst xmlns:a="http://schemas.openxmlformats.org/drawingml/2006/main">
              <a:ext uri="{FF2B5EF4-FFF2-40B4-BE49-F238E27FC236}">
                <a16:creationId xmlns:a16="http://schemas.microsoft.com/office/drawing/2014/main" id="{8BB180B5-5F61-4E67-8937-65AA0DE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2501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56" name="row-5-importance-rule">
            <a:extLst xmlns:a="http://schemas.openxmlformats.org/drawingml/2006/main">
              <a:ext uri="{FF2B5EF4-FFF2-40B4-BE49-F238E27FC236}">
                <a16:creationId xmlns:a16="http://schemas.microsoft.com/office/drawing/2014/main" id="{4E700250-0FFD-434A-82DE-D1E5EF8A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2501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57" name="rank-5">
            <a:extLst xmlns:a="http://schemas.openxmlformats.org/drawingml/2006/main">
              <a:ext uri="{FF2B5EF4-FFF2-40B4-BE49-F238E27FC236}">
                <a16:creationId xmlns:a16="http://schemas.microsoft.com/office/drawing/2014/main" id="{9515AB67-7763-4F00-8F20-656CE6A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82165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8" name="feature-5">
            <a:extLst xmlns:a="http://schemas.openxmlformats.org/drawingml/2006/main">
              <a:ext uri="{FF2B5EF4-FFF2-40B4-BE49-F238E27FC236}">
                <a16:creationId xmlns:a16="http://schemas.microsoft.com/office/drawing/2014/main" id="{3641B392-9FB8-43FD-9F4C-BF3F8EE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7403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OED_DOMINANT_ISO_CONSTRUCTION_CODE</a:t>
            </a:r>
          </a:p>
        </p:txBody>
      </p:sp>
      <p:sp>
        <p:nvSpPr>
          <p:cNvPr id="59" name="pct-5">
            <a:extLst xmlns:a="http://schemas.openxmlformats.org/drawingml/2006/main">
              <a:ext uri="{FF2B5EF4-FFF2-40B4-BE49-F238E27FC236}">
                <a16:creationId xmlns:a16="http://schemas.microsoft.com/office/drawing/2014/main" id="{0E3C7592-8790-408B-A9A9-734FE4B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77403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5.66%</a:t>
            </a:r>
          </a:p>
        </p:txBody>
      </p:sp>
      <p:sp>
        <p:nvSpPr>
          <p:cNvPr id="60" name="track-5">
            <a:extLst xmlns:a="http://schemas.openxmlformats.org/drawingml/2006/main">
              <a:ext uri="{FF2B5EF4-FFF2-40B4-BE49-F238E27FC236}">
                <a16:creationId xmlns:a16="http://schemas.microsoft.com/office/drawing/2014/main" id="{85723963-B23B-47AD-BCE1-83E224C7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3120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61" name="bar-5">
            <a:extLst xmlns:a="http://schemas.openxmlformats.org/drawingml/2006/main">
              <a:ext uri="{FF2B5EF4-FFF2-40B4-BE49-F238E27FC236}">
                <a16:creationId xmlns:a16="http://schemas.microsoft.com/office/drawing/2014/main" id="{0D9BE4C1-670A-461A-A144-F4ADE89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3120"/>
            <a:ext cx="1442218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62" name="definition-5">
            <a:extLst xmlns:a="http://schemas.openxmlformats.org/drawingml/2006/main">
              <a:ext uri="{FF2B5EF4-FFF2-40B4-BE49-F238E27FC236}">
                <a16:creationId xmlns:a16="http://schemas.microsoft.com/office/drawing/2014/main" id="{E6889663-3514-416E-9844-4860C2D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4545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Dominant ISO construction code indicating primary building material/type</a:t>
            </a:r>
          </a:p>
        </p:txBody>
      </p:sp>
      <p:sp>
        <p:nvSpPr>
          <p:cNvPr id="63" name="row-6">
            <a:extLst xmlns:a="http://schemas.openxmlformats.org/drawingml/2006/main">
              <a:ext uri="{FF2B5EF4-FFF2-40B4-BE49-F238E27FC236}">
                <a16:creationId xmlns:a16="http://schemas.microsoft.com/office/drawing/2014/main" id="{1BA9601E-6822-4B1C-BAB7-DAD570E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4569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64" name="row-6-rank-rule">
            <a:extLst xmlns:a="http://schemas.openxmlformats.org/drawingml/2006/main">
              <a:ext uri="{FF2B5EF4-FFF2-40B4-BE49-F238E27FC236}">
                <a16:creationId xmlns:a16="http://schemas.microsoft.com/office/drawing/2014/main" id="{343597E9-F209-4DF1-A9B2-EA3A465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6456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65" name="row-6-feature-rule">
            <a:extLst xmlns:a="http://schemas.openxmlformats.org/drawingml/2006/main">
              <a:ext uri="{FF2B5EF4-FFF2-40B4-BE49-F238E27FC236}">
                <a16:creationId xmlns:a16="http://schemas.microsoft.com/office/drawing/2014/main" id="{6AD14366-A84A-4DD2-BFEB-DC5EFC38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6456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66" name="row-6-importance-rule">
            <a:extLst xmlns:a="http://schemas.openxmlformats.org/drawingml/2006/main">
              <a:ext uri="{FF2B5EF4-FFF2-40B4-BE49-F238E27FC236}">
                <a16:creationId xmlns:a16="http://schemas.microsoft.com/office/drawing/2014/main" id="{FD0899CC-2D1C-4C7C-B47C-5599F1D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56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67" name="rank-6">
            <a:extLst xmlns:a="http://schemas.openxmlformats.org/drawingml/2006/main">
              <a:ext uri="{FF2B5EF4-FFF2-40B4-BE49-F238E27FC236}">
                <a16:creationId xmlns:a16="http://schemas.microsoft.com/office/drawing/2014/main" id="{F104EDAF-6D46-4187-81A3-3D33733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21719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8" name="feature-6">
            <a:extLst xmlns:a="http://schemas.openxmlformats.org/drawingml/2006/main">
              <a:ext uri="{FF2B5EF4-FFF2-40B4-BE49-F238E27FC236}">
                <a16:creationId xmlns:a16="http://schemas.microsoft.com/office/drawing/2014/main" id="{810FC61A-E308-4C1B-8316-FCE4FF7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6956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OED_DOMINANT_OCCUPANCY_CLASS</a:t>
            </a:r>
          </a:p>
        </p:txBody>
      </p:sp>
      <p:sp>
        <p:nvSpPr>
          <p:cNvPr id="69" name="pct-6">
            <a:extLst xmlns:a="http://schemas.openxmlformats.org/drawingml/2006/main">
              <a:ext uri="{FF2B5EF4-FFF2-40B4-BE49-F238E27FC236}">
                <a16:creationId xmlns:a16="http://schemas.microsoft.com/office/drawing/2014/main" id="{DF10B32B-405C-4AB5-810F-372DC77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16956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5.51%</a:t>
            </a:r>
          </a:p>
        </p:txBody>
      </p:sp>
      <p:sp>
        <p:nvSpPr>
          <p:cNvPr id="70" name="track-6">
            <a:extLst xmlns:a="http://schemas.openxmlformats.org/drawingml/2006/main">
              <a:ext uri="{FF2B5EF4-FFF2-40B4-BE49-F238E27FC236}">
                <a16:creationId xmlns:a16="http://schemas.microsoft.com/office/drawing/2014/main" id="{6E256AF0-07BA-4E57-AB35-209A178D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2674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71" name="bar-6">
            <a:extLst xmlns:a="http://schemas.openxmlformats.org/drawingml/2006/main">
              <a:ext uri="{FF2B5EF4-FFF2-40B4-BE49-F238E27FC236}">
                <a16:creationId xmlns:a16="http://schemas.microsoft.com/office/drawing/2014/main" id="{2CD59D86-0F79-4A32-8658-823D596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2674"/>
            <a:ext cx="1403997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72" name="definition-6">
            <a:extLst xmlns:a="http://schemas.openxmlformats.org/drawingml/2006/main">
              <a:ext uri="{FF2B5EF4-FFF2-40B4-BE49-F238E27FC236}">
                <a16:creationId xmlns:a16="http://schemas.microsoft.com/office/drawing/2014/main" id="{DBBFE68D-3C00-403A-ADFE-7B1AE8A9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14099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Primary occupancy classification of the insured property (e.g., residential, commercial, industrial)</a:t>
            </a:r>
          </a:p>
        </p:txBody>
      </p:sp>
      <p:sp>
        <p:nvSpPr>
          <p:cNvPr id="73" name="row-7">
            <a:extLst xmlns:a="http://schemas.openxmlformats.org/drawingml/2006/main">
              <a:ext uri="{FF2B5EF4-FFF2-40B4-BE49-F238E27FC236}">
                <a16:creationId xmlns:a16="http://schemas.microsoft.com/office/drawing/2014/main" id="{D8237821-076D-4798-A7C0-6EBB88E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04123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74" name="row-7-rank-rule">
            <a:extLst xmlns:a="http://schemas.openxmlformats.org/drawingml/2006/main">
              <a:ext uri="{FF2B5EF4-FFF2-40B4-BE49-F238E27FC236}">
                <a16:creationId xmlns:a16="http://schemas.microsoft.com/office/drawing/2014/main" id="{83865995-8AD3-40B3-AFFA-84230D4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0412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75" name="row-7-feature-rule">
            <a:extLst xmlns:a="http://schemas.openxmlformats.org/drawingml/2006/main">
              <a:ext uri="{FF2B5EF4-FFF2-40B4-BE49-F238E27FC236}">
                <a16:creationId xmlns:a16="http://schemas.microsoft.com/office/drawing/2014/main" id="{DF108855-79A9-4E2F-8C99-7A929F7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0412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76" name="row-7-importance-rule">
            <a:extLst xmlns:a="http://schemas.openxmlformats.org/drawingml/2006/main">
              <a:ext uri="{FF2B5EF4-FFF2-40B4-BE49-F238E27FC236}">
                <a16:creationId xmlns:a16="http://schemas.microsoft.com/office/drawing/2014/main" id="{2D77D99E-CAF8-466A-8F2E-E02AE797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0412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77" name="rank-7">
            <a:extLst xmlns:a="http://schemas.openxmlformats.org/drawingml/2006/main">
              <a:ext uri="{FF2B5EF4-FFF2-40B4-BE49-F238E27FC236}">
                <a16:creationId xmlns:a16="http://schemas.microsoft.com/office/drawing/2014/main" id="{F7F27F05-9064-45DF-B5BE-B02A51DD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61273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8" name="feature-7">
            <a:extLst xmlns:a="http://schemas.openxmlformats.org/drawingml/2006/main">
              <a:ext uri="{FF2B5EF4-FFF2-40B4-BE49-F238E27FC236}">
                <a16:creationId xmlns:a16="http://schemas.microsoft.com/office/drawing/2014/main" id="{FD6DC4AE-21F5-41FE-93D8-AB23414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651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TOTALTIV_BAND</a:t>
            </a:r>
          </a:p>
        </p:txBody>
      </p:sp>
      <p:sp>
        <p:nvSpPr>
          <p:cNvPr id="79" name="pct-7">
            <a:extLst xmlns:a="http://schemas.openxmlformats.org/drawingml/2006/main">
              <a:ext uri="{FF2B5EF4-FFF2-40B4-BE49-F238E27FC236}">
                <a16:creationId xmlns:a16="http://schemas.microsoft.com/office/drawing/2014/main" id="{9DE23CFD-8FDB-47B3-819B-185CC0E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5651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5.42%</a:t>
            </a:r>
          </a:p>
        </p:txBody>
      </p:sp>
      <p:sp>
        <p:nvSpPr>
          <p:cNvPr id="80" name="track-7">
            <a:extLst xmlns:a="http://schemas.openxmlformats.org/drawingml/2006/main">
              <a:ext uri="{FF2B5EF4-FFF2-40B4-BE49-F238E27FC236}">
                <a16:creationId xmlns:a16="http://schemas.microsoft.com/office/drawing/2014/main" id="{2F86EF84-4D09-4E8A-A155-1AB5B1A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82227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81" name="bar-7">
            <a:extLst xmlns:a="http://schemas.openxmlformats.org/drawingml/2006/main">
              <a:ext uri="{FF2B5EF4-FFF2-40B4-BE49-F238E27FC236}">
                <a16:creationId xmlns:a16="http://schemas.microsoft.com/office/drawing/2014/main" id="{106993FC-86D4-4692-86D4-837C7F0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82227"/>
            <a:ext cx="1381064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82" name="definition-7">
            <a:extLst xmlns:a="http://schemas.openxmlformats.org/drawingml/2006/main">
              <a:ext uri="{FF2B5EF4-FFF2-40B4-BE49-F238E27FC236}">
                <a16:creationId xmlns:a16="http://schemas.microsoft.com/office/drawing/2014/main" id="{9C1D08EB-F612-4F26-A4F4-A0C08265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3652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Banded range of Total Insured Value (TIV) for the submission</a:t>
            </a:r>
          </a:p>
        </p:txBody>
      </p:sp>
      <p:sp>
        <p:nvSpPr>
          <p:cNvPr id="83" name="row-8">
            <a:extLst xmlns:a="http://schemas.openxmlformats.org/drawingml/2006/main">
              <a:ext uri="{FF2B5EF4-FFF2-40B4-BE49-F238E27FC236}">
                <a16:creationId xmlns:a16="http://schemas.microsoft.com/office/drawing/2014/main" id="{C29F5336-8713-44FD-B899-97E381B7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43676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84" name="row-8-rank-rule">
            <a:extLst xmlns:a="http://schemas.openxmlformats.org/drawingml/2006/main">
              <a:ext uri="{FF2B5EF4-FFF2-40B4-BE49-F238E27FC236}">
                <a16:creationId xmlns:a16="http://schemas.microsoft.com/office/drawing/2014/main" id="{10DC307B-B376-448F-BD1C-E0BBF7C1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4367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85" name="row-8-feature-rule">
            <a:extLst xmlns:a="http://schemas.openxmlformats.org/drawingml/2006/main">
              <a:ext uri="{FF2B5EF4-FFF2-40B4-BE49-F238E27FC236}">
                <a16:creationId xmlns:a16="http://schemas.microsoft.com/office/drawing/2014/main" id="{60A92174-E789-4F88-A746-5380EFFC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4367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86" name="row-8-importance-rule">
            <a:extLst xmlns:a="http://schemas.openxmlformats.org/drawingml/2006/main">
              <a:ext uri="{FF2B5EF4-FFF2-40B4-BE49-F238E27FC236}">
                <a16:creationId xmlns:a16="http://schemas.microsoft.com/office/drawing/2014/main" id="{15407423-5259-4128-9196-97227EBD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67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87" name="rank-8">
            <a:extLst xmlns:a="http://schemas.openxmlformats.org/drawingml/2006/main">
              <a:ext uri="{FF2B5EF4-FFF2-40B4-BE49-F238E27FC236}">
                <a16:creationId xmlns:a16="http://schemas.microsoft.com/office/drawing/2014/main" id="{4CA76544-83F9-41B3-8DD4-9534DC1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00826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8" name="feature-8">
            <a:extLst xmlns:a="http://schemas.openxmlformats.org/drawingml/2006/main">
              <a:ext uri="{FF2B5EF4-FFF2-40B4-BE49-F238E27FC236}">
                <a16:creationId xmlns:a16="http://schemas.microsoft.com/office/drawing/2014/main" id="{71EAFD61-4486-403E-8E9D-951260D0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6064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BUILDING_AGE_RISK_SCORE</a:t>
            </a:r>
          </a:p>
        </p:txBody>
      </p:sp>
      <p:sp>
        <p:nvSpPr>
          <p:cNvPr id="89" name="pct-8">
            <a:extLst xmlns:a="http://schemas.openxmlformats.org/drawingml/2006/main">
              <a:ext uri="{FF2B5EF4-FFF2-40B4-BE49-F238E27FC236}">
                <a16:creationId xmlns:a16="http://schemas.microsoft.com/office/drawing/2014/main" id="{22710233-F3C3-4BEF-82F0-64CA1C38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96064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5.24%</a:t>
            </a:r>
          </a:p>
        </p:txBody>
      </p:sp>
      <p:sp>
        <p:nvSpPr>
          <p:cNvPr id="90" name="track-8">
            <a:extLst xmlns:a="http://schemas.openxmlformats.org/drawingml/2006/main">
              <a:ext uri="{FF2B5EF4-FFF2-40B4-BE49-F238E27FC236}">
                <a16:creationId xmlns:a16="http://schemas.microsoft.com/office/drawing/2014/main" id="{9D62FA04-0919-4CDC-892A-193EE78A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21781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91" name="bar-8">
            <a:extLst xmlns:a="http://schemas.openxmlformats.org/drawingml/2006/main">
              <a:ext uri="{FF2B5EF4-FFF2-40B4-BE49-F238E27FC236}">
                <a16:creationId xmlns:a16="http://schemas.microsoft.com/office/drawing/2014/main" id="{8D71CD8E-6E10-414A-96D7-3CED34E3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21781"/>
            <a:ext cx="1335199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92" name="definition-8">
            <a:extLst xmlns:a="http://schemas.openxmlformats.org/drawingml/2006/main">
              <a:ext uri="{FF2B5EF4-FFF2-40B4-BE49-F238E27FC236}">
                <a16:creationId xmlns:a16="http://schemas.microsoft.com/office/drawing/2014/main" id="{9839C8FD-6B33-4CB4-9C0E-155FDB4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93206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Engineered feature: weighted score combining pre-1975 (weight=3) and post-2000 (weight=1) building age exposure</a:t>
            </a:r>
          </a:p>
        </p:txBody>
      </p:sp>
      <p:sp>
        <p:nvSpPr>
          <p:cNvPr id="93" name="row-9">
            <a:extLst xmlns:a="http://schemas.openxmlformats.org/drawingml/2006/main">
              <a:ext uri="{FF2B5EF4-FFF2-40B4-BE49-F238E27FC236}">
                <a16:creationId xmlns:a16="http://schemas.microsoft.com/office/drawing/2014/main" id="{87818DFF-D990-40D6-AE73-C024C27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83230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94" name="row-9-rank-rule">
            <a:extLst xmlns:a="http://schemas.openxmlformats.org/drawingml/2006/main">
              <a:ext uri="{FF2B5EF4-FFF2-40B4-BE49-F238E27FC236}">
                <a16:creationId xmlns:a16="http://schemas.microsoft.com/office/drawing/2014/main" id="{D63A7D2F-98B4-4D74-8BBD-442F9BC0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8323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95" name="row-9-feature-rule">
            <a:extLst xmlns:a="http://schemas.openxmlformats.org/drawingml/2006/main">
              <a:ext uri="{FF2B5EF4-FFF2-40B4-BE49-F238E27FC236}">
                <a16:creationId xmlns:a16="http://schemas.microsoft.com/office/drawing/2014/main" id="{A95461D2-A903-44AF-B0B3-6D2D7CA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8323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96" name="row-9-importance-rule">
            <a:extLst xmlns:a="http://schemas.openxmlformats.org/drawingml/2006/main">
              <a:ext uri="{FF2B5EF4-FFF2-40B4-BE49-F238E27FC236}">
                <a16:creationId xmlns:a16="http://schemas.microsoft.com/office/drawing/2014/main" id="{64D04132-2D0C-40EC-B30C-3CBB5CD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8323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97" name="rank-9">
            <a:extLst xmlns:a="http://schemas.openxmlformats.org/drawingml/2006/main">
              <a:ext uri="{FF2B5EF4-FFF2-40B4-BE49-F238E27FC236}">
                <a16:creationId xmlns:a16="http://schemas.microsoft.com/office/drawing/2014/main" id="{6E756EC3-5178-44C0-8C4C-91C5414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4038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8" name="feature-9">
            <a:extLst xmlns:a="http://schemas.openxmlformats.org/drawingml/2006/main">
              <a:ext uri="{FF2B5EF4-FFF2-40B4-BE49-F238E27FC236}">
                <a16:creationId xmlns:a16="http://schemas.microsoft.com/office/drawing/2014/main" id="{6C8611CC-F950-4074-9CD4-BBED1A0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5618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PORTFOLIO_BURNING_COST_LAST5YEARS_BANDS</a:t>
            </a:r>
          </a:p>
        </p:txBody>
      </p:sp>
      <p:sp>
        <p:nvSpPr>
          <p:cNvPr id="99" name="pct-9">
            <a:extLst xmlns:a="http://schemas.openxmlformats.org/drawingml/2006/main">
              <a:ext uri="{FF2B5EF4-FFF2-40B4-BE49-F238E27FC236}">
                <a16:creationId xmlns:a16="http://schemas.microsoft.com/office/drawing/2014/main" id="{AA48696D-578D-4B34-AEC0-4FF4F20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35618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5.20%</a:t>
            </a:r>
          </a:p>
        </p:txBody>
      </p:sp>
      <p:sp>
        <p:nvSpPr>
          <p:cNvPr id="100" name="track-9">
            <a:extLst xmlns:a="http://schemas.openxmlformats.org/drawingml/2006/main">
              <a:ext uri="{FF2B5EF4-FFF2-40B4-BE49-F238E27FC236}">
                <a16:creationId xmlns:a16="http://schemas.microsoft.com/office/drawing/2014/main" id="{2B991EB5-AD20-4646-A0E2-6F581D6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1335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01" name="bar-9">
            <a:extLst xmlns:a="http://schemas.openxmlformats.org/drawingml/2006/main">
              <a:ext uri="{FF2B5EF4-FFF2-40B4-BE49-F238E27FC236}">
                <a16:creationId xmlns:a16="http://schemas.microsoft.com/office/drawing/2014/main" id="{B190E584-94BE-4E63-BFA0-C5D1D00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1335"/>
            <a:ext cx="1325006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02" name="definition-9">
            <a:extLst xmlns:a="http://schemas.openxmlformats.org/drawingml/2006/main">
              <a:ext uri="{FF2B5EF4-FFF2-40B4-BE49-F238E27FC236}">
                <a16:creationId xmlns:a16="http://schemas.microsoft.com/office/drawing/2014/main" id="{752D8F50-DEC3-489D-9E0E-59F05E10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32760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Banded historical loss ratio (burning cost) over the last 5 years at portfolio level</a:t>
            </a:r>
          </a:p>
        </p:txBody>
      </p:sp>
      <p:sp>
        <p:nvSpPr>
          <p:cNvPr id="103" name="row-10">
            <a:extLst xmlns:a="http://schemas.openxmlformats.org/drawingml/2006/main">
              <a:ext uri="{FF2B5EF4-FFF2-40B4-BE49-F238E27FC236}">
                <a16:creationId xmlns:a16="http://schemas.microsoft.com/office/drawing/2014/main" id="{93D91F98-BEF4-414C-8D72-7A1BB95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222784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04" name="row-10-rank-rule">
            <a:extLst xmlns:a="http://schemas.openxmlformats.org/drawingml/2006/main">
              <a:ext uri="{FF2B5EF4-FFF2-40B4-BE49-F238E27FC236}">
                <a16:creationId xmlns:a16="http://schemas.microsoft.com/office/drawing/2014/main" id="{5A8C851D-3598-4B12-A154-330623D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2278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05" name="row-10-feature-rule">
            <a:extLst xmlns:a="http://schemas.openxmlformats.org/drawingml/2006/main">
              <a:ext uri="{FF2B5EF4-FFF2-40B4-BE49-F238E27FC236}">
                <a16:creationId xmlns:a16="http://schemas.microsoft.com/office/drawing/2014/main" id="{18B4396A-8F99-4325-9557-3B1CEDE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2278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06" name="row-10-importance-rule">
            <a:extLst xmlns:a="http://schemas.openxmlformats.org/drawingml/2006/main">
              <a:ext uri="{FF2B5EF4-FFF2-40B4-BE49-F238E27FC236}">
                <a16:creationId xmlns:a16="http://schemas.microsoft.com/office/drawing/2014/main" id="{A4CF5681-BFDA-42E1-B908-9CFA8C78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278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07" name="rank-10">
            <a:extLst xmlns:a="http://schemas.openxmlformats.org/drawingml/2006/main">
              <a:ext uri="{FF2B5EF4-FFF2-40B4-BE49-F238E27FC236}">
                <a16:creationId xmlns:a16="http://schemas.microsoft.com/office/drawing/2014/main" id="{C6A60B57-8998-411B-9312-484DD848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279934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8" name="feature-10">
            <a:extLst xmlns:a="http://schemas.openxmlformats.org/drawingml/2006/main">
              <a:ext uri="{FF2B5EF4-FFF2-40B4-BE49-F238E27FC236}">
                <a16:creationId xmlns:a16="http://schemas.microsoft.com/office/drawing/2014/main" id="{1144E911-42CD-46F1-930D-6408D7F1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5171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OED_EXPO_OCCUPANCY_HIGHRISK</a:t>
            </a:r>
          </a:p>
        </p:txBody>
      </p:sp>
      <p:sp>
        <p:nvSpPr>
          <p:cNvPr id="109" name="pct-10">
            <a:extLst xmlns:a="http://schemas.openxmlformats.org/drawingml/2006/main">
              <a:ext uri="{FF2B5EF4-FFF2-40B4-BE49-F238E27FC236}">
                <a16:creationId xmlns:a16="http://schemas.microsoft.com/office/drawing/2014/main" id="{7FC4138D-EDC2-494D-B070-A2E38C6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75171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5.19%</a:t>
            </a:r>
          </a:p>
        </p:txBody>
      </p:sp>
      <p:sp>
        <p:nvSpPr>
          <p:cNvPr id="110" name="track-10">
            <a:extLst xmlns:a="http://schemas.openxmlformats.org/drawingml/2006/main">
              <a:ext uri="{FF2B5EF4-FFF2-40B4-BE49-F238E27FC236}">
                <a16:creationId xmlns:a16="http://schemas.microsoft.com/office/drawing/2014/main" id="{1BBB6116-C0D8-4B67-BA7C-762A58C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00889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11" name="bar-10">
            <a:extLst xmlns:a="http://schemas.openxmlformats.org/drawingml/2006/main">
              <a:ext uri="{FF2B5EF4-FFF2-40B4-BE49-F238E27FC236}">
                <a16:creationId xmlns:a16="http://schemas.microsoft.com/office/drawing/2014/main" id="{85442361-8C22-408C-B701-5B9C504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00889"/>
            <a:ext cx="1322458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12" name="definition-10">
            <a:extLst xmlns:a="http://schemas.openxmlformats.org/drawingml/2006/main">
              <a:ext uri="{FF2B5EF4-FFF2-40B4-BE49-F238E27FC236}">
                <a16:creationId xmlns:a16="http://schemas.microsoft.com/office/drawing/2014/main" id="{CCC751C4-6361-4B74-AC94-A588E50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2314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Proportion of locations classified as high-risk occupancy types</a:t>
            </a:r>
          </a:p>
        </p:txBody>
      </p:sp>
      <p:sp>
        <p:nvSpPr>
          <p:cNvPr id="113" name="row-11">
            <a:extLst xmlns:a="http://schemas.openxmlformats.org/drawingml/2006/main">
              <a:ext uri="{FF2B5EF4-FFF2-40B4-BE49-F238E27FC236}">
                <a16:creationId xmlns:a16="http://schemas.microsoft.com/office/drawing/2014/main" id="{3146D33B-FCBD-4ED1-B402-AB95C294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62338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14" name="row-11-rank-rule">
            <a:extLst xmlns:a="http://schemas.openxmlformats.org/drawingml/2006/main">
              <a:ext uri="{FF2B5EF4-FFF2-40B4-BE49-F238E27FC236}">
                <a16:creationId xmlns:a16="http://schemas.microsoft.com/office/drawing/2014/main" id="{A3A478C0-77EA-4D83-A019-2DD0719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6233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15" name="row-11-feature-rule">
            <a:extLst xmlns:a="http://schemas.openxmlformats.org/drawingml/2006/main">
              <a:ext uri="{FF2B5EF4-FFF2-40B4-BE49-F238E27FC236}">
                <a16:creationId xmlns:a16="http://schemas.microsoft.com/office/drawing/2014/main" id="{53167CE1-5E55-46F8-8AC3-7150059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6233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16" name="row-11-importance-rule">
            <a:extLst xmlns:a="http://schemas.openxmlformats.org/drawingml/2006/main">
              <a:ext uri="{FF2B5EF4-FFF2-40B4-BE49-F238E27FC236}">
                <a16:creationId xmlns:a16="http://schemas.microsoft.com/office/drawing/2014/main" id="{E72391EB-F88A-493C-9018-FAD33EBC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6233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17" name="rank-11">
            <a:extLst xmlns:a="http://schemas.openxmlformats.org/drawingml/2006/main">
              <a:ext uri="{FF2B5EF4-FFF2-40B4-BE49-F238E27FC236}">
                <a16:creationId xmlns:a16="http://schemas.microsoft.com/office/drawing/2014/main" id="{324A2DD4-C667-429B-A29B-095AF64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19488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18" name="feature-11">
            <a:extLst xmlns:a="http://schemas.openxmlformats.org/drawingml/2006/main">
              <a:ext uri="{FF2B5EF4-FFF2-40B4-BE49-F238E27FC236}">
                <a16:creationId xmlns:a16="http://schemas.microsoft.com/office/drawing/2014/main" id="{384F8025-CB43-4954-B991-0E58BE8D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LAST10YEARS_NUMBEROFCLAIMSBAND</a:t>
            </a:r>
          </a:p>
        </p:txBody>
      </p:sp>
      <p:sp>
        <p:nvSpPr>
          <p:cNvPr id="119" name="pct-11">
            <a:extLst xmlns:a="http://schemas.openxmlformats.org/drawingml/2006/main">
              <a:ext uri="{FF2B5EF4-FFF2-40B4-BE49-F238E27FC236}">
                <a16:creationId xmlns:a16="http://schemas.microsoft.com/office/drawing/2014/main" id="{9D87F580-CE9E-47BC-96FC-33091DB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14725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5.07%</a:t>
            </a:r>
          </a:p>
        </p:txBody>
      </p:sp>
      <p:sp>
        <p:nvSpPr>
          <p:cNvPr id="120" name="track-11">
            <a:extLst xmlns:a="http://schemas.openxmlformats.org/drawingml/2006/main">
              <a:ext uri="{FF2B5EF4-FFF2-40B4-BE49-F238E27FC236}">
                <a16:creationId xmlns:a16="http://schemas.microsoft.com/office/drawing/2014/main" id="{56755E9D-B432-42DF-A9BE-62F41A2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40443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21" name="bar-11">
            <a:extLst xmlns:a="http://schemas.openxmlformats.org/drawingml/2006/main">
              <a:ext uri="{FF2B5EF4-FFF2-40B4-BE49-F238E27FC236}">
                <a16:creationId xmlns:a16="http://schemas.microsoft.com/office/drawing/2014/main" id="{B045450C-8388-42E8-BCD7-B3616E9B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40443"/>
            <a:ext cx="1291881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22" name="definition-11">
            <a:extLst xmlns:a="http://schemas.openxmlformats.org/drawingml/2006/main">
              <a:ext uri="{FF2B5EF4-FFF2-40B4-BE49-F238E27FC236}">
                <a16:creationId xmlns:a16="http://schemas.microsoft.com/office/drawing/2014/main" id="{AEAE77F4-F421-4833-A2BC-5994507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11868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Banded count of insurance claims filed in the last 10 years</a:t>
            </a:r>
          </a:p>
        </p:txBody>
      </p:sp>
      <p:sp>
        <p:nvSpPr>
          <p:cNvPr id="123" name="row-12">
            <a:extLst xmlns:a="http://schemas.openxmlformats.org/drawingml/2006/main">
              <a:ext uri="{FF2B5EF4-FFF2-40B4-BE49-F238E27FC236}">
                <a16:creationId xmlns:a16="http://schemas.microsoft.com/office/drawing/2014/main" id="{F2E2530E-A391-481D-B9F9-C4ECA61C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01891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24" name="row-12-rank-rule">
            <a:extLst xmlns:a="http://schemas.openxmlformats.org/drawingml/2006/main">
              <a:ext uri="{FF2B5EF4-FFF2-40B4-BE49-F238E27FC236}">
                <a16:creationId xmlns:a16="http://schemas.microsoft.com/office/drawing/2014/main" id="{686B0820-0AF9-49AB-9232-4A88B964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0189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25" name="row-12-feature-rule">
            <a:extLst xmlns:a="http://schemas.openxmlformats.org/drawingml/2006/main">
              <a:ext uri="{FF2B5EF4-FFF2-40B4-BE49-F238E27FC236}">
                <a16:creationId xmlns:a16="http://schemas.microsoft.com/office/drawing/2014/main" id="{CEC76703-C38F-4B1D-B2D7-3D3C3EEE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0189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26" name="row-12-importance-rule">
            <a:extLst xmlns:a="http://schemas.openxmlformats.org/drawingml/2006/main">
              <a:ext uri="{FF2B5EF4-FFF2-40B4-BE49-F238E27FC236}">
                <a16:creationId xmlns:a16="http://schemas.microsoft.com/office/drawing/2014/main" id="{426CB4D2-D7CB-447F-99A3-746745C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01891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27" name="rank-12">
            <a:extLst xmlns:a="http://schemas.openxmlformats.org/drawingml/2006/main">
              <a:ext uri="{FF2B5EF4-FFF2-40B4-BE49-F238E27FC236}">
                <a16:creationId xmlns:a16="http://schemas.microsoft.com/office/drawing/2014/main" id="{B9911A0E-7E04-4E64-8100-CEE8CE6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9041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28" name="feature-12">
            <a:extLst xmlns:a="http://schemas.openxmlformats.org/drawingml/2006/main">
              <a:ext uri="{FF2B5EF4-FFF2-40B4-BE49-F238E27FC236}">
                <a16:creationId xmlns:a16="http://schemas.microsoft.com/office/drawing/2014/main" id="{5E0652DD-2FFC-44A2-9004-53DE32DD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4279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OED_DOMINANT_OCCUPANCYCATEGORY</a:t>
            </a:r>
          </a:p>
        </p:txBody>
      </p:sp>
      <p:sp>
        <p:nvSpPr>
          <p:cNvPr id="129" name="pct-12">
            <a:extLst xmlns:a="http://schemas.openxmlformats.org/drawingml/2006/main">
              <a:ext uri="{FF2B5EF4-FFF2-40B4-BE49-F238E27FC236}">
                <a16:creationId xmlns:a16="http://schemas.microsoft.com/office/drawing/2014/main" id="{4D53B1FC-2ED4-4CA6-9D6F-DD96180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754279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5.04%</a:t>
            </a:r>
          </a:p>
        </p:txBody>
      </p:sp>
      <p:sp>
        <p:nvSpPr>
          <p:cNvPr id="130" name="track-12">
            <a:extLst xmlns:a="http://schemas.openxmlformats.org/drawingml/2006/main">
              <a:ext uri="{FF2B5EF4-FFF2-40B4-BE49-F238E27FC236}">
                <a16:creationId xmlns:a16="http://schemas.microsoft.com/office/drawing/2014/main" id="{4CB1ADE9-1C62-4868-8E04-BFB27480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79996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31" name="bar-12">
            <a:extLst xmlns:a="http://schemas.openxmlformats.org/drawingml/2006/main">
              <a:ext uri="{FF2B5EF4-FFF2-40B4-BE49-F238E27FC236}">
                <a16:creationId xmlns:a16="http://schemas.microsoft.com/office/drawing/2014/main" id="{31464541-F3AF-42A9-8F63-0B72CB8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79996"/>
            <a:ext cx="1284237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32" name="definition-12">
            <a:extLst xmlns:a="http://schemas.openxmlformats.org/drawingml/2006/main">
              <a:ext uri="{FF2B5EF4-FFF2-40B4-BE49-F238E27FC236}">
                <a16:creationId xmlns:a16="http://schemas.microsoft.com/office/drawing/2014/main" id="{10B81288-B185-4BFF-B6D6-F74AB78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1421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Broader occupancy category grouping (e.g., Manufacturing, Services, Retail)</a:t>
            </a:r>
          </a:p>
        </p:txBody>
      </p:sp>
      <p:sp>
        <p:nvSpPr>
          <p:cNvPr id="133" name="row-13">
            <a:extLst xmlns:a="http://schemas.openxmlformats.org/drawingml/2006/main">
              <a:ext uri="{FF2B5EF4-FFF2-40B4-BE49-F238E27FC236}">
                <a16:creationId xmlns:a16="http://schemas.microsoft.com/office/drawing/2014/main" id="{3ED821FB-5541-46C6-B634-3D35EECB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41445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34" name="row-13-rank-rule">
            <a:extLst xmlns:a="http://schemas.openxmlformats.org/drawingml/2006/main">
              <a:ext uri="{FF2B5EF4-FFF2-40B4-BE49-F238E27FC236}">
                <a16:creationId xmlns:a16="http://schemas.microsoft.com/office/drawing/2014/main" id="{658B662A-EFCF-47E9-A37F-5A58DB4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4144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35" name="row-13-feature-rule">
            <a:extLst xmlns:a="http://schemas.openxmlformats.org/drawingml/2006/main">
              <a:ext uri="{FF2B5EF4-FFF2-40B4-BE49-F238E27FC236}">
                <a16:creationId xmlns:a16="http://schemas.microsoft.com/office/drawing/2014/main" id="{26396967-1829-4110-B35E-4345C2C5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4144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36" name="row-13-importance-rule">
            <a:extLst xmlns:a="http://schemas.openxmlformats.org/drawingml/2006/main">
              <a:ext uri="{FF2B5EF4-FFF2-40B4-BE49-F238E27FC236}">
                <a16:creationId xmlns:a16="http://schemas.microsoft.com/office/drawing/2014/main" id="{D52987C4-B833-4AE2-9747-EDC5BD33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41445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37" name="rank-13">
            <a:extLst xmlns:a="http://schemas.openxmlformats.org/drawingml/2006/main">
              <a:ext uri="{FF2B5EF4-FFF2-40B4-BE49-F238E27FC236}">
                <a16:creationId xmlns:a16="http://schemas.microsoft.com/office/drawing/2014/main" id="{CE054669-47DD-41A1-8810-0BDCB8B3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98595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38" name="feature-13">
            <a:extLst xmlns:a="http://schemas.openxmlformats.org/drawingml/2006/main">
              <a:ext uri="{FF2B5EF4-FFF2-40B4-BE49-F238E27FC236}">
                <a16:creationId xmlns:a16="http://schemas.microsoft.com/office/drawing/2014/main" id="{03BFB81D-CEC0-4D0F-B5C3-0CA4E25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3832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OED_CONTENTS_SUSCEPTIBILITY_TIER</a:t>
            </a:r>
          </a:p>
        </p:txBody>
      </p:sp>
      <p:sp>
        <p:nvSpPr>
          <p:cNvPr id="139" name="pct-13">
            <a:extLst xmlns:a="http://schemas.openxmlformats.org/drawingml/2006/main">
              <a:ext uri="{FF2B5EF4-FFF2-40B4-BE49-F238E27FC236}">
                <a16:creationId xmlns:a16="http://schemas.microsoft.com/office/drawing/2014/main" id="{297DEFC5-3879-4C33-94F8-4AA0C5A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993832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140" name="track-13">
            <a:extLst xmlns:a="http://schemas.openxmlformats.org/drawingml/2006/main">
              <a:ext uri="{FF2B5EF4-FFF2-40B4-BE49-F238E27FC236}">
                <a16:creationId xmlns:a16="http://schemas.microsoft.com/office/drawing/2014/main" id="{4881CD4F-F82B-495F-A9EB-385C0FA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19550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41" name="bar-13">
            <a:extLst xmlns:a="http://schemas.openxmlformats.org/drawingml/2006/main">
              <a:ext uri="{FF2B5EF4-FFF2-40B4-BE49-F238E27FC236}">
                <a16:creationId xmlns:a16="http://schemas.microsoft.com/office/drawing/2014/main" id="{8B7BB405-F9B3-4950-A349-0DA6D12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19550"/>
            <a:ext cx="1274045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42" name="definition-13">
            <a:extLst xmlns:a="http://schemas.openxmlformats.org/drawingml/2006/main">
              <a:ext uri="{FF2B5EF4-FFF2-40B4-BE49-F238E27FC236}">
                <a16:creationId xmlns:a16="http://schemas.microsoft.com/office/drawing/2014/main" id="{ED503851-F8ED-47AF-905A-09F6E2AA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90975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Tier classification for contents damage susceptibility risk</a:t>
            </a:r>
          </a:p>
        </p:txBody>
      </p:sp>
      <p:sp>
        <p:nvSpPr>
          <p:cNvPr id="143" name="row-14">
            <a:extLst xmlns:a="http://schemas.openxmlformats.org/drawingml/2006/main">
              <a:ext uri="{FF2B5EF4-FFF2-40B4-BE49-F238E27FC236}">
                <a16:creationId xmlns:a16="http://schemas.microsoft.com/office/drawing/2014/main" id="{C96AACC9-AC6A-4201-ADFC-C9F9796F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80999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44" name="row-14-rank-rule">
            <a:extLst xmlns:a="http://schemas.openxmlformats.org/drawingml/2006/main">
              <a:ext uri="{FF2B5EF4-FFF2-40B4-BE49-F238E27FC236}">
                <a16:creationId xmlns:a16="http://schemas.microsoft.com/office/drawing/2014/main" id="{B69427A1-AD8B-48E6-BAF5-9F6520E7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8099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45" name="row-14-feature-rule">
            <a:extLst xmlns:a="http://schemas.openxmlformats.org/drawingml/2006/main">
              <a:ext uri="{FF2B5EF4-FFF2-40B4-BE49-F238E27FC236}">
                <a16:creationId xmlns:a16="http://schemas.microsoft.com/office/drawing/2014/main" id="{A5D5BC9F-3479-4016-B29F-74F856C9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8099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46" name="row-14-importance-rule">
            <a:extLst xmlns:a="http://schemas.openxmlformats.org/drawingml/2006/main">
              <a:ext uri="{FF2B5EF4-FFF2-40B4-BE49-F238E27FC236}">
                <a16:creationId xmlns:a16="http://schemas.microsoft.com/office/drawing/2014/main" id="{91DAF135-9BF7-42E4-A14D-9F5B2BC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80999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47" name="rank-14">
            <a:extLst xmlns:a="http://schemas.openxmlformats.org/drawingml/2006/main">
              <a:ext uri="{FF2B5EF4-FFF2-40B4-BE49-F238E27FC236}">
                <a16:creationId xmlns:a16="http://schemas.microsoft.com/office/drawing/2014/main" id="{F32906DB-A63B-4414-B4AE-6DE367B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38149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8" name="feature-14">
            <a:extLst xmlns:a="http://schemas.openxmlformats.org/drawingml/2006/main">
              <a:ext uri="{FF2B5EF4-FFF2-40B4-BE49-F238E27FC236}">
                <a16:creationId xmlns:a16="http://schemas.microsoft.com/office/drawing/2014/main" id="{3DB79855-B6AE-4535-AC1F-8C2971A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3386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LAST5YEARS_NUMBEROFCLAIMSBAND</a:t>
            </a:r>
          </a:p>
        </p:txBody>
      </p:sp>
      <p:sp>
        <p:nvSpPr>
          <p:cNvPr id="149" name="pct-14">
            <a:extLst xmlns:a="http://schemas.openxmlformats.org/drawingml/2006/main">
              <a:ext uri="{FF2B5EF4-FFF2-40B4-BE49-F238E27FC236}">
                <a16:creationId xmlns:a16="http://schemas.microsoft.com/office/drawing/2014/main" id="{4537E2B1-946A-4D7C-884F-E18A3AA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33386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4.87%</a:t>
            </a:r>
          </a:p>
        </p:txBody>
      </p:sp>
      <p:sp>
        <p:nvSpPr>
          <p:cNvPr id="150" name="track-14">
            <a:extLst xmlns:a="http://schemas.openxmlformats.org/drawingml/2006/main">
              <a:ext uri="{FF2B5EF4-FFF2-40B4-BE49-F238E27FC236}">
                <a16:creationId xmlns:a16="http://schemas.microsoft.com/office/drawing/2014/main" id="{3E613D3C-F9AE-4D24-9EDC-C113D449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59104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51" name="bar-14">
            <a:extLst xmlns:a="http://schemas.openxmlformats.org/drawingml/2006/main">
              <a:ext uri="{FF2B5EF4-FFF2-40B4-BE49-F238E27FC236}">
                <a16:creationId xmlns:a16="http://schemas.microsoft.com/office/drawing/2014/main" id="{C936390D-9CEA-4E1D-84E2-BF69925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59104"/>
            <a:ext cx="1240919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52" name="definition-14">
            <a:extLst xmlns:a="http://schemas.openxmlformats.org/drawingml/2006/main">
              <a:ext uri="{FF2B5EF4-FFF2-40B4-BE49-F238E27FC236}">
                <a16:creationId xmlns:a16="http://schemas.microsoft.com/office/drawing/2014/main" id="{06785F24-BC20-4F7A-A442-72770BE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30529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Banded count of insurance claims filed in the last 5 years</a:t>
            </a:r>
          </a:p>
        </p:txBody>
      </p:sp>
      <p:sp>
        <p:nvSpPr>
          <p:cNvPr id="153" name="row-15">
            <a:extLst xmlns:a="http://schemas.openxmlformats.org/drawingml/2006/main">
              <a:ext uri="{FF2B5EF4-FFF2-40B4-BE49-F238E27FC236}">
                <a16:creationId xmlns:a16="http://schemas.microsoft.com/office/drawing/2014/main" id="{DDC25A24-38F7-4651-9358-276AF88F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20553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54" name="row-15-rank-rule">
            <a:extLst xmlns:a="http://schemas.openxmlformats.org/drawingml/2006/main">
              <a:ext uri="{FF2B5EF4-FFF2-40B4-BE49-F238E27FC236}">
                <a16:creationId xmlns:a16="http://schemas.microsoft.com/office/drawing/2014/main" id="{AB621C6F-D6BB-41FC-AF0C-527CE0F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2055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55" name="row-15-feature-rule">
            <a:extLst xmlns:a="http://schemas.openxmlformats.org/drawingml/2006/main">
              <a:ext uri="{FF2B5EF4-FFF2-40B4-BE49-F238E27FC236}">
                <a16:creationId xmlns:a16="http://schemas.microsoft.com/office/drawing/2014/main" id="{BE76392E-B3CF-4D7B-82E2-8E0B65D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42055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56" name="row-15-importance-rule">
            <a:extLst xmlns:a="http://schemas.openxmlformats.org/drawingml/2006/main">
              <a:ext uri="{FF2B5EF4-FFF2-40B4-BE49-F238E27FC236}">
                <a16:creationId xmlns:a16="http://schemas.microsoft.com/office/drawing/2014/main" id="{0DC105C9-DE5A-4C00-9203-FD2B193D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0553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57" name="rank-15">
            <a:extLst xmlns:a="http://schemas.openxmlformats.org/drawingml/2006/main">
              <a:ext uri="{FF2B5EF4-FFF2-40B4-BE49-F238E27FC236}">
                <a16:creationId xmlns:a16="http://schemas.microsoft.com/office/drawing/2014/main" id="{013E58BF-64AB-4880-901F-258157D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477703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58" name="feature-15">
            <a:extLst xmlns:a="http://schemas.openxmlformats.org/drawingml/2006/main">
              <a:ext uri="{FF2B5EF4-FFF2-40B4-BE49-F238E27FC236}">
                <a16:creationId xmlns:a16="http://schemas.microsoft.com/office/drawing/2014/main" id="{88212260-00C1-496C-9296-55711F95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294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OED_BI_SUSCEPTIBILITY_TIER</a:t>
            </a:r>
          </a:p>
        </p:txBody>
      </p:sp>
      <p:sp>
        <p:nvSpPr>
          <p:cNvPr id="159" name="pct-15">
            <a:extLst xmlns:a="http://schemas.openxmlformats.org/drawingml/2006/main">
              <a:ext uri="{FF2B5EF4-FFF2-40B4-BE49-F238E27FC236}">
                <a16:creationId xmlns:a16="http://schemas.microsoft.com/office/drawing/2014/main" id="{D439F1DC-00A1-4F54-AB20-A391DD4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7294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4.70%</a:t>
            </a:r>
          </a:p>
        </p:txBody>
      </p:sp>
      <p:sp>
        <p:nvSpPr>
          <p:cNvPr id="160" name="track-15">
            <a:extLst xmlns:a="http://schemas.openxmlformats.org/drawingml/2006/main">
              <a:ext uri="{FF2B5EF4-FFF2-40B4-BE49-F238E27FC236}">
                <a16:creationId xmlns:a16="http://schemas.microsoft.com/office/drawing/2014/main" id="{E2FD3679-0795-4A43-B31C-FF8DAAE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98658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61" name="bar-15">
            <a:extLst xmlns:a="http://schemas.openxmlformats.org/drawingml/2006/main">
              <a:ext uri="{FF2B5EF4-FFF2-40B4-BE49-F238E27FC236}">
                <a16:creationId xmlns:a16="http://schemas.microsoft.com/office/drawing/2014/main" id="{E408E315-D64D-47F9-8BFC-0FE7B8E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98658"/>
            <a:ext cx="1197602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62" name="definition-15">
            <a:extLst xmlns:a="http://schemas.openxmlformats.org/drawingml/2006/main">
              <a:ext uri="{FF2B5EF4-FFF2-40B4-BE49-F238E27FC236}">
                <a16:creationId xmlns:a16="http://schemas.microsoft.com/office/drawing/2014/main" id="{5DFC3486-A0EE-4FCE-B1DD-2589586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0083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Tier classification for Business Interruption (BI) susceptibility risk</a:t>
            </a:r>
          </a:p>
        </p:txBody>
      </p:sp>
      <p:sp>
        <p:nvSpPr>
          <p:cNvPr id="163" name="row-16">
            <a:extLst xmlns:a="http://schemas.openxmlformats.org/drawingml/2006/main">
              <a:ext uri="{FF2B5EF4-FFF2-40B4-BE49-F238E27FC236}">
                <a16:creationId xmlns:a16="http://schemas.microsoft.com/office/drawing/2014/main" id="{77CB9F68-A88E-4509-ACD0-35CD465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660106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64" name="row-16-rank-rule">
            <a:extLst xmlns:a="http://schemas.openxmlformats.org/drawingml/2006/main">
              <a:ext uri="{FF2B5EF4-FFF2-40B4-BE49-F238E27FC236}">
                <a16:creationId xmlns:a16="http://schemas.microsoft.com/office/drawing/2014/main" id="{D614D11D-697C-479B-B6E3-656A8BC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6010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65" name="row-16-feature-rule">
            <a:extLst xmlns:a="http://schemas.openxmlformats.org/drawingml/2006/main">
              <a:ext uri="{FF2B5EF4-FFF2-40B4-BE49-F238E27FC236}">
                <a16:creationId xmlns:a16="http://schemas.microsoft.com/office/drawing/2014/main" id="{201598F9-97F1-4FB5-9835-82E0C04F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6010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66" name="row-16-importance-rule">
            <a:extLst xmlns:a="http://schemas.openxmlformats.org/drawingml/2006/main">
              <a:ext uri="{FF2B5EF4-FFF2-40B4-BE49-F238E27FC236}">
                <a16:creationId xmlns:a16="http://schemas.microsoft.com/office/drawing/2014/main" id="{06F6B2B1-208F-45E5-8B5A-DDC575F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60106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67" name="rank-16">
            <a:extLst xmlns:a="http://schemas.openxmlformats.org/drawingml/2006/main">
              <a:ext uri="{FF2B5EF4-FFF2-40B4-BE49-F238E27FC236}">
                <a16:creationId xmlns:a16="http://schemas.microsoft.com/office/drawing/2014/main" id="{7396BAC4-7DED-4626-A88F-A0DB44F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17256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68" name="feature-16">
            <a:extLst xmlns:a="http://schemas.openxmlformats.org/drawingml/2006/main">
              <a:ext uri="{FF2B5EF4-FFF2-40B4-BE49-F238E27FC236}">
                <a16:creationId xmlns:a16="http://schemas.microsoft.com/office/drawing/2014/main" id="{279E6202-1617-4805-A7E1-B0C8F4D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2494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OED_EXPO_HIGHWS_YEARBUILT_PRE2000</a:t>
            </a:r>
          </a:p>
        </p:txBody>
      </p:sp>
      <p:sp>
        <p:nvSpPr>
          <p:cNvPr id="169" name="pct-16">
            <a:extLst xmlns:a="http://schemas.openxmlformats.org/drawingml/2006/main">
              <a:ext uri="{FF2B5EF4-FFF2-40B4-BE49-F238E27FC236}">
                <a16:creationId xmlns:a16="http://schemas.microsoft.com/office/drawing/2014/main" id="{A87F02E9-BA73-4E32-AD29-4593C41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12494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4.58%</a:t>
            </a:r>
          </a:p>
        </p:txBody>
      </p:sp>
      <p:sp>
        <p:nvSpPr>
          <p:cNvPr id="170" name="track-16">
            <a:extLst xmlns:a="http://schemas.openxmlformats.org/drawingml/2006/main">
              <a:ext uri="{FF2B5EF4-FFF2-40B4-BE49-F238E27FC236}">
                <a16:creationId xmlns:a16="http://schemas.microsoft.com/office/drawing/2014/main" id="{CA911E44-C391-41A8-8C14-5D51D64D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38211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71" name="bar-16">
            <a:extLst xmlns:a="http://schemas.openxmlformats.org/drawingml/2006/main">
              <a:ext uri="{FF2B5EF4-FFF2-40B4-BE49-F238E27FC236}">
                <a16:creationId xmlns:a16="http://schemas.microsoft.com/office/drawing/2014/main" id="{3C3B9115-E440-4DB8-BB96-FC8B95DB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38211"/>
            <a:ext cx="1167025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72" name="definition-16">
            <a:extLst xmlns:a="http://schemas.openxmlformats.org/drawingml/2006/main">
              <a:ext uri="{FF2B5EF4-FFF2-40B4-BE49-F238E27FC236}">
                <a16:creationId xmlns:a16="http://schemas.microsoft.com/office/drawing/2014/main" id="{D502F099-B1AA-4652-8B1D-2F169181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9636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Proportion of locations in high windstorm zones built before 2000</a:t>
            </a:r>
          </a:p>
        </p:txBody>
      </p:sp>
      <p:sp>
        <p:nvSpPr>
          <p:cNvPr id="173" name="row-17">
            <a:extLst xmlns:a="http://schemas.openxmlformats.org/drawingml/2006/main">
              <a:ext uri="{FF2B5EF4-FFF2-40B4-BE49-F238E27FC236}">
                <a16:creationId xmlns:a16="http://schemas.microsoft.com/office/drawing/2014/main" id="{EB2EC450-577A-42DA-8F95-0E6423C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99660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74" name="row-17-rank-rule">
            <a:extLst xmlns:a="http://schemas.openxmlformats.org/drawingml/2006/main">
              <a:ext uri="{FF2B5EF4-FFF2-40B4-BE49-F238E27FC236}">
                <a16:creationId xmlns:a16="http://schemas.microsoft.com/office/drawing/2014/main" id="{5D6C6069-F0CB-4BCF-B187-D4C33FE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9966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75" name="row-17-feature-rule">
            <a:extLst xmlns:a="http://schemas.openxmlformats.org/drawingml/2006/main">
              <a:ext uri="{FF2B5EF4-FFF2-40B4-BE49-F238E27FC236}">
                <a16:creationId xmlns:a16="http://schemas.microsoft.com/office/drawing/2014/main" id="{0379C5C4-3FE3-46EC-8B43-47C5BC4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9966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76" name="row-17-importance-rule">
            <a:extLst xmlns:a="http://schemas.openxmlformats.org/drawingml/2006/main">
              <a:ext uri="{FF2B5EF4-FFF2-40B4-BE49-F238E27FC236}">
                <a16:creationId xmlns:a16="http://schemas.microsoft.com/office/drawing/2014/main" id="{49E6A37A-49F7-40FF-85F9-13D3339F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99660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77" name="rank-17">
            <a:extLst xmlns:a="http://schemas.openxmlformats.org/drawingml/2006/main">
              <a:ext uri="{FF2B5EF4-FFF2-40B4-BE49-F238E27FC236}">
                <a16:creationId xmlns:a16="http://schemas.microsoft.com/office/drawing/2014/main" id="{5767045E-8691-44FA-9505-27660151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956810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78" name="feature-17">
            <a:extLst xmlns:a="http://schemas.openxmlformats.org/drawingml/2006/main">
              <a:ext uri="{FF2B5EF4-FFF2-40B4-BE49-F238E27FC236}">
                <a16:creationId xmlns:a16="http://schemas.microsoft.com/office/drawing/2014/main" id="{1959147F-A2F3-4920-A61C-E756AC9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2048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OED_EXPO_HIGHEQ_YEARBUILT_PRE1975</a:t>
            </a:r>
          </a:p>
        </p:txBody>
      </p:sp>
      <p:sp>
        <p:nvSpPr>
          <p:cNvPr id="179" name="pct-17">
            <a:extLst xmlns:a="http://schemas.openxmlformats.org/drawingml/2006/main">
              <a:ext uri="{FF2B5EF4-FFF2-40B4-BE49-F238E27FC236}">
                <a16:creationId xmlns:a16="http://schemas.microsoft.com/office/drawing/2014/main" id="{1B31BA19-9CB8-4120-8545-7BC518F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52048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4.49%</a:t>
            </a:r>
          </a:p>
        </p:txBody>
      </p:sp>
      <p:sp>
        <p:nvSpPr>
          <p:cNvPr id="180" name="track-17">
            <a:extLst xmlns:a="http://schemas.openxmlformats.org/drawingml/2006/main">
              <a:ext uri="{FF2B5EF4-FFF2-40B4-BE49-F238E27FC236}">
                <a16:creationId xmlns:a16="http://schemas.microsoft.com/office/drawing/2014/main" id="{8A50CB2A-D247-4456-871E-D6764D3B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77765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81" name="bar-17">
            <a:extLst xmlns:a="http://schemas.openxmlformats.org/drawingml/2006/main">
              <a:ext uri="{FF2B5EF4-FFF2-40B4-BE49-F238E27FC236}">
                <a16:creationId xmlns:a16="http://schemas.microsoft.com/office/drawing/2014/main" id="{903D98A3-8519-4BF8-BF0C-B9EB359D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77765"/>
            <a:ext cx="1144092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82" name="definition-17">
            <a:extLst xmlns:a="http://schemas.openxmlformats.org/drawingml/2006/main">
              <a:ext uri="{FF2B5EF4-FFF2-40B4-BE49-F238E27FC236}">
                <a16:creationId xmlns:a16="http://schemas.microsoft.com/office/drawing/2014/main" id="{B91C36EB-201A-4471-8FE2-D14522D8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49190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Proportion of locations in high earthquake zones built before 1975</a:t>
            </a:r>
          </a:p>
        </p:txBody>
      </p:sp>
      <p:sp>
        <p:nvSpPr>
          <p:cNvPr id="183" name="row-18">
            <a:extLst xmlns:a="http://schemas.openxmlformats.org/drawingml/2006/main">
              <a:ext uri="{FF2B5EF4-FFF2-40B4-BE49-F238E27FC236}">
                <a16:creationId xmlns:a16="http://schemas.microsoft.com/office/drawing/2014/main" id="{4CFD02FD-8F2A-4405-8DF4-E6ACB28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39214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84" name="row-18-rank-rule">
            <a:extLst xmlns:a="http://schemas.openxmlformats.org/drawingml/2006/main">
              <a:ext uri="{FF2B5EF4-FFF2-40B4-BE49-F238E27FC236}">
                <a16:creationId xmlns:a16="http://schemas.microsoft.com/office/drawing/2014/main" id="{CD0F79D5-1E18-4E48-8E00-389F437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3921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85" name="row-18-feature-rule">
            <a:extLst xmlns:a="http://schemas.openxmlformats.org/drawingml/2006/main">
              <a:ext uri="{FF2B5EF4-FFF2-40B4-BE49-F238E27FC236}">
                <a16:creationId xmlns:a16="http://schemas.microsoft.com/office/drawing/2014/main" id="{9850D934-8061-4D0C-92B5-49F596D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3921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86" name="row-18-importance-rule">
            <a:extLst xmlns:a="http://schemas.openxmlformats.org/drawingml/2006/main">
              <a:ext uri="{FF2B5EF4-FFF2-40B4-BE49-F238E27FC236}">
                <a16:creationId xmlns:a16="http://schemas.microsoft.com/office/drawing/2014/main" id="{69ACCDAC-B908-480E-86C1-2BB07F3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9214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87" name="rank-18">
            <a:extLst xmlns:a="http://schemas.openxmlformats.org/drawingml/2006/main">
              <a:ext uri="{FF2B5EF4-FFF2-40B4-BE49-F238E27FC236}">
                <a16:creationId xmlns:a16="http://schemas.microsoft.com/office/drawing/2014/main" id="{0CFD1FA0-19A7-4D46-A86A-F619338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96364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88" name="feature-18">
            <a:extLst xmlns:a="http://schemas.openxmlformats.org/drawingml/2006/main">
              <a:ext uri="{FF2B5EF4-FFF2-40B4-BE49-F238E27FC236}">
                <a16:creationId xmlns:a16="http://schemas.microsoft.com/office/drawing/2014/main" id="{E098B869-6E01-4702-8F6C-22536D6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601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OED_EXPO_HIGHEQ_NUMSTORIES_GT4</a:t>
            </a:r>
          </a:p>
        </p:txBody>
      </p:sp>
      <p:sp>
        <p:nvSpPr>
          <p:cNvPr id="189" name="pct-18">
            <a:extLst xmlns:a="http://schemas.openxmlformats.org/drawingml/2006/main">
              <a:ext uri="{FF2B5EF4-FFF2-40B4-BE49-F238E27FC236}">
                <a16:creationId xmlns:a16="http://schemas.microsoft.com/office/drawing/2014/main" id="{AC92EAF3-3726-45AA-A2BC-FB051B5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191601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4.34%</a:t>
            </a:r>
          </a:p>
        </p:txBody>
      </p:sp>
      <p:sp>
        <p:nvSpPr>
          <p:cNvPr id="190" name="track-18">
            <a:extLst xmlns:a="http://schemas.openxmlformats.org/drawingml/2006/main">
              <a:ext uri="{FF2B5EF4-FFF2-40B4-BE49-F238E27FC236}">
                <a16:creationId xmlns:a16="http://schemas.microsoft.com/office/drawing/2014/main" id="{7437F03D-03E0-4D2D-B4C3-01395DBD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17319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191" name="bar-18">
            <a:extLst xmlns:a="http://schemas.openxmlformats.org/drawingml/2006/main">
              <a:ext uri="{FF2B5EF4-FFF2-40B4-BE49-F238E27FC236}">
                <a16:creationId xmlns:a16="http://schemas.microsoft.com/office/drawing/2014/main" id="{3A0464D5-72F5-4A24-8D5D-D2CB75A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17319"/>
            <a:ext cx="1105871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192" name="definition-18">
            <a:extLst xmlns:a="http://schemas.openxmlformats.org/drawingml/2006/main">
              <a:ext uri="{FF2B5EF4-FFF2-40B4-BE49-F238E27FC236}">
                <a16:creationId xmlns:a16="http://schemas.microsoft.com/office/drawing/2014/main" id="{5B32EFB5-AE54-4E2C-9D85-6DF63919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88744"/>
            <a:ext cx="490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Proportion of locations in high earthquake zones with more than 4 stories</a:t>
            </a:r>
          </a:p>
        </p:txBody>
      </p:sp>
      <p:sp>
        <p:nvSpPr>
          <p:cNvPr id="193" name="row-19">
            <a:extLst xmlns:a="http://schemas.openxmlformats.org/drawingml/2006/main">
              <a:ext uri="{FF2B5EF4-FFF2-40B4-BE49-F238E27FC236}">
                <a16:creationId xmlns:a16="http://schemas.microsoft.com/office/drawing/2014/main" id="{CF5EC3C6-1CE0-4240-8152-ACF5922B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78768"/>
            <a:ext cx="11849100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7C7DD"/>
            </a:solidFill>
            <a:prstDash val="solid"/>
          </a:ln>
        </p:spPr>
      </p:sp>
      <p:sp>
        <p:nvSpPr>
          <p:cNvPr id="194" name="row-19-rank-rule">
            <a:extLst xmlns:a="http://schemas.openxmlformats.org/drawingml/2006/main">
              <a:ext uri="{FF2B5EF4-FFF2-40B4-BE49-F238E27FC236}">
                <a16:creationId xmlns:a16="http://schemas.microsoft.com/office/drawing/2014/main" id="{6ACD5FCE-72AF-4089-9695-F4566070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7876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95" name="row-19-feature-rule">
            <a:extLst xmlns:a="http://schemas.openxmlformats.org/drawingml/2006/main">
              <a:ext uri="{FF2B5EF4-FFF2-40B4-BE49-F238E27FC236}">
                <a16:creationId xmlns:a16="http://schemas.microsoft.com/office/drawing/2014/main" id="{9F06AC75-93A7-4639-8ABA-67005AF9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37876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96" name="row-19-importance-rule">
            <a:extLst xmlns:a="http://schemas.openxmlformats.org/drawingml/2006/main">
              <a:ext uri="{FF2B5EF4-FFF2-40B4-BE49-F238E27FC236}">
                <a16:creationId xmlns:a16="http://schemas.microsoft.com/office/drawing/2014/main" id="{DBB8B2E4-6267-4683-B247-D4CFD827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78768"/>
            <a:ext cx="9525" cy="239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197" name="rank-19">
            <a:extLst xmlns:a="http://schemas.openxmlformats.org/drawingml/2006/main">
              <a:ext uri="{FF2B5EF4-FFF2-40B4-BE49-F238E27FC236}">
                <a16:creationId xmlns:a16="http://schemas.microsoft.com/office/drawing/2014/main" id="{10496247-C3B5-4D00-B04B-AFADC24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35918"/>
            <a:ext cx="409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8" name="feature-19">
            <a:extLst xmlns:a="http://schemas.openxmlformats.org/drawingml/2006/main">
              <a:ext uri="{FF2B5EF4-FFF2-40B4-BE49-F238E27FC236}">
                <a16:creationId xmlns:a16="http://schemas.microsoft.com/office/drawing/2014/main" id="{85F97B29-F38E-4ED1-BBF4-D0FAF04F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115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SMALL_FOOTPRINT_STP_INDEX</a:t>
            </a:r>
          </a:p>
        </p:txBody>
      </p:sp>
      <p:sp>
        <p:nvSpPr>
          <p:cNvPr id="199" name="pct-19">
            <a:extLst xmlns:a="http://schemas.openxmlformats.org/drawingml/2006/main">
              <a:ext uri="{FF2B5EF4-FFF2-40B4-BE49-F238E27FC236}">
                <a16:creationId xmlns:a16="http://schemas.microsoft.com/office/drawing/2014/main" id="{33A9DCC9-88CF-4607-BF85-B7627C9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31155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5070D"/>
                </a:solidFill>
                <a:latin typeface="Aptos"/>
                <a:ea typeface="Aptos"/>
                <a:cs typeface="Aptos"/>
              </a:rPr>
              <a:t>4.01%</a:t>
            </a:r>
          </a:p>
        </p:txBody>
      </p:sp>
      <p:sp>
        <p:nvSpPr>
          <p:cNvPr id="200" name="track-19">
            <a:extLst xmlns:a="http://schemas.openxmlformats.org/drawingml/2006/main">
              <a:ext uri="{FF2B5EF4-FFF2-40B4-BE49-F238E27FC236}">
                <a16:creationId xmlns:a16="http://schemas.microsoft.com/office/drawing/2014/main" id="{D3B85211-1F57-4D16-A8B1-ECDBDF41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56873"/>
            <a:ext cx="2000250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0">
            <a:solidFill>
              <a:srgbClr val="E8EDF5"/>
            </a:solidFill>
            <a:prstDash val="solid"/>
          </a:ln>
        </p:spPr>
      </p:sp>
      <p:sp>
        <p:nvSpPr>
          <p:cNvPr id="201" name="bar-19">
            <a:extLst xmlns:a="http://schemas.openxmlformats.org/drawingml/2006/main">
              <a:ext uri="{FF2B5EF4-FFF2-40B4-BE49-F238E27FC236}">
                <a16:creationId xmlns:a16="http://schemas.microsoft.com/office/drawing/2014/main" id="{A756514C-DAD3-4893-AEBD-6F293CA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56873"/>
            <a:ext cx="1021784" cy="78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BA"/>
          </a:solidFill>
          <a:ln xmlns:a="http://schemas.openxmlformats.org/drawingml/2006/main" w="0">
            <a:solidFill>
              <a:srgbClr val="174DBA"/>
            </a:solidFill>
            <a:prstDash val="solid"/>
          </a:ln>
        </p:spPr>
      </p:sp>
      <p:sp>
        <p:nvSpPr>
          <p:cNvPr id="202" name="definition-19">
            <a:extLst xmlns:a="http://schemas.openxmlformats.org/drawingml/2006/main">
              <a:ext uri="{FF2B5EF4-FFF2-40B4-BE49-F238E27FC236}">
                <a16:creationId xmlns:a16="http://schemas.microsoft.com/office/drawing/2014/main" id="{5180B91C-A9EC-4C30-9F82-9F15B3E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28298"/>
            <a:ext cx="4905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Isolates small-scale commercial footprints (&lt;25K sq ft) situated in premium municipal</a:t>
            </a:r>
          </a:p>
          <a:p xmlns:a="http://schemas.openxmlformats.org/drawingml/2006/main">
            <a:pPr algn="l">
              <a:defRPr sz="607" b="0">
                <a:solidFill>
                  <a:srgbClr val="05070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5070D"/>
                </a:solidFill>
                <a:latin typeface="Aptos"/>
                <a:ea typeface="Aptos"/>
                <a:cs typeface="Aptos"/>
              </a:rPr>
              <a:t>fire protection zones. Ideal high-conversion targets for rapid automatic straight-through-processing (STP).</a:t>
            </a:r>
          </a:p>
        </p:txBody>
      </p:sp>
      <p:sp>
        <p:nvSpPr>
          <p:cNvPr id="203" name="key-insights-footer">
            <a:extLst xmlns:a="http://schemas.openxmlformats.org/drawingml/2006/main">
              <a:ext uri="{FF2B5EF4-FFF2-40B4-BE49-F238E27FC236}">
                <a16:creationId xmlns:a16="http://schemas.microsoft.com/office/drawing/2014/main" id="{D90A9CCE-CDC3-41AC-889F-10AFCA5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29300"/>
            <a:ext cx="11849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7DD"/>
            </a:solidFill>
            <a:prstDash val="solid"/>
          </a:ln>
        </p:spPr>
      </p:sp>
      <p:sp>
        <p:nvSpPr>
          <p:cNvPr id="204" name="key-icon-circle">
            <a:extLst xmlns:a="http://schemas.openxmlformats.org/drawingml/2006/main">
              <a:ext uri="{FF2B5EF4-FFF2-40B4-BE49-F238E27FC236}">
                <a16:creationId xmlns:a16="http://schemas.microsoft.com/office/drawing/2014/main" id="{A3F0AD86-EA88-4AB7-9530-DEE45CC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10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D6F"/>
          </a:solidFill>
          <a:ln xmlns:a="http://schemas.openxmlformats.org/drawingml/2006/main" w="0">
            <a:solidFill>
              <a:srgbClr val="082D6F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7a5d6e9be4336">
            <a:extLst>
              <a:ext uri="{96DAC541-7B7A-43D3-8B79-37D633B846F1}">
                <asvg:svgBlip xmlns:asvg="http://schemas.microsoft.com/office/drawing/2016/SVG/main" r:embed="Rf4319a72758d4a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61055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06" name="key-insights-label">
            <a:extLst xmlns:a="http://schemas.openxmlformats.org/drawingml/2006/main">
              <a:ext uri="{FF2B5EF4-FFF2-40B4-BE49-F238E27FC236}">
                <a16:creationId xmlns:a16="http://schemas.microsoft.com/office/drawing/2014/main" id="{00D08D62-986E-40A2-9709-D70534F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05525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rPr>
              <a:t>KEY</a:t>
            </a:r>
          </a:p>
          <a:p xmlns:a="http://schemas.openxmlformats.org/drawingml/2006/main">
            <a:pPr algn="ctr">
              <a:defRPr sz="9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82D6F"/>
                </a:solidFill>
                <a:latin typeface="Aptos Display"/>
                <a:ea typeface="Aptos Display"/>
                <a:cs typeface="Aptos Display"/>
              </a:rPr>
              <a:t>INSIGHTS</a:t>
            </a:r>
          </a:p>
        </p:txBody>
      </p:sp>
      <p:sp>
        <p:nvSpPr>
          <p:cNvPr id="207" name="footer-divider-0">
            <a:extLst xmlns:a="http://schemas.openxmlformats.org/drawingml/2006/main">
              <a:ext uri="{FF2B5EF4-FFF2-40B4-BE49-F238E27FC236}">
                <a16:creationId xmlns:a16="http://schemas.microsoft.com/office/drawing/2014/main" id="{F4CBC8DA-DE88-4E23-B0EE-1A88A31F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912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08" name="footer-divider-1">
            <a:extLst xmlns:a="http://schemas.openxmlformats.org/drawingml/2006/main">
              <a:ext uri="{FF2B5EF4-FFF2-40B4-BE49-F238E27FC236}">
                <a16:creationId xmlns:a16="http://schemas.microsoft.com/office/drawing/2014/main" id="{AEE46650-D5FA-44AA-A73F-6AFDAF96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912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09" name="footer-divider-2">
            <a:extLst xmlns:a="http://schemas.openxmlformats.org/drawingml/2006/main">
              <a:ext uri="{FF2B5EF4-FFF2-40B4-BE49-F238E27FC236}">
                <a16:creationId xmlns:a16="http://schemas.microsoft.com/office/drawing/2014/main" id="{8FBC92D4-14C8-4074-B0BF-94C5273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912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10" name="footer-divider-3">
            <a:extLst xmlns:a="http://schemas.openxmlformats.org/drawingml/2006/main">
              <a:ext uri="{FF2B5EF4-FFF2-40B4-BE49-F238E27FC236}">
                <a16:creationId xmlns:a16="http://schemas.microsoft.com/office/drawing/2014/main" id="{5F9F3702-815A-421D-8704-8E07A97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912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D"/>
          </a:solidFill>
          <a:ln xmlns:a="http://schemas.openxmlformats.org/drawingml/2006/main" w="0">
            <a:solidFill>
              <a:srgbClr val="B7C7DD"/>
            </a:solidFill>
            <a:prstDash val="solid"/>
          </a:ln>
        </p:spPr>
      </p:sp>
      <p:sp>
        <p:nvSpPr>
          <p:cNvPr id="211" name="insight-dot-0">
            <a:extLst xmlns:a="http://schemas.openxmlformats.org/drawingml/2006/main">
              <a:ext uri="{FF2B5EF4-FFF2-40B4-BE49-F238E27FC236}">
                <a16:creationId xmlns:a16="http://schemas.microsoft.com/office/drawing/2014/main" id="{8889583B-BEBB-4E84-9E78-E2C684E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4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2D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2D6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2" name="insight-0">
            <a:extLst xmlns:a="http://schemas.openxmlformats.org/drawingml/2006/main">
              <a:ext uri="{FF2B5EF4-FFF2-40B4-BE49-F238E27FC236}">
                <a16:creationId xmlns:a16="http://schemas.microsoft.com/office/drawing/2014/main" id="{AE88498C-4031-43EB-9375-49050B6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38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Broker characteristics and exposure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geography are the strongest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predictors.</a:t>
            </a:r>
          </a:p>
        </p:txBody>
      </p:sp>
      <p:sp>
        <p:nvSpPr>
          <p:cNvPr id="213" name="insight-dot-1">
            <a:extLst xmlns:a="http://schemas.openxmlformats.org/drawingml/2006/main">
              <a:ext uri="{FF2B5EF4-FFF2-40B4-BE49-F238E27FC236}">
                <a16:creationId xmlns:a16="http://schemas.microsoft.com/office/drawing/2014/main" id="{5FF9DCD4-6693-46DD-BF4E-EF37235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674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2D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2D6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4" name="insight-1">
            <a:extLst xmlns:a="http://schemas.openxmlformats.org/drawingml/2006/main">
              <a:ext uri="{FF2B5EF4-FFF2-40B4-BE49-F238E27FC236}">
                <a16:creationId xmlns:a16="http://schemas.microsoft.com/office/drawing/2014/main" id="{83414FC8-F126-4834-9F9A-5B845BC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579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Construction and occupancy variables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are critical underwriting signals.</a:t>
            </a:r>
          </a:p>
        </p:txBody>
      </p:sp>
      <p:sp>
        <p:nvSpPr>
          <p:cNvPr id="215" name="insight-dot-2">
            <a:extLst xmlns:a="http://schemas.openxmlformats.org/drawingml/2006/main">
              <a:ext uri="{FF2B5EF4-FFF2-40B4-BE49-F238E27FC236}">
                <a16:creationId xmlns:a16="http://schemas.microsoft.com/office/drawing/2014/main" id="{144664AC-8B66-4553-B19A-5AC42C2A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0102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2D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2D6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6" name="insight-2">
            <a:extLst xmlns:a="http://schemas.openxmlformats.org/drawingml/2006/main">
              <a:ext uri="{FF2B5EF4-FFF2-40B4-BE49-F238E27FC236}">
                <a16:creationId xmlns:a16="http://schemas.microsoft.com/office/drawing/2014/main" id="{BA1E340B-3C9A-4C7C-B87C-7FB6F6C8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000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Historical loss experience (burning cost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and claims activity) contributes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significantly to risk assessment.</a:t>
            </a:r>
          </a:p>
        </p:txBody>
      </p:sp>
      <p:sp>
        <p:nvSpPr>
          <p:cNvPr id="217" name="insight-dot-3">
            <a:extLst xmlns:a="http://schemas.openxmlformats.org/drawingml/2006/main">
              <a:ext uri="{FF2B5EF4-FFF2-40B4-BE49-F238E27FC236}">
                <a16:creationId xmlns:a16="http://schemas.microsoft.com/office/drawing/2014/main" id="{B1C18200-5038-422F-BB6F-0BE756CA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0007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2D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2D6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8" name="insight-3">
            <a:extLst xmlns:a="http://schemas.openxmlformats.org/drawingml/2006/main">
              <a:ext uri="{FF2B5EF4-FFF2-40B4-BE49-F238E27FC236}">
                <a16:creationId xmlns:a16="http://schemas.microsoft.com/office/drawing/2014/main" id="{D0B881F8-C8AD-44A3-B911-F877F9F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9122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Engineered vulnerability features capture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earthquake, windstorm and business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interruption risk not directly available in</a:t>
            </a:r>
          </a:p>
          <a:p xmlns:a="http://schemas.openxmlformats.org/drawingml/2006/main">
            <a:pPr algn="l">
              <a:defRPr sz="607" b="0">
                <a:solidFill>
                  <a:srgbClr val="0D2658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0D2658"/>
                </a:solidFill>
                <a:latin typeface="Aptos"/>
                <a:ea typeface="Aptos"/>
                <a:cs typeface="Aptos"/>
              </a:rPr>
              <a:t>raw data.</a:t>
            </a:r>
          </a:p>
        </p:txBody>
      </p:sp>
    </p:spTree>
    <p:extLst>
      <p:ext uri="{BB962C8B-B14F-4D97-AF65-F5344CB8AC3E}">
        <p14:creationId xmlns:p14="http://schemas.microsoft.com/office/powerpoint/2010/main" val="1891306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2026-06-10T10:28:55.2800000Z</dcterms:created>
  <dcterms:modified xsi:type="dcterms:W3CDTF">2026-06-10T10:28:55.2800000Z</dcterms:modified>
</coreProperties>
</file>