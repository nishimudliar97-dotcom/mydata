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0fdd594bdc447c" /><Relationship Type="http://schemas.openxmlformats.org/officeDocument/2006/relationships/extended-properties" Target="/docProps/app.xml" Id="R021a736f48b644db" /><Relationship Type="http://schemas.openxmlformats.org/officeDocument/2006/relationships/officeDocument" Target="/ppt/presentation.xml" Id="R5d5f4c9bb4b949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3165794d0c49aa"/>
  </p:sldMasterIdLst>
  <p:notesMasterIdLst>
    <p:notesMasterId xmlns:r="http://schemas.openxmlformats.org/officeDocument/2006/relationships" r:id="R0d27bd90fa2a4e39"/>
  </p:notesMasterIdLst>
  <p:sldIdLst>
    <p:sldId xmlns:r="http://schemas.openxmlformats.org/officeDocument/2006/relationships" id="256" r:id="Rc3f63d03d72a4b24"/>
  </p:sldIdLst>
  <p:sldSz cx="14630400" cy="9753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8d91d6890f4f7a" /><Relationship Type="http://schemas.openxmlformats.org/officeDocument/2006/relationships/slideMaster" Target="/ppt/slideMasters/slideMaster1.xml" Id="R1d3165794d0c49aa" /><Relationship Type="http://schemas.openxmlformats.org/officeDocument/2006/relationships/notesMaster" Target="/ppt/notesMasters/notesMaster1.xml" Id="R0d27bd90fa2a4e39" /><Relationship Type="http://schemas.openxmlformats.org/officeDocument/2006/relationships/presProps" Target="/ppt/presProps.xml" Id="R5b88eb42d3944b46" /><Relationship Type="http://schemas.openxmlformats.org/officeDocument/2006/relationships/tableStyles" Target="/ppt/tableStyles.xml" Id="R90c8b78bf7574f24" /><Relationship Type="http://schemas.openxmlformats.org/officeDocument/2006/relationships/slide" Target="/ppt/slides/slide1.xml" Id="Rc3f63d03d72a4b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08b3efd4c74d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c961bb76c6404c" /><Relationship Type="http://schemas.openxmlformats.org/officeDocument/2006/relationships/notesMaster" Target="/ppt/notesMasters/notesMaster1.xml" Id="Rb5efaede88ee4d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396671c4342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e9281ff81a4d35" /><Relationship Type="http://schemas.openxmlformats.org/officeDocument/2006/relationships/slideLayout" Target="/ppt/slideLayouts/slideLayout1.xml" Id="Ra4ca3a2270cb4e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ca3a2270cb4e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9ff4831a24c7c" /><Relationship Type="http://schemas.openxmlformats.org/officeDocument/2006/relationships/image" Target="/ppt/media/image.png" Id="R434eaabf6ea64d7c" /><Relationship Type="http://schemas.openxmlformats.org/officeDocument/2006/relationships/image" Target="/ppt/media/image.svg" Id="Rea644ed39f5e40d8" /><Relationship Type="http://schemas.openxmlformats.org/officeDocument/2006/relationships/image" Target="/ppt/media/image2.png" Id="R22b98c76085c4fad" /><Relationship Type="http://schemas.openxmlformats.org/officeDocument/2006/relationships/image" Target="/ppt/media/image2.svg" Id="Rc9cb8c4221e64134" /><Relationship Type="http://schemas.openxmlformats.org/officeDocument/2006/relationships/image" Target="/ppt/media/image3.png" Id="R105bd9306c294fd0" /><Relationship Type="http://schemas.openxmlformats.org/officeDocument/2006/relationships/image" Target="/ppt/media/image3.svg" Id="R0967f9f9ce1d4146" /><Relationship Type="http://schemas.openxmlformats.org/officeDocument/2006/relationships/image" Target="/ppt/media/image4.png" Id="R4a52ef0b5a8e46e9" /><Relationship Type="http://schemas.openxmlformats.org/officeDocument/2006/relationships/image" Target="/ppt/media/image4.svg" Id="R75194e1cdd2c4799" /><Relationship Type="http://schemas.openxmlformats.org/officeDocument/2006/relationships/image" Target="/ppt/media/image5.png" Id="Rbda3d5b415514e15" /><Relationship Type="http://schemas.openxmlformats.org/officeDocument/2006/relationships/image" Target="/ppt/media/image5.svg" Id="Rced41225a33b4942" /><Relationship Type="http://schemas.openxmlformats.org/officeDocument/2006/relationships/image" Target="/ppt/media/image6.png" Id="R49b5eaee62214303" /><Relationship Type="http://schemas.openxmlformats.org/officeDocument/2006/relationships/image" Target="/ppt/media/image6.svg" Id="Rb094f214f074420c" /><Relationship Type="http://schemas.openxmlformats.org/officeDocument/2006/relationships/image" Target="/ppt/media/image7.png" Id="Rb5fe4ca765db4c06" /><Relationship Type="http://schemas.openxmlformats.org/officeDocument/2006/relationships/image" Target="/ppt/media/image7.svg" Id="Rfb704022039c4dca" /><Relationship Type="http://schemas.openxmlformats.org/officeDocument/2006/relationships/image" Target="/ppt/media/image8.png" Id="Rfbd075c29458427b" /><Relationship Type="http://schemas.openxmlformats.org/officeDocument/2006/relationships/image" Target="/ppt/media/image8.svg" Id="R4a4805e74f7b4723" /><Relationship Type="http://schemas.openxmlformats.org/officeDocument/2006/relationships/image" Target="/ppt/media/image9.png" Id="R0e8d1dc9328e484b" /><Relationship Type="http://schemas.openxmlformats.org/officeDocument/2006/relationships/image" Target="/ppt/media/image9.svg" Id="Rdb9ad6c3dadc43b8" /><Relationship Type="http://schemas.openxmlformats.org/officeDocument/2006/relationships/image" Target="/ppt/media/image10.png" Id="R6b9baea3145e4991" /><Relationship Type="http://schemas.openxmlformats.org/officeDocument/2006/relationships/image" Target="/ppt/media/image10.svg" Id="R6c73d232aa8f4a01" /><Relationship Type="http://schemas.openxmlformats.org/officeDocument/2006/relationships/image" Target="/ppt/media/image11.png" Id="R4790fddfec674ca9" /><Relationship Type="http://schemas.openxmlformats.org/officeDocument/2006/relationships/image" Target="/ppt/media/image11.svg" Id="Rb3b712ce65444eb8" /><Relationship Type="http://schemas.openxmlformats.org/officeDocument/2006/relationships/image" Target="/ppt/media/image12.png" Id="R34fc7c5b7ef842fa" /><Relationship Type="http://schemas.openxmlformats.org/officeDocument/2006/relationships/image" Target="/ppt/media/image12.svg" Id="Rda5ad74cf8a34a95" /><Relationship Type="http://schemas.openxmlformats.org/officeDocument/2006/relationships/notesSlide" Target="/ppt/notesSlides/notesSlide1.xml" Id="R2d9d40dd183b4a1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85F521A-F95E-4DB3-A711-A35C091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97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907F96-0020-48D8-B6DA-756D1B1C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28600"/>
            <a:ext cx="1381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61955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61955"/>
                </a:solidFill>
                <a:latin typeface="Aptos Display"/>
                <a:ea typeface="Aptos Display"/>
                <a:cs typeface="Aptos Display"/>
              </a:rPr>
              <a:t>Machine Learning Use Cases Across the Underwriting Lifecycle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B77CBB4-F00B-4B7E-84D2-A85029D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800100"/>
            <a:ext cx="10191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F05A00"/>
            </a:solidFill>
            <a:prstDash val="solid"/>
          </a:ln>
        </p:spPr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685ED7D-1D54-49C8-A9A9-9493490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000125"/>
            <a:ext cx="8667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Leveraging Submission, Broker, Exposure, Construction, Occupancy &amp; Claims Data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19AA5F72-4DD4-4DAB-9B1E-C9EE21E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19250"/>
            <a:ext cx="4591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D4DB8"/>
            </a:solidFill>
            <a:prstDash val="solid"/>
          </a:ln>
        </p:spPr>
      </p:sp>
      <p:sp>
        <p:nvSpPr>
          <p:cNvPr id="6" name="card-1-header">
            <a:extLst xmlns:a="http://schemas.openxmlformats.org/drawingml/2006/main">
              <a:ext uri="{FF2B5EF4-FFF2-40B4-BE49-F238E27FC236}">
                <a16:creationId xmlns:a16="http://schemas.microsoft.com/office/drawing/2014/main" id="{D157A663-CF09-4128-80EC-9FE95DC2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19250"/>
            <a:ext cx="4591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DB8"/>
          </a:solidFill>
          <a:ln xmlns:a="http://schemas.openxmlformats.org/drawingml/2006/main" w="0">
            <a:solidFill>
              <a:srgbClr val="0D4DB8"/>
            </a:solidFill>
            <a:prstDash val="solid"/>
          </a:ln>
        </p:spPr>
      </p:sp>
      <p:sp>
        <p:nvSpPr>
          <p:cNvPr id="7" name="card-1-icon-circle">
            <a:extLst xmlns:a="http://schemas.openxmlformats.org/drawingml/2006/main">
              <a:ext uri="{FF2B5EF4-FFF2-40B4-BE49-F238E27FC236}">
                <a16:creationId xmlns:a16="http://schemas.microsoft.com/office/drawing/2014/main" id="{A80C565D-8B7C-4383-AF30-67A2238A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504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D4DB8"/>
            </a:solidFill>
            <a:prstDash val="solid"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aabf6ea64d7c">
            <a:extLst>
              <a:ext uri="{96DAC541-7B7A-43D3-8B79-37D633B846F1}">
                <asvg:svgBlip xmlns:asvg="http://schemas.microsoft.com/office/drawing/2016/SVG/main" r:embed="Rea644ed39f5e40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17716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9" name="card-1-num-circle">
            <a:extLst xmlns:a="http://schemas.openxmlformats.org/drawingml/2006/main">
              <a:ext uri="{FF2B5EF4-FFF2-40B4-BE49-F238E27FC236}">
                <a16:creationId xmlns:a16="http://schemas.microsoft.com/office/drawing/2014/main" id="{1908D515-17BE-4A95-8D91-D9B26BF7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7526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D4DB8"/>
            </a:solidFill>
            <a:prstDash val="solid"/>
          </a:ln>
        </p:spPr>
      </p:sp>
      <p:sp>
        <p:nvSpPr>
          <p:cNvPr id="10" name="card-1-num">
            <a:extLst xmlns:a="http://schemas.openxmlformats.org/drawingml/2006/main">
              <a:ext uri="{FF2B5EF4-FFF2-40B4-BE49-F238E27FC236}">
                <a16:creationId xmlns:a16="http://schemas.microsoft.com/office/drawing/2014/main" id="{8C214BB3-C1CA-4A05-926A-985DA227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80975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1-title">
            <a:extLst xmlns:a="http://schemas.openxmlformats.org/drawingml/2006/main">
              <a:ext uri="{FF2B5EF4-FFF2-40B4-BE49-F238E27FC236}">
                <a16:creationId xmlns:a16="http://schemas.microsoft.com/office/drawing/2014/main" id="{5D8EE8BE-9154-4030-B695-21F2F15C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907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PREDICTIVE MODELING</a:t>
            </a:r>
          </a:p>
        </p:txBody>
      </p:sp>
      <p:sp>
        <p:nvSpPr>
          <p:cNvPr id="12" name="card-1-subtitle">
            <a:extLst xmlns:a="http://schemas.openxmlformats.org/drawingml/2006/main">
              <a:ext uri="{FF2B5EF4-FFF2-40B4-BE49-F238E27FC236}">
                <a16:creationId xmlns:a16="http://schemas.microsoft.com/office/drawing/2014/main" id="{9C863DB5-CC23-4F43-91EC-374D3552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66950"/>
            <a:ext cx="3162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 future underwriting outcomes</a:t>
            </a:r>
          </a:p>
        </p:txBody>
      </p:sp>
      <p:sp>
        <p:nvSpPr>
          <p:cNvPr id="13" name="card-1-left-dot-0">
            <a:extLst xmlns:a="http://schemas.openxmlformats.org/drawingml/2006/main">
              <a:ext uri="{FF2B5EF4-FFF2-40B4-BE49-F238E27FC236}">
                <a16:creationId xmlns:a16="http://schemas.microsoft.com/office/drawing/2014/main" id="{769BC622-B6E2-42AF-A610-2D15B61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card-1-left-bullet-0">
            <a:extLst xmlns:a="http://schemas.openxmlformats.org/drawingml/2006/main">
              <a:ext uri="{FF2B5EF4-FFF2-40B4-BE49-F238E27FC236}">
                <a16:creationId xmlns:a16="http://schemas.microsoft.com/office/drawing/2014/main" id="{EEEDB445-096E-44DB-9ADC-32231915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432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Bound Probability Prediction</a:t>
            </a:r>
          </a:p>
        </p:txBody>
      </p:sp>
      <p:sp>
        <p:nvSpPr>
          <p:cNvPr id="15" name="card-1-left-dot-1">
            <a:extLst xmlns:a="http://schemas.openxmlformats.org/drawingml/2006/main">
              <a:ext uri="{FF2B5EF4-FFF2-40B4-BE49-F238E27FC236}">
                <a16:creationId xmlns:a16="http://schemas.microsoft.com/office/drawing/2014/main" id="{8C16214E-25D7-43D7-9B2C-871FA2A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147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card-1-left-bullet-1">
            <a:extLst xmlns:a="http://schemas.openxmlformats.org/drawingml/2006/main">
              <a:ext uri="{FF2B5EF4-FFF2-40B4-BE49-F238E27FC236}">
                <a16:creationId xmlns:a16="http://schemas.microsoft.com/office/drawing/2014/main" id="{E0CC41BD-32D1-4BE5-B64C-58B06566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NTU Prediction</a:t>
            </a:r>
          </a:p>
        </p:txBody>
      </p:sp>
      <p:sp>
        <p:nvSpPr>
          <p:cNvPr id="17" name="card-1-left-dot-2">
            <a:extLst xmlns:a="http://schemas.openxmlformats.org/drawingml/2006/main">
              <a:ext uri="{FF2B5EF4-FFF2-40B4-BE49-F238E27FC236}">
                <a16:creationId xmlns:a16="http://schemas.microsoft.com/office/drawing/2014/main" id="{C8C5703B-592A-4E9A-84AF-15CFCD15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card-1-left-bullet-2">
            <a:extLst xmlns:a="http://schemas.openxmlformats.org/drawingml/2006/main">
              <a:ext uri="{FF2B5EF4-FFF2-40B4-BE49-F238E27FC236}">
                <a16:creationId xmlns:a16="http://schemas.microsoft.com/office/drawing/2014/main" id="{86CCC944-4C24-4B5C-9DF3-87E0E946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Probability Prediction</a:t>
            </a:r>
          </a:p>
        </p:txBody>
      </p:sp>
      <p:sp>
        <p:nvSpPr>
          <p:cNvPr id="19" name="card-1-left-dot-3">
            <a:extLst xmlns:a="http://schemas.openxmlformats.org/drawingml/2006/main">
              <a:ext uri="{FF2B5EF4-FFF2-40B4-BE49-F238E27FC236}">
                <a16:creationId xmlns:a16="http://schemas.microsoft.com/office/drawing/2014/main" id="{E2F53270-6404-4006-9CA3-40F05F62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card-1-left-bullet-3">
            <a:extLst xmlns:a="http://schemas.openxmlformats.org/drawingml/2006/main">
              <a:ext uri="{FF2B5EF4-FFF2-40B4-BE49-F238E27FC236}">
                <a16:creationId xmlns:a16="http://schemas.microsoft.com/office/drawing/2014/main" id="{4DE410F4-67FB-4B21-8A0D-2FE35A0A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Premium Prediction</a:t>
            </a:r>
          </a:p>
        </p:txBody>
      </p:sp>
      <p:sp>
        <p:nvSpPr>
          <p:cNvPr id="21" name="card-1-right-dot-0">
            <a:extLst xmlns:a="http://schemas.openxmlformats.org/drawingml/2006/main">
              <a:ext uri="{FF2B5EF4-FFF2-40B4-BE49-F238E27FC236}">
                <a16:creationId xmlns:a16="http://schemas.microsoft.com/office/drawing/2014/main" id="{2B6D8784-1291-4270-B91D-FB69F5A0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971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card-1-right-bullet-0">
            <a:extLst xmlns:a="http://schemas.openxmlformats.org/drawingml/2006/main">
              <a:ext uri="{FF2B5EF4-FFF2-40B4-BE49-F238E27FC236}">
                <a16:creationId xmlns:a16="http://schemas.microsoft.com/office/drawing/2014/main" id="{8487F62C-9692-4975-9142-EF0C1A84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432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Quote Conversion Prediction</a:t>
            </a:r>
          </a:p>
        </p:txBody>
      </p:sp>
      <p:sp>
        <p:nvSpPr>
          <p:cNvPr id="23" name="card-1-right-dot-1">
            <a:extLst xmlns:a="http://schemas.openxmlformats.org/drawingml/2006/main">
              <a:ext uri="{FF2B5EF4-FFF2-40B4-BE49-F238E27FC236}">
                <a16:creationId xmlns:a16="http://schemas.microsoft.com/office/drawing/2014/main" id="{12D54E20-2BEE-47EF-81B0-F5251B03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147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card-1-right-bullet-1">
            <a:extLst xmlns:a="http://schemas.openxmlformats.org/drawingml/2006/main">
              <a:ext uri="{FF2B5EF4-FFF2-40B4-BE49-F238E27FC236}">
                <a16:creationId xmlns:a16="http://schemas.microsoft.com/office/drawing/2014/main" id="{F57403F8-490A-4563-AC16-53A9E3CF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Revenue Forecasting</a:t>
            </a:r>
          </a:p>
        </p:txBody>
      </p:sp>
      <p:sp>
        <p:nvSpPr>
          <p:cNvPr id="25" name="card-1-right-dot-2">
            <a:extLst xmlns:a="http://schemas.openxmlformats.org/drawingml/2006/main">
              <a:ext uri="{FF2B5EF4-FFF2-40B4-BE49-F238E27FC236}">
                <a16:creationId xmlns:a16="http://schemas.microsoft.com/office/drawing/2014/main" id="{FEE4D30C-3558-4ED2-9F51-AA2A34E6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6576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card-1-right-bullet-2">
            <a:extLst xmlns:a="http://schemas.openxmlformats.org/drawingml/2006/main">
              <a:ext uri="{FF2B5EF4-FFF2-40B4-BE49-F238E27FC236}">
                <a16:creationId xmlns:a16="http://schemas.microsoft.com/office/drawing/2014/main" id="{364B1967-9C0E-476B-AC05-51F4E428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6290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Conversion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27" name="card-1-right-dot-3">
            <a:extLst xmlns:a="http://schemas.openxmlformats.org/drawingml/2006/main">
              <a:ext uri="{FF2B5EF4-FFF2-40B4-BE49-F238E27FC236}">
                <a16:creationId xmlns:a16="http://schemas.microsoft.com/office/drawing/2014/main" id="{C4905CED-9CAD-4D23-A751-E7F523B8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14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card-1-right-bullet-3">
            <a:extLst xmlns:a="http://schemas.openxmlformats.org/drawingml/2006/main">
              <a:ext uri="{FF2B5EF4-FFF2-40B4-BE49-F238E27FC236}">
                <a16:creationId xmlns:a16="http://schemas.microsoft.com/office/drawing/2014/main" id="{B7970509-0082-4942-AA15-A9423549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0862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Renewal Probability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29" name="card-1-output-box">
            <a:extLst xmlns:a="http://schemas.openxmlformats.org/drawingml/2006/main">
              <a:ext uri="{FF2B5EF4-FFF2-40B4-BE49-F238E27FC236}">
                <a16:creationId xmlns:a16="http://schemas.microsoft.com/office/drawing/2014/main" id="{6550F37F-A360-497B-AD7C-16D55913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67275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0D4DB8"/>
            </a:solidFill>
            <a:prstDash val="solid"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b98c76085c4fad">
            <a:extLst>
              <a:ext uri="{96DAC541-7B7A-43D3-8B79-37D633B846F1}">
                <asvg:svgBlip xmlns:asvg="http://schemas.microsoft.com/office/drawing/2016/SVG/main" r:embed="Rc9cb8c4221e641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50101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31" name="card-1-output-label">
            <a:extLst xmlns:a="http://schemas.openxmlformats.org/drawingml/2006/main">
              <a:ext uri="{FF2B5EF4-FFF2-40B4-BE49-F238E27FC236}">
                <a16:creationId xmlns:a16="http://schemas.microsoft.com/office/drawing/2014/main" id="{BF4BC494-CF94-46DD-8E5D-49ECBD75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577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OUTPUT:</a:t>
            </a:r>
          </a:p>
        </p:txBody>
      </p:sp>
      <p:sp>
        <p:nvSpPr>
          <p:cNvPr id="32" name="card-1-output-text">
            <a:extLst xmlns:a="http://schemas.openxmlformats.org/drawingml/2006/main">
              <a:ext uri="{FF2B5EF4-FFF2-40B4-BE49-F238E27FC236}">
                <a16:creationId xmlns:a16="http://schemas.microsoft.com/office/drawing/2014/main" id="{B3CCBAD8-0C6C-4B69-A153-93F2AD8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577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0D4DB8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0D4DB8"/>
                </a:solidFill>
                <a:latin typeface="Aptos"/>
                <a:ea typeface="Aptos"/>
                <a:cs typeface="Aptos"/>
              </a:rPr>
              <a:t>Probability Score / Risk Score</a:t>
            </a:r>
          </a:p>
        </p:txBody>
      </p:sp>
      <p:sp>
        <p:nvSpPr>
          <p:cNvPr id="33" name="card-2">
            <a:extLst xmlns:a="http://schemas.openxmlformats.org/drawingml/2006/main">
              <a:ext uri="{FF2B5EF4-FFF2-40B4-BE49-F238E27FC236}">
                <a16:creationId xmlns:a16="http://schemas.microsoft.com/office/drawing/2014/main" id="{A027A7D2-A674-4D20-AF4D-8B9A805B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4591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87E83"/>
            </a:solidFill>
            <a:prstDash val="solid"/>
          </a:ln>
        </p:spPr>
      </p:sp>
      <p:sp>
        <p:nvSpPr>
          <p:cNvPr id="34" name="card-2-header">
            <a:extLst xmlns:a="http://schemas.openxmlformats.org/drawingml/2006/main">
              <a:ext uri="{FF2B5EF4-FFF2-40B4-BE49-F238E27FC236}">
                <a16:creationId xmlns:a16="http://schemas.microsoft.com/office/drawing/2014/main" id="{C02B8E50-BCD6-424D-8E8D-151BD683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619250"/>
            <a:ext cx="4591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3"/>
          </a:solidFill>
          <a:ln xmlns:a="http://schemas.openxmlformats.org/drawingml/2006/main" w="0">
            <a:solidFill>
              <a:srgbClr val="087E83"/>
            </a:solidFill>
            <a:prstDash val="solid"/>
          </a:ln>
        </p:spPr>
      </p:sp>
      <p:sp>
        <p:nvSpPr>
          <p:cNvPr id="35" name="card-2-icon-circle">
            <a:extLst xmlns:a="http://schemas.openxmlformats.org/drawingml/2006/main">
              <a:ext uri="{FF2B5EF4-FFF2-40B4-BE49-F238E27FC236}">
                <a16:creationId xmlns:a16="http://schemas.microsoft.com/office/drawing/2014/main" id="{468EEF27-EA71-4FD6-842B-2B7E5E94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504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E83"/>
            </a:solidFill>
            <a:prstDash val="solid"/>
          </a:ln>
        </p:spPr>
      </p:sp>
      <p:pic>
        <p:nvPicPr>
          <p:cNvPr id="1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5bd9306c294fd0">
            <a:extLst>
              <a:ext uri="{96DAC541-7B7A-43D3-8B79-37D633B846F1}">
                <asvg:svgBlip xmlns:asvg="http://schemas.microsoft.com/office/drawing/2016/SVG/main" r:embed="R0967f9f9ce1d414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24475" y="17716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37" name="card-2-num-circle">
            <a:extLst xmlns:a="http://schemas.openxmlformats.org/drawingml/2006/main">
              <a:ext uri="{FF2B5EF4-FFF2-40B4-BE49-F238E27FC236}">
                <a16:creationId xmlns:a16="http://schemas.microsoft.com/office/drawing/2014/main" id="{0FDBE9A0-C2FE-4F5B-BDA8-591DAF1D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526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87E83"/>
            </a:solidFill>
            <a:prstDash val="solid"/>
          </a:ln>
        </p:spPr>
      </p:sp>
      <p:sp>
        <p:nvSpPr>
          <p:cNvPr id="38" name="card-2-num">
            <a:extLst xmlns:a="http://schemas.openxmlformats.org/drawingml/2006/main">
              <a:ext uri="{FF2B5EF4-FFF2-40B4-BE49-F238E27FC236}">
                <a16:creationId xmlns:a16="http://schemas.microsoft.com/office/drawing/2014/main" id="{C34B8F26-25CF-4460-BCFF-F4D2B398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0975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9" name="card-2-title">
            <a:extLst xmlns:a="http://schemas.openxmlformats.org/drawingml/2006/main">
              <a:ext uri="{FF2B5EF4-FFF2-40B4-BE49-F238E27FC236}">
                <a16:creationId xmlns:a16="http://schemas.microsoft.com/office/drawing/2014/main" id="{A3F3D0D6-7BC0-40F4-98A6-CF69CAE3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907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CLASSIFICATION &amp;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RISK SEGMENTATION</a:t>
            </a:r>
          </a:p>
        </p:txBody>
      </p:sp>
      <p:sp>
        <p:nvSpPr>
          <p:cNvPr id="40" name="card-2-subtitle">
            <a:extLst xmlns:a="http://schemas.openxmlformats.org/drawingml/2006/main">
              <a:ext uri="{FF2B5EF4-FFF2-40B4-BE49-F238E27FC236}">
                <a16:creationId xmlns:a16="http://schemas.microsoft.com/office/drawing/2014/main" id="{7BBAA722-7C48-49D1-B49A-2A4B3416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266950"/>
            <a:ext cx="3162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Categorize submissions into risk groups</a:t>
            </a:r>
          </a:p>
        </p:txBody>
      </p:sp>
      <p:sp>
        <p:nvSpPr>
          <p:cNvPr id="41" name="card-2-left-dot-0">
            <a:extLst xmlns:a="http://schemas.openxmlformats.org/drawingml/2006/main">
              <a:ext uri="{FF2B5EF4-FFF2-40B4-BE49-F238E27FC236}">
                <a16:creationId xmlns:a16="http://schemas.microsoft.com/office/drawing/2014/main" id="{F6E4EC9E-DAD9-4D11-AEC4-10E8C26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971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2" name="card-2-left-bullet-0">
            <a:extLst xmlns:a="http://schemas.openxmlformats.org/drawingml/2006/main">
              <a:ext uri="{FF2B5EF4-FFF2-40B4-BE49-F238E27FC236}">
                <a16:creationId xmlns:a16="http://schemas.microsoft.com/office/drawing/2014/main" id="{5588B4AE-ACBB-4D19-B631-7B664007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9432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NTU Reason Prediction</a:t>
            </a:r>
          </a:p>
        </p:txBody>
      </p:sp>
      <p:sp>
        <p:nvSpPr>
          <p:cNvPr id="43" name="card-2-left-dot-1">
            <a:extLst xmlns:a="http://schemas.openxmlformats.org/drawingml/2006/main">
              <a:ext uri="{FF2B5EF4-FFF2-40B4-BE49-F238E27FC236}">
                <a16:creationId xmlns:a16="http://schemas.microsoft.com/office/drawing/2014/main" id="{A655E89F-964C-4BFE-9F5B-6EEBCAF1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147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4" name="card-2-left-bullet-1">
            <a:extLst xmlns:a="http://schemas.openxmlformats.org/drawingml/2006/main">
              <a:ext uri="{FF2B5EF4-FFF2-40B4-BE49-F238E27FC236}">
                <a16:creationId xmlns:a16="http://schemas.microsoft.com/office/drawing/2014/main" id="{68C93795-5F49-4396-BDF9-446CC55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861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Reason Prediction</a:t>
            </a:r>
          </a:p>
        </p:txBody>
      </p:sp>
      <p:sp>
        <p:nvSpPr>
          <p:cNvPr id="45" name="card-2-left-dot-2">
            <a:extLst xmlns:a="http://schemas.openxmlformats.org/drawingml/2006/main">
              <a:ext uri="{FF2B5EF4-FFF2-40B4-BE49-F238E27FC236}">
                <a16:creationId xmlns:a16="http://schemas.microsoft.com/office/drawing/2014/main" id="{291A6078-8F5C-4407-9B3B-8876E10A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6576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6" name="card-2-left-bullet-2">
            <a:extLst xmlns:a="http://schemas.openxmlformats.org/drawingml/2006/main">
              <a:ext uri="{FF2B5EF4-FFF2-40B4-BE49-F238E27FC236}">
                <a16:creationId xmlns:a16="http://schemas.microsoft.com/office/drawing/2014/main" id="{D0B68224-7FA1-4216-881F-77622921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6290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Risk Appetite Classification</a:t>
            </a:r>
          </a:p>
        </p:txBody>
      </p:sp>
      <p:sp>
        <p:nvSpPr>
          <p:cNvPr id="47" name="card-2-left-dot-3">
            <a:extLst xmlns:a="http://schemas.openxmlformats.org/drawingml/2006/main">
              <a:ext uri="{FF2B5EF4-FFF2-40B4-BE49-F238E27FC236}">
                <a16:creationId xmlns:a16="http://schemas.microsoft.com/office/drawing/2014/main" id="{D6F0E0F9-DC13-4AA9-B0A5-95676501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005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8" name="card-2-left-bullet-3">
            <a:extLst xmlns:a="http://schemas.openxmlformats.org/drawingml/2006/main">
              <a:ext uri="{FF2B5EF4-FFF2-40B4-BE49-F238E27FC236}">
                <a16:creationId xmlns:a16="http://schemas.microsoft.com/office/drawing/2014/main" id="{2C2F0DD2-B0DC-4DD0-9B7A-5CBC2D07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719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Occupancy Risk Classification</a:t>
            </a:r>
          </a:p>
        </p:txBody>
      </p:sp>
      <p:sp>
        <p:nvSpPr>
          <p:cNvPr id="49" name="card-2-right-dot-0">
            <a:extLst xmlns:a="http://schemas.openxmlformats.org/drawingml/2006/main">
              <a:ext uri="{FF2B5EF4-FFF2-40B4-BE49-F238E27FC236}">
                <a16:creationId xmlns:a16="http://schemas.microsoft.com/office/drawing/2014/main" id="{888D5CCA-C033-481C-9004-F2EA211F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0" name="card-2-right-bullet-0">
            <a:extLst xmlns:a="http://schemas.openxmlformats.org/drawingml/2006/main">
              <a:ext uri="{FF2B5EF4-FFF2-40B4-BE49-F238E27FC236}">
                <a16:creationId xmlns:a16="http://schemas.microsoft.com/office/drawing/2014/main" id="{9FE4401C-AED3-4C2A-B41C-B1A2D8F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432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Construction Risk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51" name="card-2-right-dot-1">
            <a:extLst xmlns:a="http://schemas.openxmlformats.org/drawingml/2006/main">
              <a:ext uri="{FF2B5EF4-FFF2-40B4-BE49-F238E27FC236}">
                <a16:creationId xmlns:a16="http://schemas.microsoft.com/office/drawing/2014/main" id="{CDC77F88-E922-4C75-BA6C-2010CDB7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290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2" name="card-2-right-bullet-1">
            <a:extLst xmlns:a="http://schemas.openxmlformats.org/drawingml/2006/main">
              <a:ext uri="{FF2B5EF4-FFF2-40B4-BE49-F238E27FC236}">
                <a16:creationId xmlns:a16="http://schemas.microsoft.com/office/drawing/2014/main" id="{2E7D8EB8-FBB5-46DE-A937-91F488A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004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Exposure Risk Classification</a:t>
            </a:r>
          </a:p>
        </p:txBody>
      </p:sp>
      <p:sp>
        <p:nvSpPr>
          <p:cNvPr id="53" name="card-2-right-dot-2">
            <a:extLst xmlns:a="http://schemas.openxmlformats.org/drawingml/2006/main">
              <a:ext uri="{FF2B5EF4-FFF2-40B4-BE49-F238E27FC236}">
                <a16:creationId xmlns:a16="http://schemas.microsoft.com/office/drawing/2014/main" id="{8B51B90F-9BE8-4F02-8276-32210D5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4" name="card-2-right-bullet-2">
            <a:extLst xmlns:a="http://schemas.openxmlformats.org/drawingml/2006/main">
              <a:ext uri="{FF2B5EF4-FFF2-40B4-BE49-F238E27FC236}">
                <a16:creationId xmlns:a16="http://schemas.microsoft.com/office/drawing/2014/main" id="{EF4E6FD6-EB27-41B1-97EC-EDD4B7FB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433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Portfolio Risk Tiering</a:t>
            </a:r>
          </a:p>
        </p:txBody>
      </p:sp>
      <p:sp>
        <p:nvSpPr>
          <p:cNvPr id="55" name="card-2-right-dot-3">
            <a:extLst xmlns:a="http://schemas.openxmlformats.org/drawingml/2006/main">
              <a:ext uri="{FF2B5EF4-FFF2-40B4-BE49-F238E27FC236}">
                <a16:creationId xmlns:a16="http://schemas.microsoft.com/office/drawing/2014/main" id="{763B4078-D925-4E53-A29C-AFDB4C18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14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56" name="card-2-right-bullet-3">
            <a:extLst xmlns:a="http://schemas.openxmlformats.org/drawingml/2006/main">
              <a:ext uri="{FF2B5EF4-FFF2-40B4-BE49-F238E27FC236}">
                <a16:creationId xmlns:a16="http://schemas.microsoft.com/office/drawing/2014/main" id="{3EA6DC56-7B10-431C-BEA1-4FACBC79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862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Submission Complexity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57" name="card-2-output-box">
            <a:extLst xmlns:a="http://schemas.openxmlformats.org/drawingml/2006/main">
              <a:ext uri="{FF2B5EF4-FFF2-40B4-BE49-F238E27FC236}">
                <a16:creationId xmlns:a16="http://schemas.microsoft.com/office/drawing/2014/main" id="{47126C9F-BB22-4E79-9D05-4381CC5C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867275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087E83"/>
            </a:solidFill>
            <a:prstDash val="solid"/>
          </a:ln>
        </p:spPr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2ef0b5a8e46e9">
            <a:extLst>
              <a:ext uri="{96DAC541-7B7A-43D3-8B79-37D633B846F1}">
                <asvg:svgBlip xmlns:asvg="http://schemas.microsoft.com/office/drawing/2016/SVG/main" r:embed="R75194e1cdd2c47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43550" y="50101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59" name="card-2-output-label">
            <a:extLst xmlns:a="http://schemas.openxmlformats.org/drawingml/2006/main">
              <a:ext uri="{FF2B5EF4-FFF2-40B4-BE49-F238E27FC236}">
                <a16:creationId xmlns:a16="http://schemas.microsoft.com/office/drawing/2014/main" id="{CD36C84B-1FEF-435F-94C5-04694080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577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OUTPUT:</a:t>
            </a:r>
          </a:p>
        </p:txBody>
      </p:sp>
      <p:sp>
        <p:nvSpPr>
          <p:cNvPr id="60" name="card-2-output-text">
            <a:extLst xmlns:a="http://schemas.openxmlformats.org/drawingml/2006/main">
              <a:ext uri="{FF2B5EF4-FFF2-40B4-BE49-F238E27FC236}">
                <a16:creationId xmlns:a16="http://schemas.microsoft.com/office/drawing/2014/main" id="{3C53670F-857F-4598-8C26-7AFF8A3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577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087E83"/>
                </a:solidFill>
                <a:latin typeface="Aptos"/>
                <a:ea typeface="Aptos"/>
                <a:cs typeface="Aptos"/>
              </a:rPr>
              <a:t>Risk Category / Segment</a:t>
            </a:r>
          </a:p>
        </p:txBody>
      </p:sp>
      <p:sp>
        <p:nvSpPr>
          <p:cNvPr id="61" name="card-3">
            <a:extLst xmlns:a="http://schemas.openxmlformats.org/drawingml/2006/main">
              <a:ext uri="{FF2B5EF4-FFF2-40B4-BE49-F238E27FC236}">
                <a16:creationId xmlns:a16="http://schemas.microsoft.com/office/drawing/2014/main" id="{48E38BF9-D67B-4675-8280-0A79267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19250"/>
            <a:ext cx="4591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5C2A86"/>
            </a:solidFill>
            <a:prstDash val="solid"/>
          </a:ln>
        </p:spPr>
      </p:sp>
      <p:sp>
        <p:nvSpPr>
          <p:cNvPr id="62" name="card-3-header">
            <a:extLst xmlns:a="http://schemas.openxmlformats.org/drawingml/2006/main">
              <a:ext uri="{FF2B5EF4-FFF2-40B4-BE49-F238E27FC236}">
                <a16:creationId xmlns:a16="http://schemas.microsoft.com/office/drawing/2014/main" id="{CEAC516B-BE3A-4364-9661-551D811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19250"/>
            <a:ext cx="4591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2A86"/>
          </a:solidFill>
          <a:ln xmlns:a="http://schemas.openxmlformats.org/drawingml/2006/main" w="0">
            <a:solidFill>
              <a:srgbClr val="5C2A86"/>
            </a:solidFill>
            <a:prstDash val="solid"/>
          </a:ln>
        </p:spPr>
      </p:sp>
      <p:sp>
        <p:nvSpPr>
          <p:cNvPr id="63" name="card-3-icon-circle">
            <a:extLst xmlns:a="http://schemas.openxmlformats.org/drawingml/2006/main">
              <a:ext uri="{FF2B5EF4-FFF2-40B4-BE49-F238E27FC236}">
                <a16:creationId xmlns:a16="http://schemas.microsoft.com/office/drawing/2014/main" id="{C2AE923D-6E9F-40BA-BA17-688D923B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04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C2A86"/>
            </a:solidFill>
            <a:prstDash val="solid"/>
          </a:ln>
        </p:spPr>
      </p:sp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3d5b415514e15">
            <a:extLst>
              <a:ext uri="{96DAC541-7B7A-43D3-8B79-37D633B846F1}">
                <asvg:svgBlip xmlns:asvg="http://schemas.microsoft.com/office/drawing/2016/SVG/main" r:embed="Rced41225a33b49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1771650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65" name="card-3-num-circle">
            <a:extLst xmlns:a="http://schemas.openxmlformats.org/drawingml/2006/main">
              <a:ext uri="{FF2B5EF4-FFF2-40B4-BE49-F238E27FC236}">
                <a16:creationId xmlns:a16="http://schemas.microsoft.com/office/drawing/2014/main" id="{0E20D36E-93AB-4ECC-B28F-E611117F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52600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5C2A86"/>
            </a:solidFill>
            <a:prstDash val="solid"/>
          </a:ln>
        </p:spPr>
      </p:sp>
      <p:sp>
        <p:nvSpPr>
          <p:cNvPr id="66" name="card-3-num">
            <a:extLst xmlns:a="http://schemas.openxmlformats.org/drawingml/2006/main">
              <a:ext uri="{FF2B5EF4-FFF2-40B4-BE49-F238E27FC236}">
                <a16:creationId xmlns:a16="http://schemas.microsoft.com/office/drawing/2014/main" id="{1428E2F8-52EC-40A9-86AE-08722E2D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809750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7" name="card-3-title">
            <a:extLst xmlns:a="http://schemas.openxmlformats.org/drawingml/2006/main">
              <a:ext uri="{FF2B5EF4-FFF2-40B4-BE49-F238E27FC236}">
                <a16:creationId xmlns:a16="http://schemas.microsoft.com/office/drawing/2014/main" id="{ABA0284B-D046-42F7-9FF5-053C2768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7907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RECOMMENDATION &amp;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 INTELLIGENCE</a:t>
            </a:r>
          </a:p>
        </p:txBody>
      </p:sp>
      <p:sp>
        <p:nvSpPr>
          <p:cNvPr id="68" name="card-3-subtitle">
            <a:extLst xmlns:a="http://schemas.openxmlformats.org/drawingml/2006/main">
              <a:ext uri="{FF2B5EF4-FFF2-40B4-BE49-F238E27FC236}">
                <a16:creationId xmlns:a16="http://schemas.microsoft.com/office/drawing/2014/main" id="{531142BC-7002-48BE-8471-531C86D6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266950"/>
            <a:ext cx="3162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 optimal underwriting actions</a:t>
            </a:r>
          </a:p>
        </p:txBody>
      </p:sp>
      <p:sp>
        <p:nvSpPr>
          <p:cNvPr id="69" name="card-3-left-dot-0">
            <a:extLst xmlns:a="http://schemas.openxmlformats.org/drawingml/2006/main">
              <a:ext uri="{FF2B5EF4-FFF2-40B4-BE49-F238E27FC236}">
                <a16:creationId xmlns:a16="http://schemas.microsoft.com/office/drawing/2014/main" id="{FD3C99BE-AAC1-4639-9FC1-A7E66CAD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0" name="card-3-left-bullet-0">
            <a:extLst xmlns:a="http://schemas.openxmlformats.org/drawingml/2006/main">
              <a:ext uri="{FF2B5EF4-FFF2-40B4-BE49-F238E27FC236}">
                <a16:creationId xmlns:a16="http://schemas.microsoft.com/office/drawing/2014/main" id="{EBF99A19-A282-4041-9EC2-32C06DA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43225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Reconsideration Engine</a:t>
            </a:r>
          </a:p>
        </p:txBody>
      </p:sp>
      <p:sp>
        <p:nvSpPr>
          <p:cNvPr id="71" name="card-3-left-dot-1">
            <a:extLst xmlns:a="http://schemas.openxmlformats.org/drawingml/2006/main">
              <a:ext uri="{FF2B5EF4-FFF2-40B4-BE49-F238E27FC236}">
                <a16:creationId xmlns:a16="http://schemas.microsoft.com/office/drawing/2014/main" id="{5A493CEF-639C-4D36-B0FE-329103C6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147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2" name="card-3-left-bullet-1">
            <a:extLst xmlns:a="http://schemas.openxmlformats.org/drawingml/2006/main">
              <a:ext uri="{FF2B5EF4-FFF2-40B4-BE49-F238E27FC236}">
                <a16:creationId xmlns:a16="http://schemas.microsoft.com/office/drawing/2014/main" id="{DE37F71A-B58C-4003-BC63-4B3C7673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861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Next Best Action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3" name="card-3-left-dot-2">
            <a:extLst xmlns:a="http://schemas.openxmlformats.org/drawingml/2006/main">
              <a:ext uri="{FF2B5EF4-FFF2-40B4-BE49-F238E27FC236}">
                <a16:creationId xmlns:a16="http://schemas.microsoft.com/office/drawing/2014/main" id="{A0E6781C-2EB0-4F29-A95F-2004BB63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719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4" name="card-3-left-bullet-2">
            <a:extLst xmlns:a="http://schemas.openxmlformats.org/drawingml/2006/main">
              <a:ext uri="{FF2B5EF4-FFF2-40B4-BE49-F238E27FC236}">
                <a16:creationId xmlns:a16="http://schemas.microsoft.com/office/drawing/2014/main" id="{7FEA3F26-622E-44FD-8B27-7C63F8E1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433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Similar Bound Case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5" name="card-3-right-dot-0">
            <a:extLst xmlns:a="http://schemas.openxmlformats.org/drawingml/2006/main">
              <a:ext uri="{FF2B5EF4-FFF2-40B4-BE49-F238E27FC236}">
                <a16:creationId xmlns:a16="http://schemas.microsoft.com/office/drawing/2014/main" id="{0DDC4E3A-B2C3-441F-9ABC-45C9AE31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9718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6" name="card-3-right-bullet-0">
            <a:extLst xmlns:a="http://schemas.openxmlformats.org/drawingml/2006/main">
              <a:ext uri="{FF2B5EF4-FFF2-40B4-BE49-F238E27FC236}">
                <a16:creationId xmlns:a16="http://schemas.microsoft.com/office/drawing/2014/main" id="{00EE2F82-DF53-43D5-AC6F-00FF9156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9432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Underwriter Assignment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7" name="card-3-right-dot-1">
            <a:extLst xmlns:a="http://schemas.openxmlformats.org/drawingml/2006/main">
              <a:ext uri="{FF2B5EF4-FFF2-40B4-BE49-F238E27FC236}">
                <a16:creationId xmlns:a16="http://schemas.microsoft.com/office/drawing/2014/main" id="{503CC07A-1A42-483C-AC6C-56BD9AF2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4290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8" name="card-3-right-bullet-1">
            <a:extLst xmlns:a="http://schemas.openxmlformats.org/drawingml/2006/main">
              <a:ext uri="{FF2B5EF4-FFF2-40B4-BE49-F238E27FC236}">
                <a16:creationId xmlns:a16="http://schemas.microsoft.com/office/drawing/2014/main" id="{ADC03FEA-D2A5-4EFD-9709-6C0410A1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4004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Capacity Allocation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79" name="card-3-right-dot-2">
            <a:extLst xmlns:a="http://schemas.openxmlformats.org/drawingml/2006/main">
              <a:ext uri="{FF2B5EF4-FFF2-40B4-BE49-F238E27FC236}">
                <a16:creationId xmlns:a16="http://schemas.microsoft.com/office/drawing/2014/main" id="{729E91A9-4129-47ED-9AC8-10416043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88620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80" name="card-3-right-bullet-2">
            <a:extLst xmlns:a="http://schemas.openxmlformats.org/drawingml/2006/main">
              <a:ext uri="{FF2B5EF4-FFF2-40B4-BE49-F238E27FC236}">
                <a16:creationId xmlns:a16="http://schemas.microsoft.com/office/drawing/2014/main" id="{2D688747-04E8-4BA2-A33F-DE9E7E0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3857625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Pricing Guidance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81" name="card-3-output-box">
            <a:extLst xmlns:a="http://schemas.openxmlformats.org/drawingml/2006/main">
              <a:ext uri="{FF2B5EF4-FFF2-40B4-BE49-F238E27FC236}">
                <a16:creationId xmlns:a16="http://schemas.microsoft.com/office/drawing/2014/main" id="{ECE15C7E-050E-4B96-9DF4-7E08D6CB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67275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5C2A86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b5eaee62214303">
            <a:extLst>
              <a:ext uri="{96DAC541-7B7A-43D3-8B79-37D633B846F1}">
                <asvg:svgBlip xmlns:asvg="http://schemas.microsoft.com/office/drawing/2016/SVG/main" r:embed="Rb094f214f07442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01275" y="50101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83" name="card-3-output-label">
            <a:extLst xmlns:a="http://schemas.openxmlformats.org/drawingml/2006/main">
              <a:ext uri="{FF2B5EF4-FFF2-40B4-BE49-F238E27FC236}">
                <a16:creationId xmlns:a16="http://schemas.microsoft.com/office/drawing/2014/main" id="{D161D478-E69C-49C4-93BD-0BD70E20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0577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OUTPUT:</a:t>
            </a:r>
          </a:p>
        </p:txBody>
      </p:sp>
      <p:sp>
        <p:nvSpPr>
          <p:cNvPr id="84" name="card-3-output-text">
            <a:extLst xmlns:a="http://schemas.openxmlformats.org/drawingml/2006/main">
              <a:ext uri="{FF2B5EF4-FFF2-40B4-BE49-F238E27FC236}">
                <a16:creationId xmlns:a16="http://schemas.microsoft.com/office/drawing/2014/main" id="{50F2CFD1-226F-4015-9010-7617856B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577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5C2A86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5C2A86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85" name="card-4">
            <a:extLst xmlns:a="http://schemas.openxmlformats.org/drawingml/2006/main">
              <a:ext uri="{FF2B5EF4-FFF2-40B4-BE49-F238E27FC236}">
                <a16:creationId xmlns:a16="http://schemas.microsoft.com/office/drawing/2014/main" id="{47DB4B96-E63E-42DA-83F7-7CFFE662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57875"/>
            <a:ext cx="4591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F05A00"/>
            </a:solidFill>
            <a:prstDash val="solid"/>
          </a:ln>
        </p:spPr>
      </p:sp>
      <p:sp>
        <p:nvSpPr>
          <p:cNvPr id="86" name="card-4-header">
            <a:extLst xmlns:a="http://schemas.openxmlformats.org/drawingml/2006/main">
              <a:ext uri="{FF2B5EF4-FFF2-40B4-BE49-F238E27FC236}">
                <a16:creationId xmlns:a16="http://schemas.microsoft.com/office/drawing/2014/main" id="{760CA1C6-C17B-4A55-8CD8-458CA603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857875"/>
            <a:ext cx="4591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F05A00"/>
            </a:solidFill>
            <a:prstDash val="solid"/>
          </a:ln>
        </p:spPr>
      </p:sp>
      <p:sp>
        <p:nvSpPr>
          <p:cNvPr id="87" name="card-4-icon-circle">
            <a:extLst xmlns:a="http://schemas.openxmlformats.org/drawingml/2006/main">
              <a:ext uri="{FF2B5EF4-FFF2-40B4-BE49-F238E27FC236}">
                <a16:creationId xmlns:a16="http://schemas.microsoft.com/office/drawing/2014/main" id="{3283209E-A8FB-471C-AD1C-99CB3096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7435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e4ca765db4c06">
            <a:extLst>
              <a:ext uri="{96DAC541-7B7A-43D3-8B79-37D633B846F1}">
                <asvg:svgBlip xmlns:asvg="http://schemas.microsoft.com/office/drawing/2016/SVG/main" r:embed="Rfb704022039c4d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4350" y="60102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89" name="card-4-num-circle">
            <a:extLst xmlns:a="http://schemas.openxmlformats.org/drawingml/2006/main">
              <a:ext uri="{FF2B5EF4-FFF2-40B4-BE49-F238E27FC236}">
                <a16:creationId xmlns:a16="http://schemas.microsoft.com/office/drawing/2014/main" id="{30DA986D-169E-42B3-B9BB-89D7EE92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912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05A00"/>
            </a:solidFill>
            <a:prstDash val="solid"/>
          </a:ln>
        </p:spPr>
      </p:sp>
      <p:sp>
        <p:nvSpPr>
          <p:cNvPr id="90" name="card-4-num">
            <a:extLst xmlns:a="http://schemas.openxmlformats.org/drawingml/2006/main">
              <a:ext uri="{FF2B5EF4-FFF2-40B4-BE49-F238E27FC236}">
                <a16:creationId xmlns:a16="http://schemas.microsoft.com/office/drawing/2014/main" id="{8BF82642-D8A1-4568-9278-890C93F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48375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1" name="card-4-title">
            <a:extLst xmlns:a="http://schemas.openxmlformats.org/drawingml/2006/main">
              <a:ext uri="{FF2B5EF4-FFF2-40B4-BE49-F238E27FC236}">
                <a16:creationId xmlns:a16="http://schemas.microsoft.com/office/drawing/2014/main" id="{9E8A8F17-5670-4F17-A3A9-691B5A34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293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ANOMALY DETECTION &amp;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MONITORING</a:t>
            </a:r>
          </a:p>
        </p:txBody>
      </p:sp>
      <p:sp>
        <p:nvSpPr>
          <p:cNvPr id="92" name="card-4-subtitle">
            <a:extLst xmlns:a="http://schemas.openxmlformats.org/drawingml/2006/main">
              <a:ext uri="{FF2B5EF4-FFF2-40B4-BE49-F238E27FC236}">
                <a16:creationId xmlns:a16="http://schemas.microsoft.com/office/drawing/2014/main" id="{7D3640B1-F59C-48D6-A9EF-4E308C89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505575"/>
            <a:ext cx="3162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unusual submissions and patterns</a:t>
            </a:r>
          </a:p>
        </p:txBody>
      </p:sp>
      <p:sp>
        <p:nvSpPr>
          <p:cNvPr id="93" name="card-4-left-dot-0">
            <a:extLst xmlns:a="http://schemas.openxmlformats.org/drawingml/2006/main">
              <a:ext uri="{FF2B5EF4-FFF2-40B4-BE49-F238E27FC236}">
                <a16:creationId xmlns:a16="http://schemas.microsoft.com/office/drawing/2014/main" id="{EA329695-212D-4C57-9DF1-98DC1FB0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104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4" name="card-4-left-bullet-0">
            <a:extLst xmlns:a="http://schemas.openxmlformats.org/drawingml/2006/main">
              <a:ext uri="{FF2B5EF4-FFF2-40B4-BE49-F238E27FC236}">
                <a16:creationId xmlns:a16="http://schemas.microsoft.com/office/drawing/2014/main" id="{4E6AF60D-1BA6-4BBA-ABB7-BFAA2C42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818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Outlier Submission Detection</a:t>
            </a:r>
          </a:p>
        </p:txBody>
      </p:sp>
      <p:sp>
        <p:nvSpPr>
          <p:cNvPr id="95" name="card-4-left-dot-1">
            <a:extLst xmlns:a="http://schemas.openxmlformats.org/drawingml/2006/main">
              <a:ext uri="{FF2B5EF4-FFF2-40B4-BE49-F238E27FC236}">
                <a16:creationId xmlns:a16="http://schemas.microsoft.com/office/drawing/2014/main" id="{B2A812A7-B984-4740-9237-10C2761B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533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6" name="card-4-left-bullet-1">
            <a:extLst xmlns:a="http://schemas.openxmlformats.org/drawingml/2006/main">
              <a:ext uri="{FF2B5EF4-FFF2-40B4-BE49-F238E27FC236}">
                <a16:creationId xmlns:a16="http://schemas.microsoft.com/office/drawing/2014/main" id="{A268A05C-4F35-4B7F-A68C-84D66AE3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5247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Behaviour Monitoring</a:t>
            </a:r>
          </a:p>
        </p:txBody>
      </p:sp>
      <p:sp>
        <p:nvSpPr>
          <p:cNvPr id="97" name="card-4-left-dot-2">
            <a:extLst xmlns:a="http://schemas.openxmlformats.org/drawingml/2006/main">
              <a:ext uri="{FF2B5EF4-FFF2-40B4-BE49-F238E27FC236}">
                <a16:creationId xmlns:a16="http://schemas.microsoft.com/office/drawing/2014/main" id="{CA38E078-54CB-4401-805A-8BF7C03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962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8" name="card-4-left-bullet-2">
            <a:extLst xmlns:a="http://schemas.openxmlformats.org/drawingml/2006/main">
              <a:ext uri="{FF2B5EF4-FFF2-40B4-BE49-F238E27FC236}">
                <a16:creationId xmlns:a16="http://schemas.microsoft.com/office/drawing/2014/main" id="{0DFC3AB2-F661-45B6-A8CF-AA6C774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67650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Exposure Concentration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99" name="card-4-right-dot-0">
            <a:extLst xmlns:a="http://schemas.openxmlformats.org/drawingml/2006/main">
              <a:ext uri="{FF2B5EF4-FFF2-40B4-BE49-F238E27FC236}">
                <a16:creationId xmlns:a16="http://schemas.microsoft.com/office/drawing/2014/main" id="{DF16CF4F-BF4D-412E-A9EB-B71E2EE6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72104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0" name="card-4-right-bullet-0">
            <a:extLst xmlns:a="http://schemas.openxmlformats.org/drawingml/2006/main">
              <a:ext uri="{FF2B5EF4-FFF2-40B4-BE49-F238E27FC236}">
                <a16:creationId xmlns:a16="http://schemas.microsoft.com/office/drawing/2014/main" id="{D6326DB7-742E-466F-ADFB-E78A8DA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71818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Premium Leakage Detection</a:t>
            </a:r>
          </a:p>
        </p:txBody>
      </p:sp>
      <p:sp>
        <p:nvSpPr>
          <p:cNvPr id="101" name="card-4-right-dot-1">
            <a:extLst xmlns:a="http://schemas.openxmlformats.org/drawingml/2006/main">
              <a:ext uri="{FF2B5EF4-FFF2-40B4-BE49-F238E27FC236}">
                <a16:creationId xmlns:a16="http://schemas.microsoft.com/office/drawing/2014/main" id="{230977A0-94CE-424E-8E09-889C5A3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75533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2" name="card-4-right-bullet-1">
            <a:extLst xmlns:a="http://schemas.openxmlformats.org/drawingml/2006/main">
              <a:ext uri="{FF2B5EF4-FFF2-40B4-BE49-F238E27FC236}">
                <a16:creationId xmlns:a16="http://schemas.microsoft.com/office/drawing/2014/main" id="{04FB5655-8628-49A1-A9FF-6DFC8740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7524750"/>
            <a:ext cx="176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Data Quality Anomaly</a:t>
            </a:r>
          </a:p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03" name="card-4-right-dot-2">
            <a:extLst xmlns:a="http://schemas.openxmlformats.org/drawingml/2006/main">
              <a:ext uri="{FF2B5EF4-FFF2-40B4-BE49-F238E27FC236}">
                <a16:creationId xmlns:a16="http://schemas.microsoft.com/office/drawing/2014/main" id="{25D21E3D-7012-415A-B2A8-F4888ED0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8010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4" name="card-4-right-bullet-2">
            <a:extLst xmlns:a="http://schemas.openxmlformats.org/drawingml/2006/main">
              <a:ext uri="{FF2B5EF4-FFF2-40B4-BE49-F238E27FC236}">
                <a16:creationId xmlns:a16="http://schemas.microsoft.com/office/drawing/2014/main" id="{D1B6190A-6BB7-42E8-A730-7DB0FA82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79819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High-Risk Portfolio Alerts</a:t>
            </a:r>
          </a:p>
        </p:txBody>
      </p:sp>
      <p:sp>
        <p:nvSpPr>
          <p:cNvPr id="105" name="card-4-output-box">
            <a:extLst xmlns:a="http://schemas.openxmlformats.org/drawingml/2006/main">
              <a:ext uri="{FF2B5EF4-FFF2-40B4-BE49-F238E27FC236}">
                <a16:creationId xmlns:a16="http://schemas.microsoft.com/office/drawing/2014/main" id="{61C264CF-5F4C-4ED7-97FB-DDED0D73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486775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F05A00"/>
            </a:solidFill>
            <a:prstDash val="solid"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075c29458427b">
            <a:extLst>
              <a:ext uri="{96DAC541-7B7A-43D3-8B79-37D633B846F1}">
                <asvg:svgBlip xmlns:asvg="http://schemas.microsoft.com/office/drawing/2016/SVG/main" r:embed="R4a4805e74f7b47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" y="86296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07" name="card-4-output-label">
            <a:extLst xmlns:a="http://schemas.openxmlformats.org/drawingml/2006/main">
              <a:ext uri="{FF2B5EF4-FFF2-40B4-BE49-F238E27FC236}">
                <a16:creationId xmlns:a16="http://schemas.microsoft.com/office/drawing/2014/main" id="{279770C0-9E01-416B-936F-79157CF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772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OUTPUT:</a:t>
            </a:r>
          </a:p>
        </p:txBody>
      </p:sp>
      <p:sp>
        <p:nvSpPr>
          <p:cNvPr id="108" name="card-4-output-text">
            <a:extLst xmlns:a="http://schemas.openxmlformats.org/drawingml/2006/main">
              <a:ext uri="{FF2B5EF4-FFF2-40B4-BE49-F238E27FC236}">
                <a16:creationId xmlns:a16="http://schemas.microsoft.com/office/drawing/2014/main" id="{0E677C56-79FA-44AB-AB4E-ED93A27C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6772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F05A00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F05A00"/>
                </a:solidFill>
                <a:latin typeface="Aptos"/>
                <a:ea typeface="Aptos"/>
                <a:cs typeface="Aptos"/>
              </a:rPr>
              <a:t>Alert / Exception Flag</a:t>
            </a:r>
          </a:p>
        </p:txBody>
      </p:sp>
      <p:sp>
        <p:nvSpPr>
          <p:cNvPr id="109" name="card-5">
            <a:extLst xmlns:a="http://schemas.openxmlformats.org/drawingml/2006/main">
              <a:ext uri="{FF2B5EF4-FFF2-40B4-BE49-F238E27FC236}">
                <a16:creationId xmlns:a16="http://schemas.microsoft.com/office/drawing/2014/main" id="{92AC12CB-EFDB-43E4-84FB-AEB8B43B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857875"/>
            <a:ext cx="4591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82D63"/>
            </a:solidFill>
            <a:prstDash val="solid"/>
          </a:ln>
        </p:spPr>
      </p:sp>
      <p:sp>
        <p:nvSpPr>
          <p:cNvPr id="110" name="card-5-header">
            <a:extLst xmlns:a="http://schemas.openxmlformats.org/drawingml/2006/main">
              <a:ext uri="{FF2B5EF4-FFF2-40B4-BE49-F238E27FC236}">
                <a16:creationId xmlns:a16="http://schemas.microsoft.com/office/drawing/2014/main" id="{90A6A953-9AC9-46CE-9500-10EE0E62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857875"/>
            <a:ext cx="4591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D63"/>
          </a:solidFill>
          <a:ln xmlns:a="http://schemas.openxmlformats.org/drawingml/2006/main" w="0">
            <a:solidFill>
              <a:srgbClr val="082D63"/>
            </a:solidFill>
            <a:prstDash val="solid"/>
          </a:ln>
        </p:spPr>
      </p:sp>
      <p:sp>
        <p:nvSpPr>
          <p:cNvPr id="111" name="card-5-icon-circle">
            <a:extLst xmlns:a="http://schemas.openxmlformats.org/drawingml/2006/main">
              <a:ext uri="{FF2B5EF4-FFF2-40B4-BE49-F238E27FC236}">
                <a16:creationId xmlns:a16="http://schemas.microsoft.com/office/drawing/2014/main" id="{F02A38DC-CAC4-4317-B85B-9BB191B4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7435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2D63"/>
            </a:solidFill>
            <a:prstDash val="solid"/>
          </a:ln>
        </p:spPr>
      </p:sp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d1dc9328e484b">
            <a:extLst>
              <a:ext uri="{96DAC541-7B7A-43D3-8B79-37D633B846F1}">
                <asvg:svgBlip xmlns:asvg="http://schemas.microsoft.com/office/drawing/2016/SVG/main" r:embed="Rdb9ad6c3dadc43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324475" y="60102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113" name="card-5-num-circle">
            <a:extLst xmlns:a="http://schemas.openxmlformats.org/drawingml/2006/main">
              <a:ext uri="{FF2B5EF4-FFF2-40B4-BE49-F238E27FC236}">
                <a16:creationId xmlns:a16="http://schemas.microsoft.com/office/drawing/2014/main" id="{2C023E51-BF56-4497-9E0B-566CFE9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9912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82D63"/>
            </a:solidFill>
            <a:prstDash val="solid"/>
          </a:ln>
        </p:spPr>
      </p:sp>
      <p:sp>
        <p:nvSpPr>
          <p:cNvPr id="114" name="card-5-num">
            <a:extLst xmlns:a="http://schemas.openxmlformats.org/drawingml/2006/main">
              <a:ext uri="{FF2B5EF4-FFF2-40B4-BE49-F238E27FC236}">
                <a16:creationId xmlns:a16="http://schemas.microsoft.com/office/drawing/2014/main" id="{8D0F5EE9-EE07-4474-B34E-BD850DC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048375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15" name="card-5-title">
            <a:extLst xmlns:a="http://schemas.openxmlformats.org/drawingml/2006/main">
              <a:ext uri="{FF2B5EF4-FFF2-40B4-BE49-F238E27FC236}">
                <a16:creationId xmlns:a16="http://schemas.microsoft.com/office/drawing/2014/main" id="{AA1E400B-FD57-44B4-836F-8B1AD434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0293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GENERATIVE AI &amp;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EXPLAINABILITY</a:t>
            </a:r>
          </a:p>
        </p:txBody>
      </p:sp>
      <p:sp>
        <p:nvSpPr>
          <p:cNvPr id="116" name="card-5-subtitle">
            <a:extLst xmlns:a="http://schemas.openxmlformats.org/drawingml/2006/main">
              <a:ext uri="{FF2B5EF4-FFF2-40B4-BE49-F238E27FC236}">
                <a16:creationId xmlns:a16="http://schemas.microsoft.com/office/drawing/2014/main" id="{05C7F272-AFBE-46AC-AA44-6794C8BB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6505575"/>
            <a:ext cx="3162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 business explanations and insights</a:t>
            </a:r>
          </a:p>
        </p:txBody>
      </p:sp>
      <p:sp>
        <p:nvSpPr>
          <p:cNvPr id="117" name="card-5-left-dot-0">
            <a:extLst xmlns:a="http://schemas.openxmlformats.org/drawingml/2006/main">
              <a:ext uri="{FF2B5EF4-FFF2-40B4-BE49-F238E27FC236}">
                <a16:creationId xmlns:a16="http://schemas.microsoft.com/office/drawing/2014/main" id="{E33ABB59-40D3-4F87-A834-75225F86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2104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8" name="card-5-left-bullet-0">
            <a:extLst xmlns:a="http://schemas.openxmlformats.org/drawingml/2006/main">
              <a:ext uri="{FF2B5EF4-FFF2-40B4-BE49-F238E27FC236}">
                <a16:creationId xmlns:a16="http://schemas.microsoft.com/office/drawing/2014/main" id="{47238C96-CDE5-4590-98E8-C71EA0CE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71818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Submission Evidence Summary</a:t>
            </a:r>
          </a:p>
        </p:txBody>
      </p:sp>
      <p:sp>
        <p:nvSpPr>
          <p:cNvPr id="119" name="card-5-left-dot-1">
            <a:extLst xmlns:a="http://schemas.openxmlformats.org/drawingml/2006/main">
              <a:ext uri="{FF2B5EF4-FFF2-40B4-BE49-F238E27FC236}">
                <a16:creationId xmlns:a16="http://schemas.microsoft.com/office/drawing/2014/main" id="{ADE86B1D-F77E-4E6D-A76E-5252BC42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5533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0" name="card-5-left-bullet-1">
            <a:extLst xmlns:a="http://schemas.openxmlformats.org/drawingml/2006/main">
              <a:ext uri="{FF2B5EF4-FFF2-40B4-BE49-F238E27FC236}">
                <a16:creationId xmlns:a16="http://schemas.microsoft.com/office/drawing/2014/main" id="{176CB924-B7B5-4C49-8897-E63197BE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75247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Bound Probability Reasoning</a:t>
            </a:r>
          </a:p>
        </p:txBody>
      </p:sp>
      <p:sp>
        <p:nvSpPr>
          <p:cNvPr id="121" name="card-5-left-dot-2">
            <a:extLst xmlns:a="http://schemas.openxmlformats.org/drawingml/2006/main">
              <a:ext uri="{FF2B5EF4-FFF2-40B4-BE49-F238E27FC236}">
                <a16:creationId xmlns:a16="http://schemas.microsoft.com/office/drawing/2014/main" id="{7574204C-CBF6-498B-A2F1-69341006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8962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2" name="card-5-left-bullet-2">
            <a:extLst xmlns:a="http://schemas.openxmlformats.org/drawingml/2006/main">
              <a:ext uri="{FF2B5EF4-FFF2-40B4-BE49-F238E27FC236}">
                <a16:creationId xmlns:a16="http://schemas.microsoft.com/office/drawing/2014/main" id="{355DD724-A205-42E4-92F2-0E70B8D7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78676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Decline Explanation Generator</a:t>
            </a:r>
          </a:p>
        </p:txBody>
      </p:sp>
      <p:sp>
        <p:nvSpPr>
          <p:cNvPr id="123" name="card-5-right-dot-0">
            <a:extLst xmlns:a="http://schemas.openxmlformats.org/drawingml/2006/main">
              <a:ext uri="{FF2B5EF4-FFF2-40B4-BE49-F238E27FC236}">
                <a16:creationId xmlns:a16="http://schemas.microsoft.com/office/drawing/2014/main" id="{9D382DA2-C3FE-45A3-B4B0-D3F56A7B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2104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4" name="card-5-right-bullet-0">
            <a:extLst xmlns:a="http://schemas.openxmlformats.org/drawingml/2006/main">
              <a:ext uri="{FF2B5EF4-FFF2-40B4-BE49-F238E27FC236}">
                <a16:creationId xmlns:a16="http://schemas.microsoft.com/office/drawing/2014/main" id="{920E8CC2-C0DD-4FED-B13B-890D25E0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1818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Performance Summary</a:t>
            </a:r>
          </a:p>
        </p:txBody>
      </p:sp>
      <p:sp>
        <p:nvSpPr>
          <p:cNvPr id="125" name="card-5-right-dot-1">
            <a:extLst xmlns:a="http://schemas.openxmlformats.org/drawingml/2006/main">
              <a:ext uri="{FF2B5EF4-FFF2-40B4-BE49-F238E27FC236}">
                <a16:creationId xmlns:a16="http://schemas.microsoft.com/office/drawing/2014/main" id="{2CF9CAC2-9E68-4B42-B132-90940983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5533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6" name="card-5-right-bullet-1">
            <a:extLst xmlns:a="http://schemas.openxmlformats.org/drawingml/2006/main">
              <a:ext uri="{FF2B5EF4-FFF2-40B4-BE49-F238E27FC236}">
                <a16:creationId xmlns:a16="http://schemas.microsoft.com/office/drawing/2014/main" id="{CD7146A8-D6CF-4B07-BCA6-A77A0B2C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5247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Portfolio Risk Summary</a:t>
            </a:r>
          </a:p>
        </p:txBody>
      </p:sp>
      <p:sp>
        <p:nvSpPr>
          <p:cNvPr id="127" name="card-5-right-dot-2">
            <a:extLst xmlns:a="http://schemas.openxmlformats.org/drawingml/2006/main">
              <a:ext uri="{FF2B5EF4-FFF2-40B4-BE49-F238E27FC236}">
                <a16:creationId xmlns:a16="http://schemas.microsoft.com/office/drawing/2014/main" id="{1314F0A2-C6A2-4826-AE92-E724AE2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78962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8" name="card-5-right-bullet-2">
            <a:extLst xmlns:a="http://schemas.openxmlformats.org/drawingml/2006/main">
              <a:ext uri="{FF2B5EF4-FFF2-40B4-BE49-F238E27FC236}">
                <a16:creationId xmlns:a16="http://schemas.microsoft.com/office/drawing/2014/main" id="{03FCE303-A4DE-4DDA-BF98-54B6B3AD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8676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Underwriter Copilot</a:t>
            </a:r>
          </a:p>
        </p:txBody>
      </p:sp>
      <p:sp>
        <p:nvSpPr>
          <p:cNvPr id="129" name="card-5-output-box">
            <a:extLst xmlns:a="http://schemas.openxmlformats.org/drawingml/2006/main">
              <a:ext uri="{FF2B5EF4-FFF2-40B4-BE49-F238E27FC236}">
                <a16:creationId xmlns:a16="http://schemas.microsoft.com/office/drawing/2014/main" id="{D2144944-233B-4513-BFBD-71CAACB6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8486775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082D63"/>
            </a:solidFill>
            <a:prstDash val="solid"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baea3145e4991">
            <a:extLst>
              <a:ext uri="{96DAC541-7B7A-43D3-8B79-37D633B846F1}">
                <asvg:svgBlip xmlns:asvg="http://schemas.microsoft.com/office/drawing/2016/SVG/main" r:embed="R6c73d232aa8f4a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43550" y="86296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31" name="card-5-output-label">
            <a:extLst xmlns:a="http://schemas.openxmlformats.org/drawingml/2006/main">
              <a:ext uri="{FF2B5EF4-FFF2-40B4-BE49-F238E27FC236}">
                <a16:creationId xmlns:a16="http://schemas.microsoft.com/office/drawing/2014/main" id="{5D58E797-229E-43F0-9982-4B597DF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86772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OUTPUT:</a:t>
            </a:r>
          </a:p>
        </p:txBody>
      </p:sp>
      <p:sp>
        <p:nvSpPr>
          <p:cNvPr id="132" name="card-5-output-text">
            <a:extLst xmlns:a="http://schemas.openxmlformats.org/drawingml/2006/main">
              <a:ext uri="{FF2B5EF4-FFF2-40B4-BE49-F238E27FC236}">
                <a16:creationId xmlns:a16="http://schemas.microsoft.com/office/drawing/2014/main" id="{FDC6B239-06AD-4B50-85C0-E83B4A09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86772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082D6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082D63"/>
                </a:solidFill>
                <a:latin typeface="Aptos"/>
                <a:ea typeface="Aptos"/>
                <a:cs typeface="Aptos"/>
              </a:rPr>
              <a:t>Natural Language Insights</a:t>
            </a:r>
          </a:p>
        </p:txBody>
      </p:sp>
      <p:sp>
        <p:nvSpPr>
          <p:cNvPr id="133" name="card-6">
            <a:extLst xmlns:a="http://schemas.openxmlformats.org/drawingml/2006/main">
              <a:ext uri="{FF2B5EF4-FFF2-40B4-BE49-F238E27FC236}">
                <a16:creationId xmlns:a16="http://schemas.microsoft.com/office/drawing/2014/main" id="{D31630D3-F920-462F-BA52-43BE9122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857875"/>
            <a:ext cx="45910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66B2A"/>
            </a:solidFill>
            <a:prstDash val="solid"/>
          </a:ln>
        </p:spPr>
      </p:sp>
      <p:sp>
        <p:nvSpPr>
          <p:cNvPr id="134" name="card-6-header">
            <a:extLst xmlns:a="http://schemas.openxmlformats.org/drawingml/2006/main">
              <a:ext uri="{FF2B5EF4-FFF2-40B4-BE49-F238E27FC236}">
                <a16:creationId xmlns:a16="http://schemas.microsoft.com/office/drawing/2014/main" id="{9AC314DF-CA01-458A-A4F1-093ECEFC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857875"/>
            <a:ext cx="45910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B2A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35" name="card-6-icon-circle">
            <a:extLst xmlns:a="http://schemas.openxmlformats.org/drawingml/2006/main">
              <a:ext uri="{FF2B5EF4-FFF2-40B4-BE49-F238E27FC236}">
                <a16:creationId xmlns:a16="http://schemas.microsoft.com/office/drawing/2014/main" id="{4AECD334-F92B-4C67-87FE-A9F31309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74357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6B2A"/>
            </a:solidFill>
            <a:prstDash val="solid"/>
          </a:ln>
        </p:spPr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90fddfec674ca9">
            <a:extLst>
              <a:ext uri="{96DAC541-7B7A-43D3-8B79-37D633B846F1}">
                <asvg:svgBlip xmlns:asvg="http://schemas.microsoft.com/office/drawing/2016/SVG/main" r:embed="Rb3b712ce65444eb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82200" y="6010275"/>
            <a:ext cx="476250" cy="476250"/>
          </a:xfrm>
          <a:prstGeom xmlns:a="http://schemas.openxmlformats.org/drawingml/2006/main" prst="rect">
            <a:avLst/>
          </a:prstGeom>
        </p:spPr>
      </p:pic>
      <p:sp>
        <p:nvSpPr>
          <p:cNvPr id="137" name="card-6-num-circle">
            <a:extLst xmlns:a="http://schemas.openxmlformats.org/drawingml/2006/main">
              <a:ext uri="{FF2B5EF4-FFF2-40B4-BE49-F238E27FC236}">
                <a16:creationId xmlns:a16="http://schemas.microsoft.com/office/drawing/2014/main" id="{CAA4DD0A-7374-4227-9474-153F96E1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991225"/>
            <a:ext cx="333375" cy="333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166B2A"/>
            </a:solidFill>
            <a:prstDash val="solid"/>
          </a:ln>
        </p:spPr>
      </p:sp>
      <p:sp>
        <p:nvSpPr>
          <p:cNvPr id="138" name="card-6-num">
            <a:extLst xmlns:a="http://schemas.openxmlformats.org/drawingml/2006/main">
              <a:ext uri="{FF2B5EF4-FFF2-40B4-BE49-F238E27FC236}">
                <a16:creationId xmlns:a16="http://schemas.microsoft.com/office/drawing/2014/main" id="{81FDB2EB-032C-4B97-9EB5-B000CED9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048375"/>
            <a:ext cx="3333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39" name="card-6-title">
            <a:extLst xmlns:a="http://schemas.openxmlformats.org/drawingml/2006/main">
              <a:ext uri="{FF2B5EF4-FFF2-40B4-BE49-F238E27FC236}">
                <a16:creationId xmlns:a16="http://schemas.microsoft.com/office/drawing/2014/main" id="{D8BF61EF-237E-4B5F-AADF-D92F0701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029325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CLUSTERING &amp;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SIMILARITY ANALYTICS</a:t>
            </a:r>
          </a:p>
        </p:txBody>
      </p:sp>
      <p:sp>
        <p:nvSpPr>
          <p:cNvPr id="140" name="card-6-subtitle">
            <a:extLst xmlns:a="http://schemas.openxmlformats.org/drawingml/2006/main">
              <a:ext uri="{FF2B5EF4-FFF2-40B4-BE49-F238E27FC236}">
                <a16:creationId xmlns:a16="http://schemas.microsoft.com/office/drawing/2014/main" id="{E33B24BF-2A5F-48EC-A8C6-79061703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05575"/>
            <a:ext cx="31623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similar submissions automatically</a:t>
            </a:r>
          </a:p>
        </p:txBody>
      </p:sp>
      <p:sp>
        <p:nvSpPr>
          <p:cNvPr id="141" name="card-6-left-dot-0">
            <a:extLst xmlns:a="http://schemas.openxmlformats.org/drawingml/2006/main">
              <a:ext uri="{FF2B5EF4-FFF2-40B4-BE49-F238E27FC236}">
                <a16:creationId xmlns:a16="http://schemas.microsoft.com/office/drawing/2014/main" id="{A7756E59-DC07-4B9A-A174-B99533ED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2104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2" name="card-6-left-bullet-0">
            <a:extLst xmlns:a="http://schemas.openxmlformats.org/drawingml/2006/main">
              <a:ext uri="{FF2B5EF4-FFF2-40B4-BE49-F238E27FC236}">
                <a16:creationId xmlns:a16="http://schemas.microsoft.com/office/drawing/2014/main" id="{B381AE45-B6A5-44A9-AB9F-A9DC22F4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818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Similar Submission Finder</a:t>
            </a:r>
          </a:p>
        </p:txBody>
      </p:sp>
      <p:sp>
        <p:nvSpPr>
          <p:cNvPr id="143" name="card-6-left-dot-1">
            <a:extLst xmlns:a="http://schemas.openxmlformats.org/drawingml/2006/main">
              <a:ext uri="{FF2B5EF4-FFF2-40B4-BE49-F238E27FC236}">
                <a16:creationId xmlns:a16="http://schemas.microsoft.com/office/drawing/2014/main" id="{7B7D528A-BD57-4A5A-A779-2E5952A3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5533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4" name="card-6-left-bullet-1">
            <a:extLst xmlns:a="http://schemas.openxmlformats.org/drawingml/2006/main">
              <a:ext uri="{FF2B5EF4-FFF2-40B4-BE49-F238E27FC236}">
                <a16:creationId xmlns:a16="http://schemas.microsoft.com/office/drawing/2014/main" id="{60CC81A1-4911-47B5-96F5-27B4CE6D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5247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Broker Segmentation</a:t>
            </a:r>
          </a:p>
        </p:txBody>
      </p:sp>
      <p:sp>
        <p:nvSpPr>
          <p:cNvPr id="145" name="card-6-left-dot-2">
            <a:extLst xmlns:a="http://schemas.openxmlformats.org/drawingml/2006/main">
              <a:ext uri="{FF2B5EF4-FFF2-40B4-BE49-F238E27FC236}">
                <a16:creationId xmlns:a16="http://schemas.microsoft.com/office/drawing/2014/main" id="{1B6B6E9E-CAF8-441B-B720-B2E9575F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78962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6" name="card-6-left-bullet-2">
            <a:extLst xmlns:a="http://schemas.openxmlformats.org/drawingml/2006/main">
              <a:ext uri="{FF2B5EF4-FFF2-40B4-BE49-F238E27FC236}">
                <a16:creationId xmlns:a16="http://schemas.microsoft.com/office/drawing/2014/main" id="{1B695A54-0565-4FA7-91A2-A6A5098C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8676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Occupancy Segmentation</a:t>
            </a:r>
          </a:p>
        </p:txBody>
      </p:sp>
      <p:sp>
        <p:nvSpPr>
          <p:cNvPr id="147" name="card-6-right-dot-0">
            <a:extLst xmlns:a="http://schemas.openxmlformats.org/drawingml/2006/main">
              <a:ext uri="{FF2B5EF4-FFF2-40B4-BE49-F238E27FC236}">
                <a16:creationId xmlns:a16="http://schemas.microsoft.com/office/drawing/2014/main" id="{6B1894F5-05F0-42E5-BDA0-F04092F4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72104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8" name="card-6-right-bullet-0">
            <a:extLst xmlns:a="http://schemas.openxmlformats.org/drawingml/2006/main">
              <a:ext uri="{FF2B5EF4-FFF2-40B4-BE49-F238E27FC236}">
                <a16:creationId xmlns:a16="http://schemas.microsoft.com/office/drawing/2014/main" id="{7522E5D0-2B76-4A2A-A9C9-B9AD4583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1818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Construction Clustering</a:t>
            </a:r>
          </a:p>
        </p:txBody>
      </p:sp>
      <p:sp>
        <p:nvSpPr>
          <p:cNvPr id="149" name="card-6-right-dot-1">
            <a:extLst xmlns:a="http://schemas.openxmlformats.org/drawingml/2006/main">
              <a:ext uri="{FF2B5EF4-FFF2-40B4-BE49-F238E27FC236}">
                <a16:creationId xmlns:a16="http://schemas.microsoft.com/office/drawing/2014/main" id="{B54809B8-4BAF-4CA9-8CCF-05BB83C0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75533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0" name="card-6-right-bullet-1">
            <a:extLst xmlns:a="http://schemas.openxmlformats.org/drawingml/2006/main">
              <a:ext uri="{FF2B5EF4-FFF2-40B4-BE49-F238E27FC236}">
                <a16:creationId xmlns:a16="http://schemas.microsoft.com/office/drawing/2014/main" id="{A1FE5D59-9860-48EE-8DA3-8778FD6A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5247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Risk Profile Clustering</a:t>
            </a:r>
          </a:p>
        </p:txBody>
      </p:sp>
      <p:sp>
        <p:nvSpPr>
          <p:cNvPr id="151" name="card-6-right-dot-2">
            <a:extLst xmlns:a="http://schemas.openxmlformats.org/drawingml/2006/main">
              <a:ext uri="{FF2B5EF4-FFF2-40B4-BE49-F238E27FC236}">
                <a16:creationId xmlns:a16="http://schemas.microsoft.com/office/drawing/2014/main" id="{7AC9AE3D-CA71-418F-AC9D-A5E298AA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78962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2" name="card-6-right-bullet-2">
            <a:extLst xmlns:a="http://schemas.openxmlformats.org/drawingml/2006/main">
              <a:ext uri="{FF2B5EF4-FFF2-40B4-BE49-F238E27FC236}">
                <a16:creationId xmlns:a16="http://schemas.microsoft.com/office/drawing/2014/main" id="{A139C9FF-03F1-4471-8A9E-C7023026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867650"/>
            <a:ext cx="1762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07113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07113C"/>
                </a:solidFill>
                <a:latin typeface="Aptos"/>
                <a:ea typeface="Aptos"/>
                <a:cs typeface="Aptos"/>
              </a:rPr>
              <a:t>Portfolio Pattern Discovery</a:t>
            </a:r>
          </a:p>
        </p:txBody>
      </p:sp>
      <p:sp>
        <p:nvSpPr>
          <p:cNvPr id="153" name="card-6-output-box">
            <a:extLst xmlns:a="http://schemas.openxmlformats.org/drawingml/2006/main">
              <a:ext uri="{FF2B5EF4-FFF2-40B4-BE49-F238E27FC236}">
                <a16:creationId xmlns:a16="http://schemas.microsoft.com/office/drawing/2014/main" id="{3DDC3534-5AD7-4246-B74A-6019D115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486775"/>
            <a:ext cx="4324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7620">
            <a:solidFill>
              <a:srgbClr val="166B2A"/>
            </a:solidFill>
            <a:prstDash val="solid"/>
          </a:ln>
        </p:spPr>
      </p:sp>
      <p:pic>
        <p:nvPicPr>
          <p:cNvPr id="3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c7c5b7ef842fa">
            <a:extLst>
              <a:ext uri="{96DAC541-7B7A-43D3-8B79-37D633B846F1}">
                <asvg:svgBlip xmlns:asvg="http://schemas.microsoft.com/office/drawing/2016/SVG/main" r:embed="Rda5ad74cf8a34a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01275" y="8629650"/>
            <a:ext cx="295275" cy="295275"/>
          </a:xfrm>
          <a:prstGeom xmlns:a="http://schemas.openxmlformats.org/drawingml/2006/main" prst="rect">
            <a:avLst/>
          </a:prstGeom>
        </p:spPr>
      </p:pic>
      <p:sp>
        <p:nvSpPr>
          <p:cNvPr id="155" name="card-6-output-label">
            <a:extLst xmlns:a="http://schemas.openxmlformats.org/drawingml/2006/main">
              <a:ext uri="{FF2B5EF4-FFF2-40B4-BE49-F238E27FC236}">
                <a16:creationId xmlns:a16="http://schemas.microsoft.com/office/drawing/2014/main" id="{AA913D16-7A42-498A-8C35-8469FFA3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6772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OUTPUT:</a:t>
            </a:r>
          </a:p>
        </p:txBody>
      </p:sp>
      <p:sp>
        <p:nvSpPr>
          <p:cNvPr id="156" name="card-6-output-text">
            <a:extLst xmlns:a="http://schemas.openxmlformats.org/drawingml/2006/main">
              <a:ext uri="{FF2B5EF4-FFF2-40B4-BE49-F238E27FC236}">
                <a16:creationId xmlns:a16="http://schemas.microsoft.com/office/drawing/2014/main" id="{7482365F-EE3A-476C-AF22-ED9A5B7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86772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1">
                <a:solidFill>
                  <a:srgbClr val="166B2A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66B2A"/>
                </a:solidFill>
                <a:latin typeface="Aptos"/>
                <a:ea typeface="Aptos"/>
                <a:cs typeface="Aptos"/>
              </a:rPr>
              <a:t>Cluster / Similarity Match</a:t>
            </a:r>
          </a:p>
        </p:txBody>
      </p:sp>
      <p:sp>
        <p:nvSpPr>
          <p:cNvPr id="157" name="bottom-statement">
            <a:extLst xmlns:a="http://schemas.openxmlformats.org/drawingml/2006/main">
              <a:ext uri="{FF2B5EF4-FFF2-40B4-BE49-F238E27FC236}">
                <a16:creationId xmlns:a16="http://schemas.microsoft.com/office/drawing/2014/main" id="{579F090D-DE96-418D-9F89-E11D71C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9391650"/>
            <a:ext cx="1066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65" b="1">
                <a:solidFill>
                  <a:srgbClr val="061955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061955"/>
                </a:solidFill>
                <a:latin typeface="Aptos"/>
                <a:ea typeface="Aptos"/>
                <a:cs typeface="Aptos"/>
              </a:rPr>
              <a:t>These ML use cases enable smarter underwriting, better decision-making, operational efficiency and improved portfolio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5075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2026-06-15T13:13:02.1570000Z</dcterms:created>
  <dcterms:modified xsi:type="dcterms:W3CDTF">2026-06-15T13:13:02.1570000Z</dcterms:modified>
</coreProperties>
</file>