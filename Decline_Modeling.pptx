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38994b8724d56" /><Relationship Type="http://schemas.openxmlformats.org/officeDocument/2006/relationships/extended-properties" Target="/docProps/app.xml" Id="R3facebbbc69440aa" /><Relationship Type="http://schemas.openxmlformats.org/officeDocument/2006/relationships/officeDocument" Target="/ppt/presentation.xml" Id="R9b6b3a489b4d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d7bc76e714e51"/>
  </p:sldMasterIdLst>
  <p:notesMasterIdLst>
    <p:notesMasterId xmlns:r="http://schemas.openxmlformats.org/officeDocument/2006/relationships" r:id="R9a0ce99255934113"/>
  </p:notesMasterIdLst>
  <p:sldIdLst>
    <p:sldId xmlns:r="http://schemas.openxmlformats.org/officeDocument/2006/relationships" id="256" r:id="Rc70cb94df6b549c6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895722b6e64f48" /><Relationship Type="http://schemas.openxmlformats.org/officeDocument/2006/relationships/slideMaster" Target="/ppt/slideMasters/slideMaster1.xml" Id="R811d7bc76e714e51" /><Relationship Type="http://schemas.openxmlformats.org/officeDocument/2006/relationships/notesMaster" Target="/ppt/notesMasters/notesMaster1.xml" Id="R9a0ce99255934113" /><Relationship Type="http://schemas.openxmlformats.org/officeDocument/2006/relationships/presProps" Target="/ppt/presProps.xml" Id="R184adce0d3d346d5" /><Relationship Type="http://schemas.openxmlformats.org/officeDocument/2006/relationships/tableStyles" Target="/ppt/tableStyles.xml" Id="R03bd70d859bc4e94" /><Relationship Type="http://schemas.openxmlformats.org/officeDocument/2006/relationships/slide" Target="/ppt/slides/slide1.xml" Id="Rc70cb94df6b5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fd4eb3b8fb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0de98594346e5" /><Relationship Type="http://schemas.openxmlformats.org/officeDocument/2006/relationships/notesMaster" Target="/ppt/notesMasters/notesMaster1.xml" Id="R9b519305772449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abbddb5f0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c8d78f262645f4" /><Relationship Type="http://schemas.openxmlformats.org/officeDocument/2006/relationships/slideLayout" Target="/ppt/slideLayouts/slideLayout1.xml" Id="R65a860c14ff34d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860c14ff34d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b75e7fe864ab1" /><Relationship Type="http://schemas.openxmlformats.org/officeDocument/2006/relationships/notesSlide" Target="/ppt/notesSlides/notesSlide1.xml" Id="Rf193cb67f29a4c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DCCFF-F901-4520-AC7F-B034C2B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3A54"/>
                </a:solidFill>
              </a:defRPr>
            </a:pPr>
            <a:r>
              <a:rPr sz="2700" b="1" i="0">
                <a:solidFill>
                  <a:srgbClr val="003A54"/>
                </a:solidFill>
              </a:rPr>
              <a:t>Decline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63C02-8090-453A-AE22-4EE49F20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"/>
            <a:ext cx="4857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800"/>
          </a:solidFill>
          <a:ln xmlns:a="http://schemas.openxmlformats.org/drawingml/2006/main" w="9525">
            <a:solidFill>
              <a:srgbClr val="FF98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6A1BD-F031-4920-AF48-824873B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3350"/>
            <a:ext cx="4591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Nishi to complete this slide... Only sections 1 &amp; 3 to be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661B-7129-410A-BEE8-74855825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5143500" cy="681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2E68E-DA96-4268-959C-7D603E2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239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0040F-311F-4EA5-8713-F54850E1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3A54"/>
                </a:solidFill>
              </a:defRPr>
            </a:pPr>
            <a:r>
              <a:rPr sz="1650" b="1" i="0">
                <a:solidFill>
                  <a:srgbClr val="003A54"/>
                </a:solidFill>
              </a:rPr>
              <a:t>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1E17E-EE85-4EA8-B9A0-AE2D0454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819150"/>
            <a:ext cx="3333750" cy="681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30FF0-E69D-4B40-937C-4DD53ABC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239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05BFE-513E-41AB-BEBB-FB5CF98D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00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3A54"/>
                </a:solidFill>
              </a:defRPr>
            </a:pPr>
            <a:r>
              <a:rPr sz="1650" b="1" i="0">
                <a:solidFill>
                  <a:srgbClr val="003A54"/>
                </a:solidFill>
              </a:rPr>
              <a:t>Feature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9641F-9280-4842-B0E7-4DCA6BB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19150"/>
            <a:ext cx="4019550" cy="681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806E1-148E-47F5-84FA-329E56BC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239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CFC63-1355-4EC2-A611-9C75F61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000125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3A54"/>
                </a:solidFill>
              </a:defRPr>
            </a:pPr>
            <a:r>
              <a:rPr sz="1575" b="1" i="0">
                <a:solidFill>
                  <a:srgbClr val="003A54"/>
                </a:solidFill>
              </a:rPr>
              <a:t>Top features by importance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48A1B-07EE-4F2F-A8F8-D5080E87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04950"/>
            <a:ext cx="914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5FD0C-60D3-4563-B5F2-CCA339B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573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1.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Data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73698-B976-4F2B-8359-7713D28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E2927-D513-4846-9E7B-5FC43972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04950"/>
            <a:ext cx="1028700" cy="127635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4B020-0E0D-4A2A-B00A-65C3031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47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3DFE2-8B02-4014-A551-748F9AF9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92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Loading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65CCE-01F8-4849-87E4-AE69E7B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288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Load master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data from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B4348-8E9E-436A-AB5C-9389250F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1143000" cy="12763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89377-2D04-4422-B5BE-EDE5B9A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47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53403-9D26-4079-83D3-0FC81229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19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Creating Target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Variable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DA33A-28B0-486A-9D19-25D09B4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Target status -&gt; 1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Other status -&gt;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D8A32-5354-4062-ABBE-3DB2B2E1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04950"/>
            <a:ext cx="1219200" cy="127635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2E17D-C397-45EB-9F50-BBF2DD4B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47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6101E-A1BF-4DF7-9881-14F48A50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ID Column &amp;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Feature Selection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52100-D0C3-465D-BA5A-7389EE22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Select relevant ID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columns &amp; 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7360F-3407-488F-9E73-93583600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240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3A5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41679-D56F-4213-A4F9-535A66E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240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3A5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C7505-E8F3-48B5-A69C-AAA098D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E9E44B-1DC6-4FB0-97EA-62B567FF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81325"/>
            <a:ext cx="478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6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E8F91A-802A-4384-A28B-CC1697E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19450"/>
            <a:ext cx="91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920523-FE80-4EBF-A340-34B8411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718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2.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Feature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Engineering &amp;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AFD486-98D3-41CD-BD06-7F5E1219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387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F13D9-CEEA-42F7-BA00-2E805092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857250" cy="1285875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797FB-864E-4462-BD25-B4242FC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F7E16A-D973-42EB-A8CF-843475F2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Fill Rate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Analysis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4CDB2A-BD7E-4854-A1E7-947809E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719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Analyze fill rates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and remove weak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4E466E-8509-427C-989C-082D92B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38500"/>
            <a:ext cx="857250" cy="1285875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C3EBC2-1729-4835-9126-0DFC5404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1CA078-3AD2-441A-9C18-3FD4513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Feature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Classification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779F35-E4C3-4E39-9881-F4AAE33F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719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Classify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numerical and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categorical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features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AE32FE-E6EC-44BD-9428-A2098C72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857250" cy="1285875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19EE8D-4250-4818-B146-C19DE3B4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DFD0B-CDFB-4C77-BFB1-617BD876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Feature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Engineering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36CF9D-A486-4E0E-B60C-04BCF30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719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Null handling,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EDA and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derived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features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E0F580-7C8B-4989-A697-2A6A15B6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857250" cy="1285875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4AC805-A678-4219-AE2B-2839B5CB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814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◎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B85CE4-5CE0-4F98-BF96-E59AA7A7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Target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Encoding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129F2F-8395-41A4-8D51-A2901243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719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Apply target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encoding for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categorical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features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382A5A-17C0-48F5-B7C2-D6C6D590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8F25DD-BBFF-4246-9D6B-35017C8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576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D09000-45B0-4C4B-9F75-AB6BD272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150A6-3418-478A-87FB-9F511AA1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19625"/>
            <a:ext cx="838200" cy="11620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779F7E-9E91-4853-B58A-1BADCD3A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62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▤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C68031-2E71-4243-A3C3-10A3B43F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339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Train-Test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Split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ED37E9-45B5-4045-BED5-38DB180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2922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Split data into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train &amp; test sets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42EAA4-E252-461B-97CA-E0B7DB6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9625"/>
            <a:ext cx="895350" cy="11620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5AF584-5E83-4B68-B3C4-B3E83DE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62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5C3A42-A61A-42C1-8E08-0B010855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339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Choose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564188-3A1F-4313-A2E3-53DE510F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2922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Test candidate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ML models and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select the best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F2ADE8-E68A-48E5-9E3C-6EB7ABE4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1009650" cy="116205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C5CEE0-61A1-4947-A21D-ACB04FBE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62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EA472E-1A58-4555-A4C4-1B4F0A64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339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Hyperparameter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Tuning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9B4CF5-B683-47EF-A23E-73F988C4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2922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Tune for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optimal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performance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019BAD-0F73-4213-98B3-D1EE45D8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6D801E-FD67-4971-89AC-60C8B5CF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911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6CC145-D435-48E7-829D-79DB653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911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3A25FB2-AC19-4B9B-B444-3505E69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293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0E0CCE-230E-47E3-A7DF-EBFE062C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15025"/>
            <a:ext cx="478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6"/>
            </a:solidFill>
            <a:prstDash val="dash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E5FCCB-D08C-482F-A9FB-5FF66288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53150"/>
            <a:ext cx="91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0F8E9B-E0FF-4131-B65D-0BDE3BF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3055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3.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Model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Evaluation &amp;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1F5A7C-48DB-49C3-9E80-EA668554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9532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▣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A460C8-E3CE-4BB6-8DDE-AD42CE31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53150"/>
            <a:ext cx="1123950" cy="13525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4AD699-91B4-4895-B553-A8423608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9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⌁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FD6C5D-75FA-4C24-A5E8-80470F8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674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Model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Evaluation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895F1C-80AC-4E41-BAAE-B848BB2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9532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Evaluate recall,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accuracy and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performance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868767-5597-4EE8-968B-B3D5CA7D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153150"/>
            <a:ext cx="1162050" cy="13525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CC1299-A459-4855-A867-A471D75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9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♙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63BD29-9F9C-45C2-8793-F8D0383F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67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Cohort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Analysis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F4B8391-3193-453B-BB6E-ED35563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9532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Analyze model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output across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top declines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8B627F-F50A-4274-A932-0294DA55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153150"/>
            <a:ext cx="1219200" cy="135255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1975D15-A176-4B11-A101-B2CE7157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649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5071"/>
                </a:solidFill>
              </a:defRPr>
            </a:pPr>
            <a:r>
              <a:rPr sz="1725" b="1" i="0">
                <a:solidFill>
                  <a:srgbClr val="005071"/>
                </a:solidFill>
              </a:rPr>
              <a:t>☑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5D10D3-D02F-4A2B-AB53-17C804F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674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Top Declines</a:t>
            </a:r>
          </a:p>
          <a:p xmlns:a="http://schemas.openxmlformats.org/drawingml/2006/main">
            <a:pPr algn="ctr">
              <a:defRPr sz="825" b="1" i="0">
                <a:solidFill>
                  <a:srgbClr val="002B44"/>
                </a:solidFill>
              </a:defRPr>
            </a:pPr>
            <a:r>
              <a:rPr sz="825" b="1" i="0">
                <a:solidFill>
                  <a:srgbClr val="002B44"/>
                </a:solidFill>
              </a:rPr>
              <a:t>Identification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92A4B2-D433-4F35-9992-A2F92FCD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532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Identify declined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submissions with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highest conversion</a:t>
            </a:r>
          </a:p>
          <a:p xmlns:a="http://schemas.openxmlformats.org/drawingml/2006/main">
            <a:pPr algn="ctr">
              <a:defRPr sz="788" b="0" i="0">
                <a:solidFill>
                  <a:srgbClr val="002B44"/>
                </a:solidFill>
              </a:defRPr>
            </a:pPr>
            <a:r>
              <a:rPr sz="788" b="0" i="0">
                <a:solidFill>
                  <a:srgbClr val="002B44"/>
                </a:solidFill>
              </a:rPr>
              <a:t>potential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D250C59-24F5-4D4E-9E2B-885DCBF9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8103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D35791-CE91-417F-A983-201DCFCF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8103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3A5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A0B76F-57FE-4E81-BD46-8AE01EF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811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632BD2-1359-4A07-8DEB-D2D28DD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192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Country Code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96E8BC-FDC2-4D11-A981-1ECF481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192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BF99193-808D-4FCA-887D-242C61B5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5AFB51D-1A5A-45AF-B56D-664E25AB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4192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Exposure Rank (TIV)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2AD20FF-7556-4786-AAD4-B3206E6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764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EF671A-84DC-4010-9691-6107EFD7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145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Geohash (Lat, Long)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585A4-1C82-4425-9135-8AAF7094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867669-731D-408A-A305-E2EEFEF6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112F51-794D-4810-A4FA-6AD37E18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145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Total TIV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AF2DE7-F978-4D8F-92C6-3D910ED8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716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226633-53BE-43B4-9843-90D4ABF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97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BI TW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BEC868-34AC-46A1-A59C-2D61784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97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1C69D8-478D-4D1D-AA01-232E7A29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716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8934184-3CDF-4DCC-9BAD-691523D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097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Total TIV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3C46BB-48E8-4737-BB73-28B4248C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669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B4E9884-72AD-4755-9039-FAEC99F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Contents TW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EB7BCD-41C5-4CDA-B55E-FF66CD2B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D6DE207-F146-4A98-98FF-56B6193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78A3C5-12EF-4CA0-83FF-E7EF1B8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050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Total TIV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6268975-CE5F-4D7A-BF9B-555BA094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622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B1DD0C0-D737-4020-9EA3-32C898A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03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Construction Code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411EF0-C041-48F1-8A3D-E3263E98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03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31AE13-11A6-48C2-A73D-9C5C8679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622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467421-A306-42E4-BEB7-1B92C1D0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003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Exposure Rank (TIV)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3FE14B3-30A5-41DA-8B47-3205842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F03D603-DD7C-46B9-BA3B-CEA708C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Year Built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3CD3F92-6CF9-4AAB-9A51-08A5ABDC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2B01DA-13AA-40EE-A65F-1FC40BE2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7AB45A0-CF18-4B57-87F3-918A744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956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EQ Risk Score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9454EF-B519-4A0E-B169-8653BF0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527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AD09E5F-5843-4A19-8CCD-772DB2C9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908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# Stories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06FF57-6FD1-46F6-BDCE-B978E44C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F983F81-D112-4A96-AB26-1B6663A8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27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FF9C761-8969-46EE-8A8C-162021A9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908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EQ Risk Score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E228FAA-6106-4853-AEEB-77EFF0D3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33B34CA-49A9-4EE4-8E2F-2164B841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861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Year Built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E7DB707-D460-4F65-99DB-B9A42C95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861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274B6F9-2D29-4395-A7C6-39AD961F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117DDB-E30F-4C37-BDC2-ECF6EC73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861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1C09709-425F-4A21-A6C6-2A5FC955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BDFCC55-8DD7-4EEA-A850-5F58CB22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814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Roof Anchorage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69E3EE2-8AD8-44AD-A5EF-1ACFB00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814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3D40F5E-BD0C-464A-8C6C-D9A63170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433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57D4D79-1071-4338-9799-6F0B1C31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814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WS Risk Score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FA63352-D010-444C-9C79-7030C8D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386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8CF5711-FF2C-43FD-A66C-4EAA64E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767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Construction Class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C7F67E1-FFB5-4287-B8EE-3BE92DF5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A59A269-D066-4DB7-8A30-4AF391AD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41CCD73-5A84-42AC-9957-EF0AEA14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767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Exposure % (TIV)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5CD4F67-9D08-401C-A747-854F4056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338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8D1B29-FC13-4984-BF52-A85B8E4E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719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Occupancy Code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96F4E14-5023-40B0-9B21-CD956E9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719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CA3B98-59E8-4F5B-BA25-AC45FF52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CA78386-41A8-4DBF-ABB8-FC449D79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719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Exposure Rank (TIV)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A5A187E-8EB3-4E72-8255-18874A76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5E86F01-CB1B-4C95-B61D-7DDBBDAD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672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Occupancy Risk Score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ADB8E66-8098-4EC4-BC75-8DF84907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E4F85B3-17FA-4E4A-871B-412DD73E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8C8525C-44BB-4B06-9B54-7E0186FF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672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Exposure % (TIV)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C89270A-D8B1-4EF4-9893-02741A92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244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21A2767-0152-4AE7-87E5-5A9B14A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625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Occupancy Code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D56C0D5-0309-4150-91B3-A1DE3885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625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531E7F8-F02C-4A14-857A-50F280D6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244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6A4B975-441D-458B-B884-39FE093E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9625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Exposure % (TIV)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7C96202-8763-4160-9F57-4C1A9BA0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197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CEF"/>
          </a:solidFill>
          <a:ln xmlns:a="http://schemas.openxmlformats.org/drawingml/2006/main" w="9525">
            <a:solidFill>
              <a:srgbClr val="4D849B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1C43E45-DB72-42DB-8C4A-05E1741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578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PPC Code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672A7FB-57FC-412D-9860-13C678A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578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12DB291-640D-4923-B22A-D16D0A20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CEF"/>
          </a:solidFill>
          <a:ln xmlns:a="http://schemas.openxmlformats.org/drawingml/2006/main" w="9525">
            <a:solidFill>
              <a:srgbClr val="4D849B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B4ACA67-9E21-4ED4-9C01-7C00B2CB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2578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A54"/>
                </a:solidFill>
              </a:defRPr>
            </a:pPr>
            <a:r>
              <a:rPr sz="750" b="1" i="0">
                <a:solidFill>
                  <a:srgbClr val="003A54"/>
                </a:solidFill>
              </a:rPr>
              <a:t>Sprinkler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686D89A-CFF9-4654-A91D-35864EF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149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7D0902D-C3BF-4977-8F50-B25BE7F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530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Construction Code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3D36742-D152-48D4-B982-0925159B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530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x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5E45A93-34B9-4606-BA39-4F8CE36D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149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36261D6-3CDA-4780-B740-4CA9C15A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5530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PPC Code / Sprinkler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CE60CAA-1E4E-48F5-8C75-7FA8DF34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054DE9E-B450-4055-9B70-F9E8CD6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483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Loss Amount (10 Yrs)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07367D8-7275-4BC4-B4AE-9208638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483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553B4E9-E8C0-4AA9-B71A-67AD5E2F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14150CD-57C5-4DB8-B239-A7D2828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8483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Total TIV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8B9B615-42F0-4D6D-B886-BD911AED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1055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B412180-B0C3-40E1-A26A-386B74F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436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B4D0A"/>
                </a:solidFill>
              </a:defRPr>
            </a:pPr>
            <a:r>
              <a:rPr sz="750" b="1" i="0">
                <a:solidFill>
                  <a:srgbClr val="FB4D0A"/>
                </a:solidFill>
              </a:rPr>
              <a:t># Claims (5 Yrs/10 Yrs)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3B28A6E-0351-4826-9668-6FD1669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436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</a:defRPr>
            </a:pPr>
            <a:r>
              <a:rPr sz="750" b="1" i="0"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A85A9BB-86CB-41FA-AB6E-9FCF0C4D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055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6080C1C-0520-45C0-91CB-A6F2FB9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1436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860B1E1-CA3B-452F-8DE4-C88BD97E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743700"/>
            <a:ext cx="1200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6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8638580-D5EA-4D39-95DC-4BCF0C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7818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3A54"/>
                </a:solidFill>
              </a:defRPr>
            </a:pPr>
            <a:r>
              <a:rPr sz="713" b="1" i="0">
                <a:solidFill>
                  <a:srgbClr val="003A54"/>
                </a:solidFill>
              </a:rPr>
              <a:t>LOCATION (EXPOSURE)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6706CE1-A5E4-4EB9-9712-63B456C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743700"/>
            <a:ext cx="904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FAFC73A-7202-4691-86BA-D1DB71A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781800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B4D0A"/>
                </a:solidFill>
              </a:defRPr>
            </a:pPr>
            <a:r>
              <a:rPr sz="713" b="1" i="0">
                <a:solidFill>
                  <a:srgbClr val="FB4D0A"/>
                </a:solidFill>
              </a:rPr>
              <a:t>CONSTRUCTION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5C4B1CD-2573-4727-A28F-E59497D8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743700"/>
            <a:ext cx="857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1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E48DDA5-67D5-4C54-9B7F-5552AEB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7818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3A54"/>
                </a:solidFill>
              </a:defRPr>
            </a:pPr>
            <a:r>
              <a:rPr sz="713" b="1" i="0">
                <a:solidFill>
                  <a:srgbClr val="003A54"/>
                </a:solidFill>
              </a:rPr>
              <a:t>OCCUPANCY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C60FAFB-07AB-401D-9C15-85144F4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086600"/>
            <a:ext cx="1200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C2F0C45-D6EF-45B2-8AFE-9B292A42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71247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3A54"/>
                </a:solidFill>
              </a:defRPr>
            </a:pPr>
            <a:r>
              <a:rPr sz="713" b="1" i="0">
                <a:solidFill>
                  <a:srgbClr val="003A54"/>
                </a:solidFill>
              </a:rPr>
              <a:t>PERILS / HAZARD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6B8AFDA-F465-4152-A145-B423645A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086600"/>
            <a:ext cx="904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CEF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CD6E2AA-1BF8-4973-B19F-C463265F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124700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03A54"/>
                </a:solidFill>
              </a:defRPr>
            </a:pPr>
            <a:r>
              <a:rPr sz="713" b="1" i="0">
                <a:solidFill>
                  <a:srgbClr val="003A54"/>
                </a:solidFill>
              </a:rPr>
              <a:t>PROTECTION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4D0F145-E9C7-4377-B85C-92884C7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86600"/>
            <a:ext cx="857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01803E5-A8F6-4196-A138-04C3097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1247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B4D0A"/>
                </a:solidFill>
              </a:defRPr>
            </a:pPr>
            <a:r>
              <a:rPr sz="713" b="1" i="0">
                <a:solidFill>
                  <a:srgbClr val="FB4D0A"/>
                </a:solidFill>
              </a:rPr>
              <a:t>LOSS HISTORY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61185F1-8728-40AB-9CD7-79917DE0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F9C6D25-00DA-42FD-AD59-9C779585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4E600F9-69A5-4A8C-8323-434765CF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859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♧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F9ED712-486E-45A1-B652-FAC02AB5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76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Broker Name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88CE30D-88FC-461E-AC97-7AF0495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170497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C0C77AF-7E6C-4388-A7FE-DCF97461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676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7.85%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57BED30-9887-4442-AC7D-F798A994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9072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F8C503C-1311-4B92-B954-3A7159C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669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CDAA3E3-36A3-4A0A-B022-FA7BEE8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0502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6BC8C01-AEA1-4B4E-8D94-E258533E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95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◎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E3DC32D-3E66-4074-B6CF-6C62C80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85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Predominant Exposure Region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3D9D395-E11B-458E-BF02-5D08D7E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114550"/>
            <a:ext cx="81771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16FCF0E-F101-4B89-912F-0F641B7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085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6.24%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38BA956-20E6-41F3-A677-E57B1F10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8C01727-CBB1-45B9-9F1E-5CA20CF4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1633193-8EB6-4167-9C3F-FE556310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E43D515-6E88-401C-B742-6D6A8D1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050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♨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3D24912-BCA1-412D-A6A7-8F979475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95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Target Market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F65CAA0-BD74-4205-B4D7-4E788FAE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524125"/>
            <a:ext cx="76136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0C19D8A-CA84-48A0-B854-612CA513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49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5.81%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AE182A1-324D-4C8B-95A9-7310E6BD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0987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BD76D87-0A77-4F15-888C-C75415E4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860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CF4C0B4-7389-4EF6-AA62-34FD757F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F2F7771-C521-4772-8730-808A6D7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◔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5B69738-C618-46A0-947B-4AE60A84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Submission Concentration Ratio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EF8E4E6-5AE0-450B-A7DD-53E2272D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933700"/>
            <a:ext cx="7574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FE31282-D2FF-4AB9-8526-77807AA9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905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5.78%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97FA7A3-5B59-4138-9220-DC2580E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EB9D4F6-C342-4279-97C0-CD15A79F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3A3B396-9777-4C4E-9A58-5087917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BCA4E8D-5109-45A7-9114-809FDF25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24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◎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4015003-A473-48B9-8D02-252DCBEE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14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Construction Code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DB27F58-A3BE-4878-A4F0-440F340D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343275"/>
            <a:ext cx="74171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3DCD366-859B-419D-85E5-780EC138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314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5.66%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6BF8DD9-23DB-4B75-909B-D5FBAD2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2902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3948E07-3D61-4EBB-9DAB-B12180D9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052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53B3002-1A2B-4DE4-8ACF-813A69B1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4332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44FC581-0C9D-4B5A-B570-3937C966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33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⌂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17C13A7-8527-4D33-ACED-A0EEE92D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724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Occupancy Class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01C1833-0FA6-48B4-AECD-6E00F69D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752850"/>
            <a:ext cx="72205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9ACE62A-2763-47FD-8E8F-AED406F7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724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5.51%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54B3D03-C24C-4B5F-BE08-8B3E10D2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386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F9DE4CB-43B8-4B51-9013-18A049A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E9BB714-F763-4A30-BC3A-5F7B88E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2001F87-EE64-48BA-92D0-F58A7CD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◈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4F76C98-17F6-4EF5-9F88-3ECAF5AB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13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TIV Band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AE9D9F1-8295-4C22-9140-FDB0234F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162425"/>
            <a:ext cx="71026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0B8A4DA-BA13-4BD3-8ECA-7AC7199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13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5.42%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BBC014D-D825-4127-9C39-CA27F79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4817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B980C2F4-21A5-4C47-9C78-82C6263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243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498F6E0-83C4-494C-8AD1-1FB14839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6247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1D75DFA-CF1E-4C17-B624-0614181D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52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▦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8941111-0DA3-4C3B-BAE9-00E8AFA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5434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Building Age Risk Score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01D3CC3-5B83-495C-B989-6937088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572000"/>
            <a:ext cx="68667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F75E728-834A-4651-B224-554D99B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543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5.24%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79884D7-8DE3-47F6-8178-5CC0308B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577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3F276BB-2BA8-4D5B-A0CA-CA8DE2F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339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46470E8-4671-4778-8125-B48DD403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B9A2933-90F1-4B14-9290-3CD330F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62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♢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0626B2D-3658-4959-B737-FD8589C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Portfolio Burning Cost (5yr)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9008662-CE4C-4B47-A0B3-CA6DB86D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981575"/>
            <a:ext cx="68143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074831F-F30A-430D-B33C-81EFA07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953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5.20%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270ED33-150F-4941-8249-C547A27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67325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9BCDA73-87C2-456F-843A-67EFBEB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435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DC1330D-006D-46F5-9F68-FF2A16F5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29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064B402-151C-4DAF-932E-7FB87D9A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72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64C8"/>
                </a:solidFill>
              </a:defRPr>
            </a:pPr>
            <a:r>
              <a:rPr sz="975" b="1" i="0">
                <a:solidFill>
                  <a:srgbClr val="1F64C8"/>
                </a:solidFill>
              </a:rPr>
              <a:t>▥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4B92B67-1D40-44CF-B171-0B178CAD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362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11111"/>
                </a:solidFill>
              </a:defRPr>
            </a:pPr>
            <a:r>
              <a:rPr sz="863" b="0" i="0">
                <a:solidFill>
                  <a:srgbClr val="111111"/>
                </a:solidFill>
              </a:rPr>
              <a:t>High-Risk Occupancy Exposure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7B79451-1DA9-4E8A-9D7D-EA3BA24E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391150"/>
            <a:ext cx="68012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54"/>
          </a:solidFill>
          <a:ln xmlns:a="http://schemas.openxmlformats.org/drawingml/2006/main" w="9525">
            <a:solidFill>
              <a:srgbClr val="003A54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51D93CF-93D3-460A-9C73-77F65BC4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362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03A54"/>
                </a:solidFill>
              </a:defRPr>
            </a:pPr>
            <a:r>
              <a:rPr sz="863" b="1" i="0">
                <a:solidFill>
                  <a:srgbClr val="003A54"/>
                </a:solidFill>
              </a:rPr>
              <a:t>5.19%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C680F6C-B1CF-466D-BDE1-978752C2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7690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1E5E8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BA6AE89-07FC-4D6C-B45A-6A80D38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91250"/>
            <a:ext cx="3695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DF7FA"/>
          </a:solidFill>
          <a:ln xmlns:a="http://schemas.openxmlformats.org/drawingml/2006/main" w="9525">
            <a:solidFill>
              <a:srgbClr val="4D849B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943F8E8-EE9D-45B7-8BF6-F917211B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2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B352B1D-8AA9-4990-B319-070930F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4198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FA55FD9-6207-495A-87BA-619EBF2B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62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03A54"/>
                </a:solidFill>
              </a:defRPr>
            </a:pPr>
            <a:r>
              <a:rPr sz="1200" b="0" i="0">
                <a:solidFill>
                  <a:srgbClr val="003A54"/>
                </a:solidFill>
              </a:rPr>
              <a:t>Top 10 drivers explain ~58% of the</a:t>
            </a:r>
          </a:p>
          <a:p xmlns:a="http://schemas.openxmlformats.org/drawingml/2006/main">
            <a:pPr algn="l">
              <a:defRPr sz="1200" b="0" i="0">
                <a:solidFill>
                  <a:srgbClr val="003A54"/>
                </a:solidFill>
              </a:defRPr>
            </a:pPr>
            <a:r>
              <a:rPr sz="1200" b="0" i="0">
                <a:solidFill>
                  <a:srgbClr val="003A54"/>
                </a:solidFill>
              </a:rPr>
              <a:t>model's predictive power.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952EF04-0914-4671-B74A-1BA58A6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390650"/>
            <a:ext cx="0" cy="549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E5738D2-2215-4328-86E5-15DBF63A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7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5B02895-1DDE-49C0-BF5D-7B56D13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1809750"/>
            <a:ext cx="14763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BC9C62A-6196-4BEE-A68B-11526A9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5336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B4D0A"/>
                </a:solidFill>
              </a:defRPr>
            </a:pPr>
            <a:r>
              <a:rPr sz="1125" b="1" i="0">
                <a:solidFill>
                  <a:srgbClr val="FB4D0A"/>
                </a:solidFill>
              </a:rPr>
              <a:t>Prioritisation engine</a:t>
            </a:r>
          </a:p>
          <a:p xmlns:a="http://schemas.openxmlformats.org/drawingml/2006/main">
            <a:pPr algn="ctr">
              <a:defRPr sz="1125" b="1" i="0">
                <a:solidFill>
                  <a:srgbClr val="FB4D0A"/>
                </a:solidFill>
              </a:defRPr>
            </a:pPr>
            <a:r>
              <a:rPr sz="1125" b="1" i="0">
                <a:solidFill>
                  <a:srgbClr val="FB4D0A"/>
                </a:solidFill>
              </a:rPr>
              <a:t>(PoC)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0B1A70E-82BC-4F59-B414-4FE52196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486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8AB1BC5-7E71-408A-960D-F063900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9909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B4D0A"/>
                </a:solidFill>
              </a:defRPr>
            </a:pPr>
            <a:r>
              <a:rPr sz="1050" b="1" i="0">
                <a:solidFill>
                  <a:srgbClr val="FB4D0A"/>
                </a:solidFill>
              </a:rPr>
              <a:t>Key parameters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F4D73E6-47C9-4901-940E-604C6E16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4762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6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83B2A10-79F5-483F-9C22-7C451AE1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295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B4D0A"/>
                </a:solidFill>
              </a:defRPr>
            </a:pPr>
            <a:r>
              <a:rPr sz="1050" b="1" i="0">
                <a:solidFill>
                  <a:srgbClr val="FB4D0A"/>
                </a:solidFill>
              </a:rPr>
              <a:t>Missed Opportunities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EF2ADD1-8918-484B-9829-3989CD0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80581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©2026 ExlService Holdings, Inc. All rights reserved.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DC49923-671B-46DF-8061-A5FD5C7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7829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B4D0A"/>
                </a:solidFill>
              </a:defRPr>
            </a:pPr>
            <a:r>
              <a:rPr sz="2625" b="1" i="0">
                <a:solidFill>
                  <a:srgbClr val="FB4D0A"/>
                </a:solidFill>
              </a:rPr>
              <a:t>EXL</a:t>
            </a:r>
          </a:p>
        </p:txBody>
      </p:sp>
    </p:spTree>
    <p:extLst>
      <p:ext uri="{BB962C8B-B14F-4D97-AF65-F5344CB8AC3E}">
        <p14:creationId xmlns:p14="http://schemas.microsoft.com/office/powerpoint/2010/main" val="488982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2026-06-29T05:52:21.0590000Z</dcterms:created>
  <dcterms:modified xsi:type="dcterms:W3CDTF">2026-06-29T05:52:21.0590000Z</dcterms:modified>
</coreProperties>
</file>