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757fc76148407d" /><Relationship Type="http://schemas.openxmlformats.org/officeDocument/2006/relationships/extended-properties" Target="/docProps/app.xml" Id="R106029cf4f6a4803" /><Relationship Type="http://schemas.openxmlformats.org/officeDocument/2006/relationships/officeDocument" Target="/ppt/presentation.xml" Id="Rabca782b415243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cec9a6531400a"/>
  </p:sldMasterIdLst>
  <p:notesMasterIdLst>
    <p:notesMasterId xmlns:r="http://schemas.openxmlformats.org/officeDocument/2006/relationships" r:id="R12ef64726604426c"/>
  </p:notesMasterIdLst>
  <p:sldIdLst>
    <p:sldId xmlns:r="http://schemas.openxmlformats.org/officeDocument/2006/relationships" id="256" r:id="R7a0d6613b41244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77837cf78e4a28" /><Relationship Type="http://schemas.openxmlformats.org/officeDocument/2006/relationships/slideMaster" Target="/ppt/slideMasters/slideMaster1.xml" Id="Rc35cec9a6531400a" /><Relationship Type="http://schemas.openxmlformats.org/officeDocument/2006/relationships/notesMaster" Target="/ppt/notesMasters/notesMaster1.xml" Id="R12ef64726604426c" /><Relationship Type="http://schemas.openxmlformats.org/officeDocument/2006/relationships/presProps" Target="/ppt/presProps.xml" Id="Re1de5d6b207749a6" /><Relationship Type="http://schemas.openxmlformats.org/officeDocument/2006/relationships/viewProps" Target="/ppt/viewProps.xml" Id="R5d7f8945771347f4" /><Relationship Type="http://schemas.openxmlformats.org/officeDocument/2006/relationships/tableStyles" Target="/ppt/tableStyles.xml" Id="R2007b9bb6d7b4a4e" /><Relationship Type="http://schemas.openxmlformats.org/officeDocument/2006/relationships/slide" Target="/ppt/slides/slide1.xml" Id="R7a0d6613b41244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c95731bc6e4a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735b2c8a0f4bd8" /><Relationship Type="http://schemas.openxmlformats.org/officeDocument/2006/relationships/notesMaster" Target="/ppt/notesMasters/notesMaster1.xml" Id="Rd378b96b025343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3908204174e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6b70d79c6b4b23" /><Relationship Type="http://schemas.openxmlformats.org/officeDocument/2006/relationships/slideLayout" Target="/ppt/slideLayouts/slideLayout1.xml" Id="Raf89d9e3edf345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89d9e3edf345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cc6fb03f44f44" /><Relationship Type="http://schemas.openxmlformats.org/officeDocument/2006/relationships/image" Target="/ppt/media/image.png" Id="Rde86a607bb5b47cc" /><Relationship Type="http://schemas.openxmlformats.org/officeDocument/2006/relationships/image" Target="/ppt/media/image.svg" Id="R020718a7bc7d4dcc" /><Relationship Type="http://schemas.openxmlformats.org/officeDocument/2006/relationships/image" Target="/ppt/media/image2.png" Id="R9be3304af3cc48b6" /><Relationship Type="http://schemas.openxmlformats.org/officeDocument/2006/relationships/image" Target="/ppt/media/image2.svg" Id="R553b4434883649f3" /><Relationship Type="http://schemas.openxmlformats.org/officeDocument/2006/relationships/image" Target="/ppt/media/image3.png" Id="Rbe41690b1c7b452f" /><Relationship Type="http://schemas.openxmlformats.org/officeDocument/2006/relationships/image" Target="/ppt/media/image3.svg" Id="Rc7c7cdfeafd84b6d" /><Relationship Type="http://schemas.openxmlformats.org/officeDocument/2006/relationships/image" Target="/ppt/media/image4.png" Id="Rb09f9edb6d734b90" /><Relationship Type="http://schemas.openxmlformats.org/officeDocument/2006/relationships/image" Target="/ppt/media/image4.svg" Id="R7b7f1638e645487e" /><Relationship Type="http://schemas.openxmlformats.org/officeDocument/2006/relationships/image" Target="/ppt/media/image5.png" Id="R732fddf99c764aff" /><Relationship Type="http://schemas.openxmlformats.org/officeDocument/2006/relationships/image" Target="/ppt/media/image5.svg" Id="Rc99a2889225e477b" /><Relationship Type="http://schemas.openxmlformats.org/officeDocument/2006/relationships/notesSlide" Target="/ppt/notesSlides/notesSlide1.xml" Id="Rc24db68affc546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99EDBD-FED9-4984-AE3B-B6B8032A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F3348E-1FEA-411D-92F4-641E2B72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666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121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1217"/>
                </a:solidFill>
                <a:latin typeface="Aptos Display"/>
                <a:ea typeface="Aptos Display"/>
                <a:cs typeface="Aptos Display"/>
              </a:rPr>
              <a:t>ROADMAP TO SCALING: UNDERWRITING</a:t>
            </a:r>
          </a:p>
          <a:p xmlns:a="http://schemas.openxmlformats.org/drawingml/2006/main">
            <a:pPr algn="l">
              <a:defRPr sz="2475" b="1">
                <a:solidFill>
                  <a:srgbClr val="10121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01217"/>
                </a:solidFill>
                <a:latin typeface="Aptos Display"/>
                <a:ea typeface="Aptos Display"/>
                <a:cs typeface="Aptos Display"/>
              </a:rPr>
              <a:t>PRIORITIZATION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F25E077-E729-48D6-BEFA-087E836A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763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4D5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A4D52"/>
                </a:solidFill>
                <a:latin typeface="Aptos Display"/>
                <a:ea typeface="Aptos Display"/>
                <a:cs typeface="Aptos Display"/>
              </a:rPr>
              <a:t>STRATEGY &amp; NEXT</a:t>
            </a:r>
          </a:p>
          <a:p xmlns:a="http://schemas.openxmlformats.org/drawingml/2006/main">
            <a:pPr algn="l">
              <a:defRPr sz="1350" b="1">
                <a:solidFill>
                  <a:srgbClr val="4A4D5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A4D52"/>
                </a:solidFill>
                <a:latin typeface="Aptos Display"/>
                <a:ea typeface="Aptos Display"/>
                <a:cs typeface="Aptos Display"/>
              </a:rPr>
              <a:t>STEPS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E53F300-B70F-4C45-99B1-71681E7A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solidFill>
              <a:srgbClr val="D8D8D3"/>
            </a:solidFill>
            <a:prstDash val="solid"/>
          </a:ln>
        </p:spPr>
      </p:sp>
      <p:sp>
        <p:nvSpPr>
          <p:cNvPr id="5" name="phase-1-bar">
            <a:extLst xmlns:a="http://schemas.openxmlformats.org/drawingml/2006/main">
              <a:ext uri="{FF2B5EF4-FFF2-40B4-BE49-F238E27FC236}">
                <a16:creationId xmlns:a16="http://schemas.microsoft.com/office/drawing/2014/main" id="{E82BEF4D-63B3-4FF0-B7E9-787B88DF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581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10"/>
          </a:solidFill>
          <a:ln xmlns:a="http://schemas.openxmlformats.org/drawingml/2006/main" w="0">
            <a:solidFill>
              <a:srgbClr val="090A10"/>
            </a:solidFill>
            <a:prstDash val="solid"/>
          </a:ln>
        </p:spPr>
      </p:sp>
      <p:sp>
        <p:nvSpPr>
          <p:cNvPr id="6" name="phase-1-label">
            <a:extLst xmlns:a="http://schemas.openxmlformats.org/drawingml/2006/main">
              <a:ext uri="{FF2B5EF4-FFF2-40B4-BE49-F238E27FC236}">
                <a16:creationId xmlns:a16="http://schemas.microsoft.com/office/drawing/2014/main" id="{5A181200-794B-4668-BABE-403E0B0A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PHASE 1: VALIDATE</a:t>
            </a:r>
          </a:p>
        </p:txBody>
      </p:sp>
      <p:sp>
        <p:nvSpPr>
          <p:cNvPr id="7" name="phase-2-bar">
            <a:extLst xmlns:a="http://schemas.openxmlformats.org/drawingml/2006/main">
              <a:ext uri="{FF2B5EF4-FFF2-40B4-BE49-F238E27FC236}">
                <a16:creationId xmlns:a16="http://schemas.microsoft.com/office/drawing/2014/main" id="{6AC4948C-E0AB-43B8-8D83-CD549798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3581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A82"/>
          </a:solidFill>
          <a:ln xmlns:a="http://schemas.openxmlformats.org/drawingml/2006/main" w="0">
            <a:solidFill>
              <a:srgbClr val="063A82"/>
            </a:solidFill>
            <a:prstDash val="solid"/>
          </a:ln>
        </p:spPr>
      </p:sp>
      <p:sp>
        <p:nvSpPr>
          <p:cNvPr id="8" name="phase-2-label">
            <a:extLst xmlns:a="http://schemas.openxmlformats.org/drawingml/2006/main">
              <a:ext uri="{FF2B5EF4-FFF2-40B4-BE49-F238E27FC236}">
                <a16:creationId xmlns:a16="http://schemas.microsoft.com/office/drawing/2014/main" id="{AC477098-9820-45D8-9FBA-64C03F65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PHASE 2: BUILD</a:t>
            </a:r>
          </a:p>
        </p:txBody>
      </p:sp>
      <p:sp>
        <p:nvSpPr>
          <p:cNvPr id="9" name="phase-3-bar">
            <a:extLst xmlns:a="http://schemas.openxmlformats.org/drawingml/2006/main">
              <a:ext uri="{FF2B5EF4-FFF2-40B4-BE49-F238E27FC236}">
                <a16:creationId xmlns:a16="http://schemas.microsoft.com/office/drawing/2014/main" id="{09B4515C-51E3-4DDD-9DEF-154FD225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581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C8"/>
          </a:solidFill>
          <a:ln xmlns:a="http://schemas.openxmlformats.org/drawingml/2006/main" w="0">
            <a:solidFill>
              <a:srgbClr val="2E63C8"/>
            </a:solidFill>
            <a:prstDash val="solid"/>
          </a:ln>
        </p:spPr>
      </p:sp>
      <p:sp>
        <p:nvSpPr>
          <p:cNvPr id="10" name="phase-3-label">
            <a:extLst xmlns:a="http://schemas.openxmlformats.org/drawingml/2006/main">
              <a:ext uri="{FF2B5EF4-FFF2-40B4-BE49-F238E27FC236}">
                <a16:creationId xmlns:a16="http://schemas.microsoft.com/office/drawing/2014/main" id="{81B406FA-EBD5-4A30-A8FE-A499C51C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PHASE 3: SCALE</a:t>
            </a:r>
          </a:p>
        </p:txBody>
      </p:sp>
      <p:sp>
        <p:nvSpPr>
          <p:cNvPr id="11" name="validate-card">
            <a:extLst xmlns:a="http://schemas.openxmlformats.org/drawingml/2006/main">
              <a:ext uri="{FF2B5EF4-FFF2-40B4-BE49-F238E27FC236}">
                <a16:creationId xmlns:a16="http://schemas.microsoft.com/office/drawing/2014/main" id="{7D8E279E-AD0D-42D0-B9A7-67B05366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3581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7D7D0"/>
            </a:solidFill>
            <a:prstDash val="solid"/>
          </a:ln>
        </p:spPr>
      </p:sp>
      <p:sp>
        <p:nvSpPr>
          <p:cNvPr id="12" name="validate-title">
            <a:extLst xmlns:a="http://schemas.openxmlformats.org/drawingml/2006/main">
              <a:ext uri="{FF2B5EF4-FFF2-40B4-BE49-F238E27FC236}">
                <a16:creationId xmlns:a16="http://schemas.microsoft.com/office/drawing/2014/main" id="{DFD1369D-F7CA-4D4F-9F60-1B94B2FB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217"/>
                </a:solidFill>
                <a:latin typeface="Aptos"/>
                <a:ea typeface="Aptos"/>
                <a:cs typeface="Aptos"/>
              </a:rPr>
              <a:t>Opportunity Review</a:t>
            </a:r>
          </a:p>
        </p:txBody>
      </p:sp>
      <p:sp>
        <p:nvSpPr>
          <p:cNvPr id="13" name="validate-underline">
            <a:extLst xmlns:a="http://schemas.openxmlformats.org/drawingml/2006/main">
              <a:ext uri="{FF2B5EF4-FFF2-40B4-BE49-F238E27FC236}">
                <a16:creationId xmlns:a16="http://schemas.microsoft.com/office/drawing/2014/main" id="{8784158B-35DB-4E0B-B969-0C8C2316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695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B5"/>
          </a:solidFill>
          <a:ln xmlns:a="http://schemas.openxmlformats.org/drawingml/2006/main" w="0">
            <a:solidFill>
              <a:srgbClr val="1F57B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6a607bb5b47cc">
            <a:extLst>
              <a:ext uri="{96DAC541-7B7A-43D3-8B79-37D633B846F1}">
                <asvg:svgBlip xmlns:asvg="http://schemas.microsoft.com/office/drawing/2016/SVG/main" r:embed="R020718a7bc7d4d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421005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5" name="stakeholder-bold">
            <a:extLst xmlns:a="http://schemas.openxmlformats.org/drawingml/2006/main">
              <a:ext uri="{FF2B5EF4-FFF2-40B4-BE49-F238E27FC236}">
                <a16:creationId xmlns:a16="http://schemas.microsoft.com/office/drawing/2014/main" id="{C1ADE82D-5132-42B5-8D16-3206DE19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0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01217"/>
                </a:solidFill>
                <a:latin typeface="Aptos"/>
                <a:ea typeface="Aptos"/>
                <a:cs typeface="Aptos"/>
              </a:rPr>
              <a:t>Stakeholder Feedback:</a:t>
            </a:r>
          </a:p>
        </p:txBody>
      </p:sp>
      <p:sp>
        <p:nvSpPr>
          <p:cNvPr id="16" name="stakeholder-copy">
            <a:extLst xmlns:a="http://schemas.openxmlformats.org/drawingml/2006/main">
              <a:ext uri="{FF2B5EF4-FFF2-40B4-BE49-F238E27FC236}">
                <a16:creationId xmlns:a16="http://schemas.microsoft.com/office/drawing/2014/main" id="{2AD669E3-B8E9-42E5-9728-4E8BEF0A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45770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080" b="0">
                <a:solidFill>
                  <a:srgbClr val="101217"/>
                </a:solidFill>
                <a:latin typeface="Aptos"/>
                <a:ea typeface="Aptos"/>
                <a:cs typeface="Aptos"/>
              </a:rPr>
              <a:t>Review top identified opportunities directly with</a:t>
            </a:r>
          </a:p>
          <a:p xmlns:a="http://schemas.openxmlformats.org/drawingml/2006/main">
            <a:pPr algn="l">
              <a:defRPr sz="1080" b="0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080" b="0">
                <a:solidFill>
                  <a:srgbClr val="101217"/>
                </a:solidFill>
                <a:latin typeface="Aptos"/>
                <a:ea typeface="Aptos"/>
                <a:cs typeface="Aptos"/>
              </a:rPr>
              <a:t>Underwriting teams.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3304af3cc48b6">
            <a:extLst>
              <a:ext uri="{96DAC541-7B7A-43D3-8B79-37D633B846F1}">
                <asvg:svgBlip xmlns:asvg="http://schemas.microsoft.com/office/drawing/2016/SVG/main" r:embed="R553b4434883649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5095875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8" name="logic-bold">
            <a:extLst xmlns:a="http://schemas.openxmlformats.org/drawingml/2006/main">
              <a:ext uri="{FF2B5EF4-FFF2-40B4-BE49-F238E27FC236}">
                <a16:creationId xmlns:a16="http://schemas.microsoft.com/office/drawing/2014/main" id="{8F10B362-07BC-43CB-BABD-66D893A8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0958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01217"/>
                </a:solidFill>
                <a:latin typeface="Aptos"/>
                <a:ea typeface="Aptos"/>
                <a:cs typeface="Aptos"/>
              </a:rPr>
              <a:t>Logic Testing:</a:t>
            </a:r>
          </a:p>
        </p:txBody>
      </p:sp>
      <p:sp>
        <p:nvSpPr>
          <p:cNvPr id="19" name="logic-copy">
            <a:extLst xmlns:a="http://schemas.openxmlformats.org/drawingml/2006/main">
              <a:ext uri="{FF2B5EF4-FFF2-40B4-BE49-F238E27FC236}">
                <a16:creationId xmlns:a16="http://schemas.microsoft.com/office/drawing/2014/main" id="{1C523DC8-D7E3-4D50-9EF8-8CBC0CF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343525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080" b="0">
                <a:solidFill>
                  <a:srgbClr val="101217"/>
                </a:solidFill>
                <a:latin typeface="Aptos"/>
                <a:ea typeface="Aptos"/>
                <a:cs typeface="Aptos"/>
              </a:rPr>
              <a:t>Gather qualitative feedback to refine triage</a:t>
            </a:r>
          </a:p>
          <a:p xmlns:a="http://schemas.openxmlformats.org/drawingml/2006/main">
            <a:pPr algn="l">
              <a:defRPr sz="1080" b="0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080" b="0">
                <a:solidFill>
                  <a:srgbClr val="101217"/>
                </a:solidFill>
                <a:latin typeface="Aptos"/>
                <a:ea typeface="Aptos"/>
                <a:cs typeface="Aptos"/>
              </a:rPr>
              <a:t>parameters.</a:t>
            </a:r>
          </a:p>
        </p:txBody>
      </p:sp>
      <p:sp>
        <p:nvSpPr>
          <p:cNvPr id="20" name="build-card">
            <a:extLst xmlns:a="http://schemas.openxmlformats.org/drawingml/2006/main">
              <a:ext uri="{FF2B5EF4-FFF2-40B4-BE49-F238E27FC236}">
                <a16:creationId xmlns:a16="http://schemas.microsoft.com/office/drawing/2014/main" id="{AF4F7962-8C80-4344-A435-C30190B7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581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7D7D0"/>
            </a:solidFill>
            <a:prstDash val="solid"/>
          </a:ln>
        </p:spPr>
      </p:sp>
      <p:sp>
        <p:nvSpPr>
          <p:cNvPr id="21" name="proven-box">
            <a:extLst xmlns:a="http://schemas.openxmlformats.org/drawingml/2006/main">
              <a:ext uri="{FF2B5EF4-FFF2-40B4-BE49-F238E27FC236}">
                <a16:creationId xmlns:a16="http://schemas.microsoft.com/office/drawing/2014/main" id="{F329ECD5-7097-4E08-B2B2-0F9DE8FC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76650"/>
            <a:ext cx="3048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063A82"/>
            </a:solidFill>
            <a:prstDash val="solid"/>
          </a:ln>
        </p:spPr>
      </p:sp>
      <p:sp>
        <p:nvSpPr>
          <p:cNvPr id="22" name="proven-text">
            <a:extLst xmlns:a="http://schemas.openxmlformats.org/drawingml/2006/main">
              <a:ext uri="{FF2B5EF4-FFF2-40B4-BE49-F238E27FC236}">
                <a16:creationId xmlns:a16="http://schemas.microsoft.com/office/drawing/2014/main" id="{A920DA0A-E4F0-4FB6-8B89-5207A4D0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81425"/>
            <a:ext cx="3048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063A82"/>
                </a:solidFill>
                <a:latin typeface="Aptos Display"/>
                <a:ea typeface="Aptos Display"/>
                <a:cs typeface="Aptos Display"/>
              </a:defRPr>
            </a:pPr>
            <a:r>
              <a:rPr sz="960" b="1">
                <a:solidFill>
                  <a:srgbClr val="063A82"/>
                </a:solidFill>
                <a:latin typeface="Aptos Display"/>
                <a:ea typeface="Aptos Display"/>
                <a:cs typeface="Aptos Display"/>
              </a:rPr>
              <a:t>IF PROVEN VALUABLE</a:t>
            </a:r>
          </a:p>
        </p:txBody>
      </p:sp>
      <p:sp>
        <p:nvSpPr>
          <p:cNvPr id="23" name="build-title">
            <a:extLst xmlns:a="http://schemas.openxmlformats.org/drawingml/2006/main">
              <a:ext uri="{FF2B5EF4-FFF2-40B4-BE49-F238E27FC236}">
                <a16:creationId xmlns:a16="http://schemas.microsoft.com/office/drawing/2014/main" id="{0E092929-385C-4C9D-8E9B-F927E78A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243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217"/>
                </a:solidFill>
                <a:latin typeface="Aptos"/>
                <a:ea typeface="Aptos"/>
                <a:cs typeface="Aptos"/>
              </a:rPr>
              <a:t>Robust Engine Build</a:t>
            </a:r>
          </a:p>
        </p:txBody>
      </p:sp>
      <p:sp>
        <p:nvSpPr>
          <p:cNvPr id="24" name="build-underline">
            <a:extLst xmlns:a="http://schemas.openxmlformats.org/drawingml/2006/main">
              <a:ext uri="{FF2B5EF4-FFF2-40B4-BE49-F238E27FC236}">
                <a16:creationId xmlns:a16="http://schemas.microsoft.com/office/drawing/2014/main" id="{5305813B-481B-44DA-A99F-8D3EAA7F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4820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B5"/>
          </a:solidFill>
          <a:ln xmlns:a="http://schemas.openxmlformats.org/drawingml/2006/main" w="0">
            <a:solidFill>
              <a:srgbClr val="1F57B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1690b1c7b452f">
            <a:extLst>
              <a:ext uri="{96DAC541-7B7A-43D3-8B79-37D633B846F1}">
                <asvg:svgBlip xmlns:asvg="http://schemas.microsoft.com/office/drawing/2016/SVG/main" r:embed="Rc7c7cdfeafd84b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48387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6" name="system-bold">
            <a:extLst xmlns:a="http://schemas.openxmlformats.org/drawingml/2006/main">
              <a:ext uri="{FF2B5EF4-FFF2-40B4-BE49-F238E27FC236}">
                <a16:creationId xmlns:a16="http://schemas.microsoft.com/office/drawing/2014/main" id="{C9F2309D-5D29-43D5-A1DF-6CE90763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482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01217"/>
                </a:solidFill>
                <a:latin typeface="Aptos"/>
                <a:ea typeface="Aptos"/>
                <a:cs typeface="Aptos"/>
              </a:rPr>
              <a:t>System Optimization:</a:t>
            </a:r>
          </a:p>
        </p:txBody>
      </p:sp>
      <p:sp>
        <p:nvSpPr>
          <p:cNvPr id="27" name="build-dash-0">
            <a:extLst xmlns:a="http://schemas.openxmlformats.org/drawingml/2006/main">
              <a:ext uri="{FF2B5EF4-FFF2-40B4-BE49-F238E27FC236}">
                <a16:creationId xmlns:a16="http://schemas.microsoft.com/office/drawing/2014/main" id="{37C04C20-687E-4694-A036-918B8BDB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53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8A9"/>
          </a:solidFill>
          <a:ln xmlns:a="http://schemas.openxmlformats.org/drawingml/2006/main" w="0">
            <a:solidFill>
              <a:srgbClr val="A6A8A9"/>
            </a:solidFill>
            <a:prstDash val="solid"/>
          </a:ln>
        </p:spPr>
      </p:sp>
      <p:sp>
        <p:nvSpPr>
          <p:cNvPr id="28" name="build-item-0">
            <a:extLst xmlns:a="http://schemas.openxmlformats.org/drawingml/2006/main">
              <a:ext uri="{FF2B5EF4-FFF2-40B4-BE49-F238E27FC236}">
                <a16:creationId xmlns:a16="http://schemas.microsoft.com/office/drawing/2014/main" id="{FE950AFE-EDC7-4E77-8398-7AD7FA0C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958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4A4D52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4A4D52"/>
                </a:solidFill>
                <a:latin typeface="Aptos"/>
                <a:ea typeface="Aptos"/>
                <a:cs typeface="Aptos"/>
              </a:rPr>
              <a:t>Ingest longitudinal data (multi-year history)</a:t>
            </a:r>
          </a:p>
        </p:txBody>
      </p:sp>
      <p:sp>
        <p:nvSpPr>
          <p:cNvPr id="29" name="build-dash-1">
            <a:extLst xmlns:a="http://schemas.openxmlformats.org/drawingml/2006/main">
              <a:ext uri="{FF2B5EF4-FFF2-40B4-BE49-F238E27FC236}">
                <a16:creationId xmlns:a16="http://schemas.microsoft.com/office/drawing/2014/main" id="{7A10BA33-2810-40BC-AF24-DF5D95C2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197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8A9"/>
          </a:solidFill>
          <a:ln xmlns:a="http://schemas.openxmlformats.org/drawingml/2006/main" w="0">
            <a:solidFill>
              <a:srgbClr val="A6A8A9"/>
            </a:solidFill>
            <a:prstDash val="solid"/>
          </a:ln>
        </p:spPr>
      </p:sp>
      <p:sp>
        <p:nvSpPr>
          <p:cNvPr id="30" name="build-item-1">
            <a:extLst xmlns:a="http://schemas.openxmlformats.org/drawingml/2006/main">
              <a:ext uri="{FF2B5EF4-FFF2-40B4-BE49-F238E27FC236}">
                <a16:creationId xmlns:a16="http://schemas.microsoft.com/office/drawing/2014/main" id="{42DBBF96-FC99-4E43-9A7A-6D40EFEC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625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4A4D52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4A4D52"/>
                </a:solidFill>
                <a:latin typeface="Aptos"/>
                <a:ea typeface="Aptos"/>
                <a:cs typeface="Aptos"/>
              </a:rPr>
              <a:t>Enhance extraction of key risk characteristics</a:t>
            </a:r>
          </a:p>
        </p:txBody>
      </p:sp>
      <p:sp>
        <p:nvSpPr>
          <p:cNvPr id="31" name="build-dash-2">
            <a:extLst xmlns:a="http://schemas.openxmlformats.org/drawingml/2006/main">
              <a:ext uri="{FF2B5EF4-FFF2-40B4-BE49-F238E27FC236}">
                <a16:creationId xmlns:a16="http://schemas.microsoft.com/office/drawing/2014/main" id="{CC5AA1FF-30D9-4B62-ABBA-E87CDE4C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864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8A9"/>
          </a:solidFill>
          <a:ln xmlns:a="http://schemas.openxmlformats.org/drawingml/2006/main" w="0">
            <a:solidFill>
              <a:srgbClr val="A6A8A9"/>
            </a:solidFill>
            <a:prstDash val="solid"/>
          </a:ln>
        </p:spPr>
      </p:sp>
      <p:sp>
        <p:nvSpPr>
          <p:cNvPr id="32" name="build-item-2">
            <a:extLst xmlns:a="http://schemas.openxmlformats.org/drawingml/2006/main">
              <a:ext uri="{FF2B5EF4-FFF2-40B4-BE49-F238E27FC236}">
                <a16:creationId xmlns:a16="http://schemas.microsoft.com/office/drawing/2014/main" id="{EA412E87-CA93-44BC-A06B-3AA63D79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292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4A4D52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4A4D52"/>
                </a:solidFill>
                <a:latin typeface="Aptos"/>
                <a:ea typeface="Aptos"/>
                <a:cs typeface="Aptos"/>
              </a:rPr>
              <a:t>Optimize model accuracy and statistical fit</a:t>
            </a:r>
          </a:p>
        </p:txBody>
      </p:sp>
      <p:sp>
        <p:nvSpPr>
          <p:cNvPr id="33" name="build-dash-3">
            <a:extLst xmlns:a="http://schemas.openxmlformats.org/drawingml/2006/main">
              <a:ext uri="{FF2B5EF4-FFF2-40B4-BE49-F238E27FC236}">
                <a16:creationId xmlns:a16="http://schemas.microsoft.com/office/drawing/2014/main" id="{25F317B6-B032-4E23-B2BD-DAFBBC47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531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8A9"/>
          </a:solidFill>
          <a:ln xmlns:a="http://schemas.openxmlformats.org/drawingml/2006/main" w="0">
            <a:solidFill>
              <a:srgbClr val="A6A8A9"/>
            </a:solidFill>
            <a:prstDash val="solid"/>
          </a:ln>
        </p:spPr>
      </p:sp>
      <p:sp>
        <p:nvSpPr>
          <p:cNvPr id="34" name="build-item-3">
            <a:extLst xmlns:a="http://schemas.openxmlformats.org/drawingml/2006/main">
              <a:ext uri="{FF2B5EF4-FFF2-40B4-BE49-F238E27FC236}">
                <a16:creationId xmlns:a16="http://schemas.microsoft.com/office/drawing/2014/main" id="{DD4661FA-5797-4A5A-82CD-DD8C1C7B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959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4A4D52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4A4D52"/>
                </a:solidFill>
                <a:latin typeface="Aptos"/>
                <a:ea typeface="Aptos"/>
                <a:cs typeface="Aptos"/>
              </a:rPr>
              <a:t>Embed UW feedback &amp; strategic mandates</a:t>
            </a:r>
          </a:p>
        </p:txBody>
      </p:sp>
      <p:sp>
        <p:nvSpPr>
          <p:cNvPr id="35" name="scale-card">
            <a:extLst xmlns:a="http://schemas.openxmlformats.org/drawingml/2006/main">
              <a:ext uri="{FF2B5EF4-FFF2-40B4-BE49-F238E27FC236}">
                <a16:creationId xmlns:a16="http://schemas.microsoft.com/office/drawing/2014/main" id="{171B5927-7CAD-4CE9-9637-E4E2567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3581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7D7D0"/>
            </a:solidFill>
            <a:prstDash val="solid"/>
          </a:ln>
        </p:spPr>
      </p:sp>
      <p:sp>
        <p:nvSpPr>
          <p:cNvPr id="36" name="scale-title">
            <a:extLst xmlns:a="http://schemas.openxmlformats.org/drawingml/2006/main">
              <a:ext uri="{FF2B5EF4-FFF2-40B4-BE49-F238E27FC236}">
                <a16:creationId xmlns:a16="http://schemas.microsoft.com/office/drawing/2014/main" id="{4169C56F-A6CE-4A9E-AFF2-30EEA428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76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217"/>
                </a:solidFill>
                <a:latin typeface="Aptos"/>
                <a:ea typeface="Aptos"/>
                <a:cs typeface="Aptos"/>
              </a:rPr>
              <a:t>Operationalization</a:t>
            </a:r>
          </a:p>
        </p:txBody>
      </p:sp>
      <p:sp>
        <p:nvSpPr>
          <p:cNvPr id="37" name="scale-underline">
            <a:extLst xmlns:a="http://schemas.openxmlformats.org/drawingml/2006/main">
              <a:ext uri="{FF2B5EF4-FFF2-40B4-BE49-F238E27FC236}">
                <a16:creationId xmlns:a16="http://schemas.microsoft.com/office/drawing/2014/main" id="{EAFEC52F-05F1-48F1-9746-B174D24C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1695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7B5"/>
          </a:solidFill>
          <a:ln xmlns:a="http://schemas.openxmlformats.org/drawingml/2006/main" w="0">
            <a:solidFill>
              <a:srgbClr val="1F57B5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f9edb6d734b90">
            <a:extLst>
              <a:ext uri="{96DAC541-7B7A-43D3-8B79-37D633B846F1}">
                <asvg:svgBlip xmlns:asvg="http://schemas.microsoft.com/office/drawing/2016/SVG/main" r:embed="R7b7f1638e64548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58200" y="42100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9" name="channel-bold">
            <a:extLst xmlns:a="http://schemas.openxmlformats.org/drawingml/2006/main">
              <a:ext uri="{FF2B5EF4-FFF2-40B4-BE49-F238E27FC236}">
                <a16:creationId xmlns:a16="http://schemas.microsoft.com/office/drawing/2014/main" id="{D79F48D5-09A5-429B-87BC-2A44C28C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10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01217"/>
                </a:solidFill>
                <a:latin typeface="Aptos"/>
                <a:ea typeface="Aptos"/>
                <a:cs typeface="Aptos"/>
              </a:rPr>
              <a:t>Channeling:</a:t>
            </a:r>
          </a:p>
        </p:txBody>
      </p:sp>
      <p:sp>
        <p:nvSpPr>
          <p:cNvPr id="40" name="channel-copy">
            <a:extLst xmlns:a="http://schemas.openxmlformats.org/drawingml/2006/main">
              <a:ext uri="{FF2B5EF4-FFF2-40B4-BE49-F238E27FC236}">
                <a16:creationId xmlns:a16="http://schemas.microsoft.com/office/drawing/2014/main" id="{710B2E0B-71E0-41CB-A446-44EBBD6D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457700"/>
            <a:ext cx="2686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4A4D52"/>
                </a:solidFill>
                <a:latin typeface="Aptos"/>
                <a:ea typeface="Aptos"/>
                <a:cs typeface="Aptos"/>
              </a:defRPr>
            </a:pPr>
            <a:r>
              <a:rPr sz="1080" b="0">
                <a:solidFill>
                  <a:srgbClr val="4A4D52"/>
                </a:solidFill>
                <a:latin typeface="Aptos"/>
                <a:ea typeface="Aptos"/>
                <a:cs typeface="Aptos"/>
              </a:rPr>
              <a:t>Route high-value opportunities to target UWs</a:t>
            </a:r>
          </a:p>
          <a:p xmlns:a="http://schemas.openxmlformats.org/drawingml/2006/main">
            <a:pPr algn="l">
              <a:defRPr sz="1080" b="0">
                <a:solidFill>
                  <a:srgbClr val="4A4D52"/>
                </a:solidFill>
                <a:latin typeface="Aptos"/>
                <a:ea typeface="Aptos"/>
                <a:cs typeface="Aptos"/>
              </a:defRPr>
            </a:pPr>
            <a:r>
              <a:rPr sz="1080" b="0">
                <a:solidFill>
                  <a:srgbClr val="4A4D52"/>
                </a:solidFill>
                <a:latin typeface="Aptos"/>
                <a:ea typeface="Aptos"/>
                <a:cs typeface="Aptos"/>
              </a:rPr>
              <a:t>to optimize capacity.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fddf99c764aff">
            <a:extLst>
              <a:ext uri="{96DAC541-7B7A-43D3-8B79-37D633B846F1}">
                <asvg:svgBlip xmlns:asvg="http://schemas.microsoft.com/office/drawing/2016/SVG/main" r:embed="Rc99a2889225e47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58200" y="49911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2" name="value-bold">
            <a:extLst xmlns:a="http://schemas.openxmlformats.org/drawingml/2006/main">
              <a:ext uri="{FF2B5EF4-FFF2-40B4-BE49-F238E27FC236}">
                <a16:creationId xmlns:a16="http://schemas.microsoft.com/office/drawing/2014/main" id="{363FA40D-B4FE-45B5-9BFA-D024A238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91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1217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01217"/>
                </a:solidFill>
                <a:latin typeface="Aptos"/>
                <a:ea typeface="Aptos"/>
                <a:cs typeface="Aptos"/>
              </a:rPr>
              <a:t>Value Tracking:</a:t>
            </a:r>
          </a:p>
        </p:txBody>
      </p:sp>
      <p:sp>
        <p:nvSpPr>
          <p:cNvPr id="43" name="value-copy">
            <a:extLst xmlns:a="http://schemas.openxmlformats.org/drawingml/2006/main">
              <a:ext uri="{FF2B5EF4-FFF2-40B4-BE49-F238E27FC236}">
                <a16:creationId xmlns:a16="http://schemas.microsoft.com/office/drawing/2014/main" id="{6C7B5C88-9DA0-4A4C-A41A-ACCA7000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238750"/>
            <a:ext cx="2686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4A4D52"/>
                </a:solidFill>
                <a:latin typeface="Aptos"/>
                <a:ea typeface="Aptos"/>
                <a:cs typeface="Aptos"/>
              </a:defRPr>
            </a:pPr>
            <a:r>
              <a:rPr sz="1080" b="0">
                <a:solidFill>
                  <a:srgbClr val="4A4D52"/>
                </a:solidFill>
                <a:latin typeface="Aptos"/>
                <a:ea typeface="Aptos"/>
                <a:cs typeface="Aptos"/>
              </a:rPr>
              <a:t>Measure realized value and enable engine</a:t>
            </a:r>
          </a:p>
          <a:p xmlns:a="http://schemas.openxmlformats.org/drawingml/2006/main">
            <a:pPr algn="l">
              <a:defRPr sz="1080" b="0">
                <a:solidFill>
                  <a:srgbClr val="4A4D52"/>
                </a:solidFill>
                <a:latin typeface="Aptos"/>
                <a:ea typeface="Aptos"/>
                <a:cs typeface="Aptos"/>
              </a:defRPr>
            </a:pPr>
            <a:r>
              <a:rPr sz="1080" b="0">
                <a:solidFill>
                  <a:srgbClr val="4A4D52"/>
                </a:solidFill>
                <a:latin typeface="Aptos"/>
                <a:ea typeface="Aptos"/>
                <a:cs typeface="Aptos"/>
              </a:rPr>
              <a:t>self-learning via user decisions.</a:t>
            </a:r>
          </a:p>
        </p:txBody>
      </p:sp>
      <p:sp>
        <p:nvSpPr>
          <p:cNvPr id="44" name="mini-bg">
            <a:extLst xmlns:a="http://schemas.openxmlformats.org/drawingml/2006/main">
              <a:ext uri="{FF2B5EF4-FFF2-40B4-BE49-F238E27FC236}">
                <a16:creationId xmlns:a16="http://schemas.microsoft.com/office/drawing/2014/main" id="{B06B1327-F14C-43D8-A0FB-530B6E6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00700"/>
            <a:ext cx="2686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8CF"/>
          </a:solidFill>
          <a:ln xmlns:a="http://schemas.openxmlformats.org/drawingml/2006/main" w="0">
            <a:solidFill>
              <a:srgbClr val="DAD8CF"/>
            </a:solidFill>
            <a:prstDash val="solid"/>
          </a:ln>
        </p:spPr>
      </p:sp>
      <p:sp>
        <p:nvSpPr>
          <p:cNvPr id="45" name="mini-num-0">
            <a:extLst xmlns:a="http://schemas.openxmlformats.org/drawingml/2006/main">
              <a:ext uri="{FF2B5EF4-FFF2-40B4-BE49-F238E27FC236}">
                <a16:creationId xmlns:a16="http://schemas.microsoft.com/office/drawing/2014/main" id="{BC8A279C-F4A2-45E6-88AF-DA6D68E8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648325"/>
            <a:ext cx="20955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D65"/>
          </a:solidFill>
          <a:ln xmlns:a="http://schemas.openxmlformats.org/drawingml/2006/main" w="0">
            <a:solidFill>
              <a:srgbClr val="174D65"/>
            </a:solidFill>
            <a:prstDash val="solid"/>
          </a:ln>
        </p:spPr>
      </p:sp>
      <p:sp>
        <p:nvSpPr>
          <p:cNvPr id="46" name="mini-num-text-0">
            <a:extLst xmlns:a="http://schemas.openxmlformats.org/drawingml/2006/main">
              <a:ext uri="{FF2B5EF4-FFF2-40B4-BE49-F238E27FC236}">
                <a16:creationId xmlns:a16="http://schemas.microsoft.com/office/drawing/2014/main" id="{FAFEFD98-B1B8-4F6C-B726-5C46A846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652135"/>
            <a:ext cx="209550" cy="43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7" name="mini-step-0-0">
            <a:extLst xmlns:a="http://schemas.openxmlformats.org/drawingml/2006/main">
              <a:ext uri="{FF2B5EF4-FFF2-40B4-BE49-F238E27FC236}">
                <a16:creationId xmlns:a16="http://schemas.microsoft.com/office/drawing/2014/main" id="{A3DA5AF1-88E5-4763-B677-916A4879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648325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48" name="mini-step-0-1">
            <a:extLst xmlns:a="http://schemas.openxmlformats.org/drawingml/2006/main">
              <a:ext uri="{FF2B5EF4-FFF2-40B4-BE49-F238E27FC236}">
                <a16:creationId xmlns:a16="http://schemas.microsoft.com/office/drawing/2014/main" id="{D5652784-D929-4AF8-86DE-2D168EFD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648325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  <p:sp>
        <p:nvSpPr>
          <p:cNvPr id="49" name="mini-step-0-2">
            <a:extLst xmlns:a="http://schemas.openxmlformats.org/drawingml/2006/main">
              <a:ext uri="{FF2B5EF4-FFF2-40B4-BE49-F238E27FC236}">
                <a16:creationId xmlns:a16="http://schemas.microsoft.com/office/drawing/2014/main" id="{AA9938B6-AD6D-4C85-87DF-A7BB24D1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648325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50" name="mini-step-0-3">
            <a:extLst xmlns:a="http://schemas.openxmlformats.org/drawingml/2006/main">
              <a:ext uri="{FF2B5EF4-FFF2-40B4-BE49-F238E27FC236}">
                <a16:creationId xmlns:a16="http://schemas.microsoft.com/office/drawing/2014/main" id="{D164A572-5ED8-4E49-AEBB-614A4C45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648325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  <p:sp>
        <p:nvSpPr>
          <p:cNvPr id="51" name="mini-num-1">
            <a:extLst xmlns:a="http://schemas.openxmlformats.org/drawingml/2006/main">
              <a:ext uri="{FF2B5EF4-FFF2-40B4-BE49-F238E27FC236}">
                <a16:creationId xmlns:a16="http://schemas.microsoft.com/office/drawing/2014/main" id="{F6E0CF9C-5B5E-4188-B16F-37DCCD35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710238"/>
            <a:ext cx="20955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173"/>
          </a:solidFill>
          <a:ln xmlns:a="http://schemas.openxmlformats.org/drawingml/2006/main" w="0">
            <a:solidFill>
              <a:srgbClr val="226173"/>
            </a:solidFill>
            <a:prstDash val="solid"/>
          </a:ln>
        </p:spPr>
      </p:sp>
      <p:sp>
        <p:nvSpPr>
          <p:cNvPr id="52" name="mini-num-text-1">
            <a:extLst xmlns:a="http://schemas.openxmlformats.org/drawingml/2006/main">
              <a:ext uri="{FF2B5EF4-FFF2-40B4-BE49-F238E27FC236}">
                <a16:creationId xmlns:a16="http://schemas.microsoft.com/office/drawing/2014/main" id="{1B090D3F-E57A-45EF-9A59-2041D90D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714048"/>
            <a:ext cx="209550" cy="43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3" name="mini-step-1-0">
            <a:extLst xmlns:a="http://schemas.openxmlformats.org/drawingml/2006/main">
              <a:ext uri="{FF2B5EF4-FFF2-40B4-BE49-F238E27FC236}">
                <a16:creationId xmlns:a16="http://schemas.microsoft.com/office/drawing/2014/main" id="{CAE7CEB2-AE5D-4074-A7E7-6090BF04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710238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54" name="mini-step-1-1">
            <a:extLst xmlns:a="http://schemas.openxmlformats.org/drawingml/2006/main">
              <a:ext uri="{FF2B5EF4-FFF2-40B4-BE49-F238E27FC236}">
                <a16:creationId xmlns:a16="http://schemas.microsoft.com/office/drawing/2014/main" id="{6E7079EF-5F8F-4BC6-9158-01F461B5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710238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  <p:sp>
        <p:nvSpPr>
          <p:cNvPr id="55" name="mini-step-1-2">
            <a:extLst xmlns:a="http://schemas.openxmlformats.org/drawingml/2006/main">
              <a:ext uri="{FF2B5EF4-FFF2-40B4-BE49-F238E27FC236}">
                <a16:creationId xmlns:a16="http://schemas.microsoft.com/office/drawing/2014/main" id="{9613F17B-87D4-4483-A93C-0D2B72ED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710238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56" name="mini-step-1-3">
            <a:extLst xmlns:a="http://schemas.openxmlformats.org/drawingml/2006/main">
              <a:ext uri="{FF2B5EF4-FFF2-40B4-BE49-F238E27FC236}">
                <a16:creationId xmlns:a16="http://schemas.microsoft.com/office/drawing/2014/main" id="{92637C94-840F-4E7E-9038-C5C11043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710238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  <p:sp>
        <p:nvSpPr>
          <p:cNvPr id="57" name="mini-num-2">
            <a:extLst xmlns:a="http://schemas.openxmlformats.org/drawingml/2006/main">
              <a:ext uri="{FF2B5EF4-FFF2-40B4-BE49-F238E27FC236}">
                <a16:creationId xmlns:a16="http://schemas.microsoft.com/office/drawing/2014/main" id="{44C037BC-04C2-4F84-8B61-343467D2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772150"/>
            <a:ext cx="20955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682"/>
          </a:solidFill>
          <a:ln xmlns:a="http://schemas.openxmlformats.org/drawingml/2006/main" w="0">
            <a:solidFill>
              <a:srgbClr val="2C7682"/>
            </a:solidFill>
            <a:prstDash val="solid"/>
          </a:ln>
        </p:spPr>
      </p:sp>
      <p:sp>
        <p:nvSpPr>
          <p:cNvPr id="58" name="mini-num-text-2">
            <a:extLst xmlns:a="http://schemas.openxmlformats.org/drawingml/2006/main">
              <a:ext uri="{FF2B5EF4-FFF2-40B4-BE49-F238E27FC236}">
                <a16:creationId xmlns:a16="http://schemas.microsoft.com/office/drawing/2014/main" id="{EB22CA41-AEB9-423E-9A24-6EB55DB1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775960"/>
            <a:ext cx="209550" cy="43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9" name="mini-step-2-0">
            <a:extLst xmlns:a="http://schemas.openxmlformats.org/drawingml/2006/main">
              <a:ext uri="{FF2B5EF4-FFF2-40B4-BE49-F238E27FC236}">
                <a16:creationId xmlns:a16="http://schemas.microsoft.com/office/drawing/2014/main" id="{C8BA8187-B96C-4D4D-875F-3A8497B3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772150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60" name="mini-step-2-1">
            <a:extLst xmlns:a="http://schemas.openxmlformats.org/drawingml/2006/main">
              <a:ext uri="{FF2B5EF4-FFF2-40B4-BE49-F238E27FC236}">
                <a16:creationId xmlns:a16="http://schemas.microsoft.com/office/drawing/2014/main" id="{4BA3FE77-34AD-4FDD-BB05-B6DC6C6F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772150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  <p:sp>
        <p:nvSpPr>
          <p:cNvPr id="61" name="mini-step-2-2">
            <a:extLst xmlns:a="http://schemas.openxmlformats.org/drawingml/2006/main">
              <a:ext uri="{FF2B5EF4-FFF2-40B4-BE49-F238E27FC236}">
                <a16:creationId xmlns:a16="http://schemas.microsoft.com/office/drawing/2014/main" id="{5631C362-94DC-4F0A-A30A-6FC1C2F8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772150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62" name="mini-step-2-3">
            <a:extLst xmlns:a="http://schemas.openxmlformats.org/drawingml/2006/main">
              <a:ext uri="{FF2B5EF4-FFF2-40B4-BE49-F238E27FC236}">
                <a16:creationId xmlns:a16="http://schemas.microsoft.com/office/drawing/2014/main" id="{DA333105-912A-4F14-8224-165625DE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772150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  <p:sp>
        <p:nvSpPr>
          <p:cNvPr id="63" name="mini-num-3">
            <a:extLst xmlns:a="http://schemas.openxmlformats.org/drawingml/2006/main">
              <a:ext uri="{FF2B5EF4-FFF2-40B4-BE49-F238E27FC236}">
                <a16:creationId xmlns:a16="http://schemas.microsoft.com/office/drawing/2014/main" id="{67737FA4-A227-4B8E-9E0A-9936D568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834063"/>
            <a:ext cx="20955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990"/>
          </a:solidFill>
          <a:ln xmlns:a="http://schemas.openxmlformats.org/drawingml/2006/main" w="0">
            <a:solidFill>
              <a:srgbClr val="3A8990"/>
            </a:solidFill>
            <a:prstDash val="solid"/>
          </a:ln>
        </p:spPr>
      </p:sp>
      <p:sp>
        <p:nvSpPr>
          <p:cNvPr id="64" name="mini-num-text-3">
            <a:extLst xmlns:a="http://schemas.openxmlformats.org/drawingml/2006/main">
              <a:ext uri="{FF2B5EF4-FFF2-40B4-BE49-F238E27FC236}">
                <a16:creationId xmlns:a16="http://schemas.microsoft.com/office/drawing/2014/main" id="{1CD4F4BF-79B2-4AF2-9CE2-464C515B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837873"/>
            <a:ext cx="209550" cy="43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5" name="mini-step-3-0">
            <a:extLst xmlns:a="http://schemas.openxmlformats.org/drawingml/2006/main">
              <a:ext uri="{FF2B5EF4-FFF2-40B4-BE49-F238E27FC236}">
                <a16:creationId xmlns:a16="http://schemas.microsoft.com/office/drawing/2014/main" id="{E17A98EF-A545-4621-B41A-B77A3F97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834063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66" name="mini-step-3-1">
            <a:extLst xmlns:a="http://schemas.openxmlformats.org/drawingml/2006/main">
              <a:ext uri="{FF2B5EF4-FFF2-40B4-BE49-F238E27FC236}">
                <a16:creationId xmlns:a16="http://schemas.microsoft.com/office/drawing/2014/main" id="{8286BC33-83B8-4027-804B-98C8D6CA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834063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  <p:sp>
        <p:nvSpPr>
          <p:cNvPr id="67" name="mini-step-3-2">
            <a:extLst xmlns:a="http://schemas.openxmlformats.org/drawingml/2006/main">
              <a:ext uri="{FF2B5EF4-FFF2-40B4-BE49-F238E27FC236}">
                <a16:creationId xmlns:a16="http://schemas.microsoft.com/office/drawing/2014/main" id="{DC47973F-ED32-4894-AB8C-F5CDB88A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834063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68" name="mini-step-3-3">
            <a:extLst xmlns:a="http://schemas.openxmlformats.org/drawingml/2006/main">
              <a:ext uri="{FF2B5EF4-FFF2-40B4-BE49-F238E27FC236}">
                <a16:creationId xmlns:a16="http://schemas.microsoft.com/office/drawing/2014/main" id="{EABAC383-8DF9-4599-A69A-FAE8EB03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834063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  <p:sp>
        <p:nvSpPr>
          <p:cNvPr id="69" name="mini-num-4">
            <a:extLst xmlns:a="http://schemas.openxmlformats.org/drawingml/2006/main">
              <a:ext uri="{FF2B5EF4-FFF2-40B4-BE49-F238E27FC236}">
                <a16:creationId xmlns:a16="http://schemas.microsoft.com/office/drawing/2014/main" id="{A19C3BFF-311A-4314-8799-67C5188D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895975"/>
            <a:ext cx="20955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0A0"/>
          </a:solidFill>
          <a:ln xmlns:a="http://schemas.openxmlformats.org/drawingml/2006/main" w="0">
            <a:solidFill>
              <a:srgbClr val="58A0A0"/>
            </a:solidFill>
            <a:prstDash val="solid"/>
          </a:ln>
        </p:spPr>
      </p:sp>
      <p:sp>
        <p:nvSpPr>
          <p:cNvPr id="70" name="mini-num-text-4">
            <a:extLst xmlns:a="http://schemas.openxmlformats.org/drawingml/2006/main">
              <a:ext uri="{FF2B5EF4-FFF2-40B4-BE49-F238E27FC236}">
                <a16:creationId xmlns:a16="http://schemas.microsoft.com/office/drawing/2014/main" id="{6CBCF017-5592-482D-B52C-070265D1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899785"/>
            <a:ext cx="209550" cy="43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1" name="mini-step-4-0">
            <a:extLst xmlns:a="http://schemas.openxmlformats.org/drawingml/2006/main">
              <a:ext uri="{FF2B5EF4-FFF2-40B4-BE49-F238E27FC236}">
                <a16:creationId xmlns:a16="http://schemas.microsoft.com/office/drawing/2014/main" id="{1482DD59-863E-477A-8BA3-6F1199E6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895975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72" name="mini-step-4-1">
            <a:extLst xmlns:a="http://schemas.openxmlformats.org/drawingml/2006/main">
              <a:ext uri="{FF2B5EF4-FFF2-40B4-BE49-F238E27FC236}">
                <a16:creationId xmlns:a16="http://schemas.microsoft.com/office/drawing/2014/main" id="{ACD7B375-03E8-49B9-99AE-EA5B1021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895975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  <p:sp>
        <p:nvSpPr>
          <p:cNvPr id="73" name="mini-step-4-2">
            <a:extLst xmlns:a="http://schemas.openxmlformats.org/drawingml/2006/main">
              <a:ext uri="{FF2B5EF4-FFF2-40B4-BE49-F238E27FC236}">
                <a16:creationId xmlns:a16="http://schemas.microsoft.com/office/drawing/2014/main" id="{1513CF0B-7863-4407-BD42-AC280E1C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895975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70"/>
          </a:solidFill>
          <a:ln xmlns:a="http://schemas.openxmlformats.org/drawingml/2006/main" w="0">
            <a:solidFill>
              <a:srgbClr val="285E70"/>
            </a:solidFill>
            <a:prstDash val="solid"/>
          </a:ln>
        </p:spPr>
      </p:sp>
      <p:sp>
        <p:nvSpPr>
          <p:cNvPr id="74" name="mini-step-4-3">
            <a:extLst xmlns:a="http://schemas.openxmlformats.org/drawingml/2006/main">
              <a:ext uri="{FF2B5EF4-FFF2-40B4-BE49-F238E27FC236}">
                <a16:creationId xmlns:a16="http://schemas.microsoft.com/office/drawing/2014/main" id="{D55D05C1-AD05-4BA9-8DB8-B7572D0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895975"/>
            <a:ext cx="533400" cy="5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983"/>
          </a:solidFill>
          <a:ln xmlns:a="http://schemas.openxmlformats.org/drawingml/2006/main" w="0">
            <a:solidFill>
              <a:srgbClr val="52798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5878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2026-06-10T05:40:21.2350000Z</dcterms:created>
  <dcterms:modified xsi:type="dcterms:W3CDTF">2026-06-10T05:40:21.2350000Z</dcterms:modified>
</coreProperties>
</file>