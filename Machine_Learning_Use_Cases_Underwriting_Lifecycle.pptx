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b5a858afeb44c1" /><Relationship Type="http://schemas.openxmlformats.org/officeDocument/2006/relationships/extended-properties" Target="/docProps/app.xml" Id="Ra917803f9ed04557" /><Relationship Type="http://schemas.openxmlformats.org/officeDocument/2006/relationships/officeDocument" Target="/ppt/presentation.xml" Id="Rf78217c10e7343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9abec2ef9446aa"/>
  </p:sldMasterIdLst>
  <p:notesMasterIdLst>
    <p:notesMasterId xmlns:r="http://schemas.openxmlformats.org/officeDocument/2006/relationships" r:id="R4d71cda9dfcf47eb"/>
  </p:notesMasterIdLst>
  <p:sldIdLst>
    <p:sldId xmlns:r="http://schemas.openxmlformats.org/officeDocument/2006/relationships" id="256" r:id="R0ee49c97a2fa4e9e"/>
  </p:sldIdLst>
  <p:sldSz cx="14630400" cy="9753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61cc95ce1a4cc1" /><Relationship Type="http://schemas.openxmlformats.org/officeDocument/2006/relationships/slideMaster" Target="/ppt/slideMasters/slideMaster1.xml" Id="R5f9abec2ef9446aa" /><Relationship Type="http://schemas.openxmlformats.org/officeDocument/2006/relationships/notesMaster" Target="/ppt/notesMasters/notesMaster1.xml" Id="R4d71cda9dfcf47eb" /><Relationship Type="http://schemas.openxmlformats.org/officeDocument/2006/relationships/presProps" Target="/ppt/presProps.xml" Id="R15936b264c884202" /><Relationship Type="http://schemas.openxmlformats.org/officeDocument/2006/relationships/tableStyles" Target="/ppt/tableStyles.xml" Id="R33240a8ae04f4c10" /><Relationship Type="http://schemas.openxmlformats.org/officeDocument/2006/relationships/slide" Target="/ppt/slides/slide1.xml" Id="R0ee49c97a2fa4e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9d491019e24a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7a3fceb56840cc" /><Relationship Type="http://schemas.openxmlformats.org/officeDocument/2006/relationships/notesMaster" Target="/ppt/notesMasters/notesMaster1.xml" Id="R01eb47dfad0446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b6c9ef9f84e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892d3adfb54950" /><Relationship Type="http://schemas.openxmlformats.org/officeDocument/2006/relationships/slideLayout" Target="/ppt/slideLayouts/slideLayout1.xml" Id="Reae2222d57eb44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e2222d57eb44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332600e8c42d9" /><Relationship Type="http://schemas.openxmlformats.org/officeDocument/2006/relationships/image" Target="/ppt/media/image.png" Id="R4da6776d95fb4ebd" /><Relationship Type="http://schemas.openxmlformats.org/officeDocument/2006/relationships/image" Target="/ppt/media/image.svg" Id="R44c974df654343e1" /><Relationship Type="http://schemas.openxmlformats.org/officeDocument/2006/relationships/image" Target="/ppt/media/image2.png" Id="Raa0d085ecd824635" /><Relationship Type="http://schemas.openxmlformats.org/officeDocument/2006/relationships/image" Target="/ppt/media/image2.svg" Id="R608370ea115540fc" /><Relationship Type="http://schemas.openxmlformats.org/officeDocument/2006/relationships/image" Target="/ppt/media/image3.png" Id="Rdc80691f07cf46e6" /><Relationship Type="http://schemas.openxmlformats.org/officeDocument/2006/relationships/image" Target="/ppt/media/image3.svg" Id="R759f874d05a24cef" /><Relationship Type="http://schemas.openxmlformats.org/officeDocument/2006/relationships/image" Target="/ppt/media/image4.png" Id="R79619ada70a04bd3" /><Relationship Type="http://schemas.openxmlformats.org/officeDocument/2006/relationships/image" Target="/ppt/media/image4.svg" Id="R35fa39a4f7794014" /><Relationship Type="http://schemas.openxmlformats.org/officeDocument/2006/relationships/image" Target="/ppt/media/image5.png" Id="R6ea5957393c54a5f" /><Relationship Type="http://schemas.openxmlformats.org/officeDocument/2006/relationships/image" Target="/ppt/media/image5.svg" Id="R8f6dc4a7149f4aed" /><Relationship Type="http://schemas.openxmlformats.org/officeDocument/2006/relationships/image" Target="/ppt/media/image6.png" Id="R9ae2af5225ec41a1" /><Relationship Type="http://schemas.openxmlformats.org/officeDocument/2006/relationships/image" Target="/ppt/media/image6.svg" Id="R2c305fdd41df4979" /><Relationship Type="http://schemas.openxmlformats.org/officeDocument/2006/relationships/image" Target="/ppt/media/image7.png" Id="Ra562615fc87b49a1" /><Relationship Type="http://schemas.openxmlformats.org/officeDocument/2006/relationships/image" Target="/ppt/media/image7.svg" Id="R98dd4dfd726a46f2" /><Relationship Type="http://schemas.openxmlformats.org/officeDocument/2006/relationships/image" Target="/ppt/media/image8.png" Id="R6c0286c020604d02" /><Relationship Type="http://schemas.openxmlformats.org/officeDocument/2006/relationships/image" Target="/ppt/media/image8.svg" Id="R483e5074289a4986" /><Relationship Type="http://schemas.openxmlformats.org/officeDocument/2006/relationships/image" Target="/ppt/media/image9.png" Id="Re4708a3483c24548" /><Relationship Type="http://schemas.openxmlformats.org/officeDocument/2006/relationships/image" Target="/ppt/media/image9.svg" Id="R0f7e4f7535cd482e" /><Relationship Type="http://schemas.openxmlformats.org/officeDocument/2006/relationships/image" Target="/ppt/media/image10.png" Id="R87a19d0fb4454cd8" /><Relationship Type="http://schemas.openxmlformats.org/officeDocument/2006/relationships/image" Target="/ppt/media/image10.svg" Id="Rdc0f3aff33ec4ab1" /><Relationship Type="http://schemas.openxmlformats.org/officeDocument/2006/relationships/image" Target="/ppt/media/image11.png" Id="R942d429c2b644494" /><Relationship Type="http://schemas.openxmlformats.org/officeDocument/2006/relationships/image" Target="/ppt/media/image11.svg" Id="Rb9ae755acb4d4314" /><Relationship Type="http://schemas.openxmlformats.org/officeDocument/2006/relationships/image" Target="/ppt/media/image12.png" Id="Rf4eee511624c4b23" /><Relationship Type="http://schemas.openxmlformats.org/officeDocument/2006/relationships/image" Target="/ppt/media/image12.svg" Id="Rf2def06253484cc0" /><Relationship Type="http://schemas.openxmlformats.org/officeDocument/2006/relationships/image" Target="/ppt/media/image13.png" Id="Ra43b2d5844b54e64" /><Relationship Type="http://schemas.openxmlformats.org/officeDocument/2006/relationships/image" Target="/ppt/media/image13.svg" Id="Rd2b8cd6e9a644686" /><Relationship Type="http://schemas.openxmlformats.org/officeDocument/2006/relationships/notesSlide" Target="/ppt/notesSlides/notesSlide1.xml" Id="R438b72d2c5184d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9246EA9-2C62-46CB-944C-641E9083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97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650CAE8-335F-4B43-BC12-8A13F7BD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71450"/>
            <a:ext cx="1409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61955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061955"/>
                </a:solidFill>
                <a:latin typeface="Aptos Display"/>
                <a:ea typeface="Aptos Display"/>
                <a:cs typeface="Aptos Display"/>
              </a:rPr>
              <a:t>Machine Learning Use Cases Across the Underwriting Lifecycle</a:t>
            </a:r>
          </a:p>
        </p:txBody>
      </p:sp>
      <p:sp>
        <p:nvSpPr>
          <p:cNvPr id="3" name="orange-rule">
            <a:extLst xmlns:a="http://schemas.openxmlformats.org/drawingml/2006/main">
              <a:ext uri="{FF2B5EF4-FFF2-40B4-BE49-F238E27FC236}">
                <a16:creationId xmlns:a16="http://schemas.microsoft.com/office/drawing/2014/main" id="{D3AE1077-6594-4338-B882-80B6812F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781050"/>
            <a:ext cx="1000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F05A00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F38190C-3CF0-4EC0-AAD4-9B4B104B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99060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Leveraging Submission, Broker, Exposure, Construction, Occupancy &amp; Claims Data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7E9E91D4-A927-44D5-8DD2-4A6B4649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019300"/>
            <a:ext cx="2324100" cy="550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C4DB8"/>
            </a:solidFill>
            <a:prstDash val="solid"/>
          </a:ln>
        </p:spPr>
      </p:sp>
      <p:sp>
        <p:nvSpPr>
          <p:cNvPr id="6" name="card-1-header">
            <a:extLst xmlns:a="http://schemas.openxmlformats.org/drawingml/2006/main">
              <a:ext uri="{FF2B5EF4-FFF2-40B4-BE49-F238E27FC236}">
                <a16:creationId xmlns:a16="http://schemas.microsoft.com/office/drawing/2014/main" id="{BF2BA29A-EFA0-4AEC-B5D7-85E301CF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019300"/>
            <a:ext cx="2324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DB8"/>
          </a:solidFill>
          <a:ln xmlns:a="http://schemas.openxmlformats.org/drawingml/2006/main" w="0">
            <a:solidFill>
              <a:srgbClr val="0C4DB8"/>
            </a:solidFill>
            <a:prstDash val="solid"/>
          </a:ln>
        </p:spPr>
      </p:sp>
      <p:sp>
        <p:nvSpPr>
          <p:cNvPr id="7" name="card-1-icon-circle">
            <a:extLst xmlns:a="http://schemas.openxmlformats.org/drawingml/2006/main">
              <a:ext uri="{FF2B5EF4-FFF2-40B4-BE49-F238E27FC236}">
                <a16:creationId xmlns:a16="http://schemas.microsoft.com/office/drawing/2014/main" id="{92FC6BDE-9A26-4F3C-944D-11D0DEB1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668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C4DB8"/>
            </a:solidFill>
            <a:prstDash val="solid"/>
          </a:ln>
        </p:spPr>
      </p:sp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6776d95fb4ebd">
            <a:extLst>
              <a:ext uri="{96DAC541-7B7A-43D3-8B79-37D633B846F1}">
                <asvg:svgBlip xmlns:asvg="http://schemas.microsoft.com/office/drawing/2016/SVG/main" r:embed="R44c974df654343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7275" y="16668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9" name="card-1-num-circle">
            <a:extLst xmlns:a="http://schemas.openxmlformats.org/drawingml/2006/main">
              <a:ext uri="{FF2B5EF4-FFF2-40B4-BE49-F238E27FC236}">
                <a16:creationId xmlns:a16="http://schemas.microsoft.com/office/drawing/2014/main" id="{3202C498-BFDB-4D21-A898-3189B677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C4DB8"/>
            </a:solidFill>
            <a:prstDash val="solid"/>
          </a:ln>
        </p:spPr>
      </p:sp>
      <p:sp>
        <p:nvSpPr>
          <p:cNvPr id="10" name="card-1-num">
            <a:extLst xmlns:a="http://schemas.openxmlformats.org/drawingml/2006/main">
              <a:ext uri="{FF2B5EF4-FFF2-40B4-BE49-F238E27FC236}">
                <a16:creationId xmlns:a16="http://schemas.microsoft.com/office/drawing/2014/main" id="{F93D1741-6CCE-461F-B43B-14DDCFD1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0"/>
            <a:ext cx="2952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4D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4DB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1-title">
            <a:extLst xmlns:a="http://schemas.openxmlformats.org/drawingml/2006/main">
              <a:ext uri="{FF2B5EF4-FFF2-40B4-BE49-F238E27FC236}">
                <a16:creationId xmlns:a16="http://schemas.microsoft.com/office/drawing/2014/main" id="{FBF75697-64C6-4E5C-8609-107CE947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47925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PREDICTIVE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MODELING</a:t>
            </a:r>
          </a:p>
        </p:txBody>
      </p:sp>
      <p:sp>
        <p:nvSpPr>
          <p:cNvPr id="12" name="card-1-subtitle">
            <a:extLst xmlns:a="http://schemas.openxmlformats.org/drawingml/2006/main">
              <a:ext uri="{FF2B5EF4-FFF2-40B4-BE49-F238E27FC236}">
                <a16:creationId xmlns:a16="http://schemas.microsoft.com/office/drawing/2014/main" id="{3652A428-B658-42A3-96F4-3883D544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57525"/>
            <a:ext cx="186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Predict future underwriting</a:t>
            </a:r>
          </a:p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outcomes</a:t>
            </a:r>
          </a:p>
        </p:txBody>
      </p:sp>
      <p:sp>
        <p:nvSpPr>
          <p:cNvPr id="13" name="card-1-dot-0">
            <a:extLst xmlns:a="http://schemas.openxmlformats.org/drawingml/2006/main">
              <a:ext uri="{FF2B5EF4-FFF2-40B4-BE49-F238E27FC236}">
                <a16:creationId xmlns:a16="http://schemas.microsoft.com/office/drawing/2014/main" id="{06648566-498B-48FB-940B-84FABD00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433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D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4DB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card-1-bullet-0">
            <a:extLst xmlns:a="http://schemas.openxmlformats.org/drawingml/2006/main">
              <a:ext uri="{FF2B5EF4-FFF2-40B4-BE49-F238E27FC236}">
                <a16:creationId xmlns:a16="http://schemas.microsoft.com/office/drawing/2014/main" id="{E36C9D07-1469-4A42-988D-798CDE9D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242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Bound Probability Prediction</a:t>
            </a:r>
          </a:p>
        </p:txBody>
      </p:sp>
      <p:sp>
        <p:nvSpPr>
          <p:cNvPr id="15" name="card-1-dot-1">
            <a:extLst xmlns:a="http://schemas.openxmlformats.org/drawingml/2006/main">
              <a:ext uri="{FF2B5EF4-FFF2-40B4-BE49-F238E27FC236}">
                <a16:creationId xmlns:a16="http://schemas.microsoft.com/office/drawing/2014/main" id="{EDBD5F59-BA55-4C6C-8F8B-DFE07A58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100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D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4DB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card-1-bullet-1">
            <a:extLst xmlns:a="http://schemas.openxmlformats.org/drawingml/2006/main">
              <a:ext uri="{FF2B5EF4-FFF2-40B4-BE49-F238E27FC236}">
                <a16:creationId xmlns:a16="http://schemas.microsoft.com/office/drawing/2014/main" id="{795125D4-05A3-45D7-A3F2-59ED9E17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909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NTU Prediction</a:t>
            </a:r>
          </a:p>
        </p:txBody>
      </p:sp>
      <p:sp>
        <p:nvSpPr>
          <p:cNvPr id="17" name="card-1-dot-2">
            <a:extLst xmlns:a="http://schemas.openxmlformats.org/drawingml/2006/main">
              <a:ext uri="{FF2B5EF4-FFF2-40B4-BE49-F238E27FC236}">
                <a16:creationId xmlns:a16="http://schemas.microsoft.com/office/drawing/2014/main" id="{646D118B-D747-4FB2-9787-6C8ABFA6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2767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D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4DB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card-1-bullet-2">
            <a:extLst xmlns:a="http://schemas.openxmlformats.org/drawingml/2006/main">
              <a:ext uri="{FF2B5EF4-FFF2-40B4-BE49-F238E27FC236}">
                <a16:creationId xmlns:a16="http://schemas.microsoft.com/office/drawing/2014/main" id="{B8F23510-A539-4554-B908-1529E384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576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Decline Probability Prediction</a:t>
            </a:r>
          </a:p>
        </p:txBody>
      </p:sp>
      <p:sp>
        <p:nvSpPr>
          <p:cNvPr id="19" name="card-1-dot-3">
            <a:extLst xmlns:a="http://schemas.openxmlformats.org/drawingml/2006/main">
              <a:ext uri="{FF2B5EF4-FFF2-40B4-BE49-F238E27FC236}">
                <a16:creationId xmlns:a16="http://schemas.microsoft.com/office/drawing/2014/main" id="{44FA23CA-FDA8-4BD7-9169-8D36ED20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434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D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4DB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card-1-bullet-3">
            <a:extLst xmlns:a="http://schemas.openxmlformats.org/drawingml/2006/main">
              <a:ext uri="{FF2B5EF4-FFF2-40B4-BE49-F238E27FC236}">
                <a16:creationId xmlns:a16="http://schemas.microsoft.com/office/drawing/2014/main" id="{BC84EE53-3685-4391-ABBD-777416B3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243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Premium Prediction</a:t>
            </a:r>
          </a:p>
        </p:txBody>
      </p:sp>
      <p:sp>
        <p:nvSpPr>
          <p:cNvPr id="21" name="card-1-dot-4">
            <a:extLst xmlns:a="http://schemas.openxmlformats.org/drawingml/2006/main">
              <a:ext uri="{FF2B5EF4-FFF2-40B4-BE49-F238E27FC236}">
                <a16:creationId xmlns:a16="http://schemas.microsoft.com/office/drawing/2014/main" id="{42E4AD35-1C65-4D1A-A6CA-F86026E5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D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4DB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card-1-bullet-4">
            <a:extLst xmlns:a="http://schemas.openxmlformats.org/drawingml/2006/main">
              <a:ext uri="{FF2B5EF4-FFF2-40B4-BE49-F238E27FC236}">
                <a16:creationId xmlns:a16="http://schemas.microsoft.com/office/drawing/2014/main" id="{292DF780-A2F7-4D9F-8D0C-E643EA84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910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Quote Conversion Prediction</a:t>
            </a:r>
          </a:p>
        </p:txBody>
      </p:sp>
      <p:sp>
        <p:nvSpPr>
          <p:cNvPr id="23" name="card-1-dot-5">
            <a:extLst xmlns:a="http://schemas.openxmlformats.org/drawingml/2006/main">
              <a:ext uri="{FF2B5EF4-FFF2-40B4-BE49-F238E27FC236}">
                <a16:creationId xmlns:a16="http://schemas.microsoft.com/office/drawing/2014/main" id="{A38DB6BB-7F58-47FE-A1F9-110B9FFC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768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D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4DB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card-1-bullet-5">
            <a:extLst xmlns:a="http://schemas.openxmlformats.org/drawingml/2006/main">
              <a:ext uri="{FF2B5EF4-FFF2-40B4-BE49-F238E27FC236}">
                <a16:creationId xmlns:a16="http://schemas.microsoft.com/office/drawing/2014/main" id="{0244CB24-D468-42E8-A8D0-9B6622F7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577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Revenue Forecasting</a:t>
            </a:r>
          </a:p>
        </p:txBody>
      </p:sp>
      <p:sp>
        <p:nvSpPr>
          <p:cNvPr id="25" name="card-1-dot-6">
            <a:extLst xmlns:a="http://schemas.openxmlformats.org/drawingml/2006/main">
              <a:ext uri="{FF2B5EF4-FFF2-40B4-BE49-F238E27FC236}">
                <a16:creationId xmlns:a16="http://schemas.microsoft.com/office/drawing/2014/main" id="{E5B5E914-467C-4A1A-B24D-D57B3359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435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D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4DB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card-1-bullet-6">
            <a:extLst xmlns:a="http://schemas.openxmlformats.org/drawingml/2006/main">
              <a:ext uri="{FF2B5EF4-FFF2-40B4-BE49-F238E27FC236}">
                <a16:creationId xmlns:a16="http://schemas.microsoft.com/office/drawing/2014/main" id="{2709D53A-C3DB-4493-9D26-BA249320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3244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Broker Conversion Prediction</a:t>
            </a:r>
          </a:p>
        </p:txBody>
      </p:sp>
      <p:sp>
        <p:nvSpPr>
          <p:cNvPr id="27" name="card-1-dot-7">
            <a:extLst xmlns:a="http://schemas.openxmlformats.org/drawingml/2006/main">
              <a:ext uri="{FF2B5EF4-FFF2-40B4-BE49-F238E27FC236}">
                <a16:creationId xmlns:a16="http://schemas.microsoft.com/office/drawing/2014/main" id="{9D7F8F01-5569-4BF8-A56F-CD5F327C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102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4D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4DB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8" name="card-1-bullet-7">
            <a:extLst xmlns:a="http://schemas.openxmlformats.org/drawingml/2006/main">
              <a:ext uri="{FF2B5EF4-FFF2-40B4-BE49-F238E27FC236}">
                <a16:creationId xmlns:a16="http://schemas.microsoft.com/office/drawing/2014/main" id="{94A5AA4F-F2AD-4DBC-A91F-526CDCA8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911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Renewal Probability Prediction</a:t>
            </a:r>
          </a:p>
        </p:txBody>
      </p:sp>
      <p:sp>
        <p:nvSpPr>
          <p:cNvPr id="29" name="card-1-output-box">
            <a:extLst xmlns:a="http://schemas.openxmlformats.org/drawingml/2006/main">
              <a:ext uri="{FF2B5EF4-FFF2-40B4-BE49-F238E27FC236}">
                <a16:creationId xmlns:a16="http://schemas.microsoft.com/office/drawing/2014/main" id="{DD04D3F4-4214-4D95-8190-9B1919BA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70560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7620">
            <a:solidFill>
              <a:srgbClr val="0C4DB8"/>
            </a:solidFill>
            <a:prstDash val="solid"/>
          </a:ln>
        </p:spPr>
      </p:sp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d085ecd824635">
            <a:extLst>
              <a:ext uri="{96DAC541-7B7A-43D3-8B79-37D633B846F1}">
                <asvg:svgBlip xmlns:asvg="http://schemas.microsoft.com/office/drawing/2016/SVG/main" r:embed="R608370ea115540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4350" y="6877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1" name="card-1-output-label">
            <a:extLst xmlns:a="http://schemas.openxmlformats.org/drawingml/2006/main">
              <a:ext uri="{FF2B5EF4-FFF2-40B4-BE49-F238E27FC236}">
                <a16:creationId xmlns:a16="http://schemas.microsoft.com/office/drawing/2014/main" id="{43B7BDEA-CC4F-4AB5-A45E-FE587BAB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838950"/>
            <a:ext cx="819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C4DB8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0C4DB8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32" name="card-1-output-text">
            <a:extLst xmlns:a="http://schemas.openxmlformats.org/drawingml/2006/main">
              <a:ext uri="{FF2B5EF4-FFF2-40B4-BE49-F238E27FC236}">
                <a16:creationId xmlns:a16="http://schemas.microsoft.com/office/drawing/2014/main" id="{E28EDF21-54F6-4F89-93A1-22B06AFE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000875"/>
            <a:ext cx="1257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Probability Score /</a:t>
            </a:r>
          </a:p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Risk Score</a:t>
            </a:r>
          </a:p>
        </p:txBody>
      </p:sp>
      <p:sp>
        <p:nvSpPr>
          <p:cNvPr id="33" name="card-2">
            <a:extLst xmlns:a="http://schemas.openxmlformats.org/drawingml/2006/main">
              <a:ext uri="{FF2B5EF4-FFF2-40B4-BE49-F238E27FC236}">
                <a16:creationId xmlns:a16="http://schemas.microsoft.com/office/drawing/2014/main" id="{97961077-87FC-4F1B-98EE-5177C017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19300"/>
            <a:ext cx="2324100" cy="550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87E83"/>
            </a:solidFill>
            <a:prstDash val="solid"/>
          </a:ln>
        </p:spPr>
      </p:sp>
      <p:sp>
        <p:nvSpPr>
          <p:cNvPr id="34" name="card-2-header">
            <a:extLst xmlns:a="http://schemas.openxmlformats.org/drawingml/2006/main">
              <a:ext uri="{FF2B5EF4-FFF2-40B4-BE49-F238E27FC236}">
                <a16:creationId xmlns:a16="http://schemas.microsoft.com/office/drawing/2014/main" id="{097A6BD8-6F8E-4001-8424-AAE8C0C6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19300"/>
            <a:ext cx="2324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solidFill>
              <a:srgbClr val="087E83"/>
            </a:solidFill>
            <a:prstDash val="solid"/>
          </a:ln>
        </p:spPr>
      </p:sp>
      <p:sp>
        <p:nvSpPr>
          <p:cNvPr id="35" name="card-2-icon-circle">
            <a:extLst xmlns:a="http://schemas.openxmlformats.org/drawingml/2006/main">
              <a:ext uri="{FF2B5EF4-FFF2-40B4-BE49-F238E27FC236}">
                <a16:creationId xmlns:a16="http://schemas.microsoft.com/office/drawing/2014/main" id="{52D1F276-1561-4076-B04B-6CBE5FCC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668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83"/>
            </a:solidFill>
            <a:prstDash val="solid"/>
          </a:ln>
        </p:spPr>
      </p:sp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0691f07cf46e6">
            <a:extLst>
              <a:ext uri="{96DAC541-7B7A-43D3-8B79-37D633B846F1}">
                <asvg:svgBlip xmlns:asvg="http://schemas.microsoft.com/office/drawing/2016/SVG/main" r:embed="R759f874d05a24c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14725" y="16668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7" name="card-2-num-circle">
            <a:extLst xmlns:a="http://schemas.openxmlformats.org/drawingml/2006/main">
              <a:ext uri="{FF2B5EF4-FFF2-40B4-BE49-F238E27FC236}">
                <a16:creationId xmlns:a16="http://schemas.microsoft.com/office/drawing/2014/main" id="{C78BC0BF-ABA6-4FCC-89D5-1B126714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87E83"/>
            </a:solidFill>
            <a:prstDash val="solid"/>
          </a:ln>
        </p:spPr>
      </p:sp>
      <p:sp>
        <p:nvSpPr>
          <p:cNvPr id="38" name="card-2-num">
            <a:extLst xmlns:a="http://schemas.openxmlformats.org/drawingml/2006/main">
              <a:ext uri="{FF2B5EF4-FFF2-40B4-BE49-F238E27FC236}">
                <a16:creationId xmlns:a16="http://schemas.microsoft.com/office/drawing/2014/main" id="{C139A8AD-2CDB-4651-A6B7-8B31201D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76500"/>
            <a:ext cx="2952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9" name="card-2-title">
            <a:extLst xmlns:a="http://schemas.openxmlformats.org/drawingml/2006/main">
              <a:ext uri="{FF2B5EF4-FFF2-40B4-BE49-F238E27FC236}">
                <a16:creationId xmlns:a16="http://schemas.microsoft.com/office/drawing/2014/main" id="{70B1B956-51F1-42F9-8767-F993C15D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47925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CLASSIFICATION &amp;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RISK SEGMENTATION</a:t>
            </a:r>
          </a:p>
        </p:txBody>
      </p:sp>
      <p:sp>
        <p:nvSpPr>
          <p:cNvPr id="40" name="card-2-subtitle">
            <a:extLst xmlns:a="http://schemas.openxmlformats.org/drawingml/2006/main">
              <a:ext uri="{FF2B5EF4-FFF2-40B4-BE49-F238E27FC236}">
                <a16:creationId xmlns:a16="http://schemas.microsoft.com/office/drawing/2014/main" id="{4E645435-5C68-4511-822F-A8F517CB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57525"/>
            <a:ext cx="186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Categorize submissions</a:t>
            </a:r>
          </a:p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into risk groups</a:t>
            </a:r>
          </a:p>
        </p:txBody>
      </p:sp>
      <p:sp>
        <p:nvSpPr>
          <p:cNvPr id="41" name="card-2-dot-0">
            <a:extLst xmlns:a="http://schemas.openxmlformats.org/drawingml/2006/main">
              <a:ext uri="{FF2B5EF4-FFF2-40B4-BE49-F238E27FC236}">
                <a16:creationId xmlns:a16="http://schemas.microsoft.com/office/drawing/2014/main" id="{3CFF8FB0-76C7-401F-84A4-BCEEAD37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433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2" name="card-2-bullet-0">
            <a:extLst xmlns:a="http://schemas.openxmlformats.org/drawingml/2006/main">
              <a:ext uri="{FF2B5EF4-FFF2-40B4-BE49-F238E27FC236}">
                <a16:creationId xmlns:a16="http://schemas.microsoft.com/office/drawing/2014/main" id="{CCD27467-ACCB-4E5B-A97C-06AAECE8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242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NTU Reason Prediction</a:t>
            </a:r>
          </a:p>
        </p:txBody>
      </p:sp>
      <p:sp>
        <p:nvSpPr>
          <p:cNvPr id="43" name="card-2-dot-1">
            <a:extLst xmlns:a="http://schemas.openxmlformats.org/drawingml/2006/main">
              <a:ext uri="{FF2B5EF4-FFF2-40B4-BE49-F238E27FC236}">
                <a16:creationId xmlns:a16="http://schemas.microsoft.com/office/drawing/2014/main" id="{228B00E6-E7D5-4AF6-9A8B-98B98830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100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4" name="card-2-bullet-1">
            <a:extLst xmlns:a="http://schemas.openxmlformats.org/drawingml/2006/main">
              <a:ext uri="{FF2B5EF4-FFF2-40B4-BE49-F238E27FC236}">
                <a16:creationId xmlns:a16="http://schemas.microsoft.com/office/drawing/2014/main" id="{C4F0BCF8-8421-4408-B909-C77EF0F8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9909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Decline Reason Prediction</a:t>
            </a:r>
          </a:p>
        </p:txBody>
      </p:sp>
      <p:sp>
        <p:nvSpPr>
          <p:cNvPr id="45" name="card-2-dot-2">
            <a:extLst xmlns:a="http://schemas.openxmlformats.org/drawingml/2006/main">
              <a:ext uri="{FF2B5EF4-FFF2-40B4-BE49-F238E27FC236}">
                <a16:creationId xmlns:a16="http://schemas.microsoft.com/office/drawing/2014/main" id="{E47116F4-78FC-47DC-8780-8BCF6DC2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767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6" name="card-2-bullet-2">
            <a:extLst xmlns:a="http://schemas.openxmlformats.org/drawingml/2006/main">
              <a:ext uri="{FF2B5EF4-FFF2-40B4-BE49-F238E27FC236}">
                <a16:creationId xmlns:a16="http://schemas.microsoft.com/office/drawing/2014/main" id="{15D0CC96-16B2-45B5-97F6-CC6D3DBC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2576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Risk Appetite Classification</a:t>
            </a:r>
          </a:p>
        </p:txBody>
      </p:sp>
      <p:sp>
        <p:nvSpPr>
          <p:cNvPr id="47" name="card-2-dot-3">
            <a:extLst xmlns:a="http://schemas.openxmlformats.org/drawingml/2006/main">
              <a:ext uri="{FF2B5EF4-FFF2-40B4-BE49-F238E27FC236}">
                <a16:creationId xmlns:a16="http://schemas.microsoft.com/office/drawing/2014/main" id="{6367F9EB-1AED-4CE0-9C29-97EDF3F2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434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8" name="card-2-bullet-3">
            <a:extLst xmlns:a="http://schemas.openxmlformats.org/drawingml/2006/main">
              <a:ext uri="{FF2B5EF4-FFF2-40B4-BE49-F238E27FC236}">
                <a16:creationId xmlns:a16="http://schemas.microsoft.com/office/drawing/2014/main" id="{01CF3A39-E8F0-41C0-8B9F-F7D54D01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5243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Occupancy Risk Classification</a:t>
            </a:r>
          </a:p>
        </p:txBody>
      </p:sp>
      <p:sp>
        <p:nvSpPr>
          <p:cNvPr id="49" name="card-2-dot-4">
            <a:extLst xmlns:a="http://schemas.openxmlformats.org/drawingml/2006/main">
              <a:ext uri="{FF2B5EF4-FFF2-40B4-BE49-F238E27FC236}">
                <a16:creationId xmlns:a16="http://schemas.microsoft.com/office/drawing/2014/main" id="{F1F5F12D-DFCE-4085-B74A-1106D910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101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0" name="card-2-bullet-4">
            <a:extLst xmlns:a="http://schemas.openxmlformats.org/drawingml/2006/main">
              <a:ext uri="{FF2B5EF4-FFF2-40B4-BE49-F238E27FC236}">
                <a16:creationId xmlns:a16="http://schemas.microsoft.com/office/drawing/2014/main" id="{EEB5D1F6-5CE1-4955-B645-EC3B1470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7910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Construction Risk Classification</a:t>
            </a:r>
          </a:p>
        </p:txBody>
      </p:sp>
      <p:sp>
        <p:nvSpPr>
          <p:cNvPr id="51" name="card-2-dot-5">
            <a:extLst xmlns:a="http://schemas.openxmlformats.org/drawingml/2006/main">
              <a:ext uri="{FF2B5EF4-FFF2-40B4-BE49-F238E27FC236}">
                <a16:creationId xmlns:a16="http://schemas.microsoft.com/office/drawing/2014/main" id="{C31D2EA0-8D77-40F2-9B70-C3ED8093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768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2" name="card-2-bullet-5">
            <a:extLst xmlns:a="http://schemas.openxmlformats.org/drawingml/2006/main">
              <a:ext uri="{FF2B5EF4-FFF2-40B4-BE49-F238E27FC236}">
                <a16:creationId xmlns:a16="http://schemas.microsoft.com/office/drawing/2014/main" id="{77668334-889E-41D9-A64E-A40B5266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0577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Exposure Risk Classification</a:t>
            </a:r>
          </a:p>
        </p:txBody>
      </p:sp>
      <p:sp>
        <p:nvSpPr>
          <p:cNvPr id="53" name="card-2-dot-6">
            <a:extLst xmlns:a="http://schemas.openxmlformats.org/drawingml/2006/main">
              <a:ext uri="{FF2B5EF4-FFF2-40B4-BE49-F238E27FC236}">
                <a16:creationId xmlns:a16="http://schemas.microsoft.com/office/drawing/2014/main" id="{3E24ED5F-1CC8-4C2D-BA5C-2E685EDD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435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4" name="card-2-bullet-6">
            <a:extLst xmlns:a="http://schemas.openxmlformats.org/drawingml/2006/main">
              <a:ext uri="{FF2B5EF4-FFF2-40B4-BE49-F238E27FC236}">
                <a16:creationId xmlns:a16="http://schemas.microsoft.com/office/drawing/2014/main" id="{46F2BBB7-FEF9-40F3-A76F-E333D263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3244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Portfolio Risk Tiering</a:t>
            </a:r>
          </a:p>
        </p:txBody>
      </p:sp>
      <p:sp>
        <p:nvSpPr>
          <p:cNvPr id="55" name="card-2-dot-7">
            <a:extLst xmlns:a="http://schemas.openxmlformats.org/drawingml/2006/main">
              <a:ext uri="{FF2B5EF4-FFF2-40B4-BE49-F238E27FC236}">
                <a16:creationId xmlns:a16="http://schemas.microsoft.com/office/drawing/2014/main" id="{ED493426-5310-48A5-8F3E-9F4EEACE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102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6" name="card-2-bullet-7">
            <a:extLst xmlns:a="http://schemas.openxmlformats.org/drawingml/2006/main">
              <a:ext uri="{FF2B5EF4-FFF2-40B4-BE49-F238E27FC236}">
                <a16:creationId xmlns:a16="http://schemas.microsoft.com/office/drawing/2014/main" id="{ADB425A8-EBE0-48B8-828C-AB8D6D8A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591175"/>
            <a:ext cx="1914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Submission Complexity</a:t>
            </a:r>
          </a:p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Classification</a:t>
            </a:r>
          </a:p>
        </p:txBody>
      </p:sp>
      <p:sp>
        <p:nvSpPr>
          <p:cNvPr id="57" name="card-2-output-box">
            <a:extLst xmlns:a="http://schemas.openxmlformats.org/drawingml/2006/main">
              <a:ext uri="{FF2B5EF4-FFF2-40B4-BE49-F238E27FC236}">
                <a16:creationId xmlns:a16="http://schemas.microsoft.com/office/drawing/2014/main" id="{F017322A-B8B5-4988-AAE2-06D235AD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670560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7620">
            <a:solidFill>
              <a:srgbClr val="087E83"/>
            </a:solidFill>
            <a:prstDash val="solid"/>
          </a:ln>
        </p:spPr>
      </p:sp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19ada70a04bd3">
            <a:extLst>
              <a:ext uri="{96DAC541-7B7A-43D3-8B79-37D633B846F1}">
                <asvg:svgBlip xmlns:asvg="http://schemas.microsoft.com/office/drawing/2016/SVG/main" r:embed="R35fa39a4f77940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71800" y="6877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9" name="card-2-output-label">
            <a:extLst xmlns:a="http://schemas.openxmlformats.org/drawingml/2006/main">
              <a:ext uri="{FF2B5EF4-FFF2-40B4-BE49-F238E27FC236}">
                <a16:creationId xmlns:a16="http://schemas.microsoft.com/office/drawing/2014/main" id="{4BAB6EAF-7E8C-449E-A232-27EFA567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838950"/>
            <a:ext cx="819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7E83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087E83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60" name="card-2-output-text">
            <a:extLst xmlns:a="http://schemas.openxmlformats.org/drawingml/2006/main">
              <a:ext uri="{FF2B5EF4-FFF2-40B4-BE49-F238E27FC236}">
                <a16:creationId xmlns:a16="http://schemas.microsoft.com/office/drawing/2014/main" id="{CCC2B8CD-1051-4DB8-B6A1-5FE22906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000875"/>
            <a:ext cx="1257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Risk Category /</a:t>
            </a:r>
          </a:p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Segment</a:t>
            </a:r>
          </a:p>
        </p:txBody>
      </p:sp>
      <p:sp>
        <p:nvSpPr>
          <p:cNvPr id="61" name="card-3">
            <a:extLst xmlns:a="http://schemas.openxmlformats.org/drawingml/2006/main">
              <a:ext uri="{FF2B5EF4-FFF2-40B4-BE49-F238E27FC236}">
                <a16:creationId xmlns:a16="http://schemas.microsoft.com/office/drawing/2014/main" id="{4BEB4E84-7CC4-4143-9B0F-CA4502DC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19300"/>
            <a:ext cx="2324100" cy="550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5E2B8A"/>
            </a:solidFill>
            <a:prstDash val="solid"/>
          </a:ln>
        </p:spPr>
      </p:sp>
      <p:sp>
        <p:nvSpPr>
          <p:cNvPr id="62" name="card-3-header">
            <a:extLst xmlns:a="http://schemas.openxmlformats.org/drawingml/2006/main">
              <a:ext uri="{FF2B5EF4-FFF2-40B4-BE49-F238E27FC236}">
                <a16:creationId xmlns:a16="http://schemas.microsoft.com/office/drawing/2014/main" id="{B81BBD8C-B0F5-4585-A7C5-0C3C969A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19300"/>
            <a:ext cx="2324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2B8A"/>
          </a:solidFill>
          <a:ln xmlns:a="http://schemas.openxmlformats.org/drawingml/2006/main" w="0">
            <a:solidFill>
              <a:srgbClr val="5E2B8A"/>
            </a:solidFill>
            <a:prstDash val="solid"/>
          </a:ln>
        </p:spPr>
      </p:sp>
      <p:sp>
        <p:nvSpPr>
          <p:cNvPr id="63" name="card-3-icon-circle">
            <a:extLst xmlns:a="http://schemas.openxmlformats.org/drawingml/2006/main">
              <a:ext uri="{FF2B5EF4-FFF2-40B4-BE49-F238E27FC236}">
                <a16:creationId xmlns:a16="http://schemas.microsoft.com/office/drawing/2014/main" id="{55A153C3-1E71-46C1-9D9D-116EC887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4668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2B8A"/>
            </a:solidFill>
            <a:prstDash val="solid"/>
          </a:ln>
        </p:spPr>
      </p:sp>
      <p:pic>
        <p:nvPicPr>
          <p:cNvPr id="2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5957393c54a5f">
            <a:extLst>
              <a:ext uri="{96DAC541-7B7A-43D3-8B79-37D633B846F1}">
                <asvg:svgBlip xmlns:asvg="http://schemas.microsoft.com/office/drawing/2016/SVG/main" r:embed="R8f6dc4a7149f4a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72175" y="16668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65" name="card-3-num-circle">
            <a:extLst xmlns:a="http://schemas.openxmlformats.org/drawingml/2006/main">
              <a:ext uri="{FF2B5EF4-FFF2-40B4-BE49-F238E27FC236}">
                <a16:creationId xmlns:a16="http://schemas.microsoft.com/office/drawing/2014/main" id="{C7E11E91-51BE-40B9-BFE9-8A1516BD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1935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5E2B8A"/>
            </a:solidFill>
            <a:prstDash val="solid"/>
          </a:ln>
        </p:spPr>
      </p:sp>
      <p:sp>
        <p:nvSpPr>
          <p:cNvPr id="66" name="card-3-num">
            <a:extLst xmlns:a="http://schemas.openxmlformats.org/drawingml/2006/main">
              <a:ext uri="{FF2B5EF4-FFF2-40B4-BE49-F238E27FC236}">
                <a16:creationId xmlns:a16="http://schemas.microsoft.com/office/drawing/2014/main" id="{1F583A4A-5BAE-429C-9BE9-DFD05D6B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2952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E2B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E2B8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7" name="card-3-title">
            <a:extLst xmlns:a="http://schemas.openxmlformats.org/drawingml/2006/main">
              <a:ext uri="{FF2B5EF4-FFF2-40B4-BE49-F238E27FC236}">
                <a16:creationId xmlns:a16="http://schemas.microsoft.com/office/drawing/2014/main" id="{5BABC564-7CB8-4551-ABEB-38955D7D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447925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RECOMMENDATION &amp;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DECISION INTELLIGENCE</a:t>
            </a:r>
          </a:p>
        </p:txBody>
      </p:sp>
      <p:sp>
        <p:nvSpPr>
          <p:cNvPr id="68" name="card-3-subtitle">
            <a:extLst xmlns:a="http://schemas.openxmlformats.org/drawingml/2006/main">
              <a:ext uri="{FF2B5EF4-FFF2-40B4-BE49-F238E27FC236}">
                <a16:creationId xmlns:a16="http://schemas.microsoft.com/office/drawing/2014/main" id="{68B6194C-4647-4AA0-9312-37D4719B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57525"/>
            <a:ext cx="186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 optimal</a:t>
            </a:r>
          </a:p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underwriting actions</a:t>
            </a:r>
          </a:p>
        </p:txBody>
      </p:sp>
      <p:sp>
        <p:nvSpPr>
          <p:cNvPr id="69" name="card-3-dot-0">
            <a:extLst xmlns:a="http://schemas.openxmlformats.org/drawingml/2006/main">
              <a:ext uri="{FF2B5EF4-FFF2-40B4-BE49-F238E27FC236}">
                <a16:creationId xmlns:a16="http://schemas.microsoft.com/office/drawing/2014/main" id="{836E5EAE-52BC-41C3-A7B7-AD6ECE51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433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2B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E2B8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0" name="card-3-bullet-0">
            <a:extLst xmlns:a="http://schemas.openxmlformats.org/drawingml/2006/main">
              <a:ext uri="{FF2B5EF4-FFF2-40B4-BE49-F238E27FC236}">
                <a16:creationId xmlns:a16="http://schemas.microsoft.com/office/drawing/2014/main" id="{C8E1ECC0-2C15-44BC-B96D-283996AA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7242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Decline Reconsideration Engine</a:t>
            </a:r>
          </a:p>
        </p:txBody>
      </p:sp>
      <p:sp>
        <p:nvSpPr>
          <p:cNvPr id="71" name="card-3-dot-1">
            <a:extLst xmlns:a="http://schemas.openxmlformats.org/drawingml/2006/main">
              <a:ext uri="{FF2B5EF4-FFF2-40B4-BE49-F238E27FC236}">
                <a16:creationId xmlns:a16="http://schemas.microsoft.com/office/drawing/2014/main" id="{96F82AD9-7097-477C-9200-22190030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100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2B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E2B8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2" name="card-3-bullet-1">
            <a:extLst xmlns:a="http://schemas.openxmlformats.org/drawingml/2006/main">
              <a:ext uri="{FF2B5EF4-FFF2-40B4-BE49-F238E27FC236}">
                <a16:creationId xmlns:a16="http://schemas.microsoft.com/office/drawing/2014/main" id="{42932309-1E07-4A8E-9AC9-835024A0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990975"/>
            <a:ext cx="1914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Next Best Action</a:t>
            </a:r>
          </a:p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73" name="card-3-dot-2">
            <a:extLst xmlns:a="http://schemas.openxmlformats.org/drawingml/2006/main">
              <a:ext uri="{FF2B5EF4-FFF2-40B4-BE49-F238E27FC236}">
                <a16:creationId xmlns:a16="http://schemas.microsoft.com/office/drawing/2014/main" id="{9CC6E476-4E9B-4249-ACA8-9FD2D2C1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7197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2B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E2B8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4" name="card-3-bullet-2">
            <a:extLst xmlns:a="http://schemas.openxmlformats.org/drawingml/2006/main">
              <a:ext uri="{FF2B5EF4-FFF2-40B4-BE49-F238E27FC236}">
                <a16:creationId xmlns:a16="http://schemas.microsoft.com/office/drawing/2014/main" id="{0508A488-EC9B-4610-B4E5-453A946E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352925"/>
            <a:ext cx="1914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Similar Bound Case</a:t>
            </a:r>
          </a:p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75" name="card-3-dot-3">
            <a:extLst xmlns:a="http://schemas.openxmlformats.org/drawingml/2006/main">
              <a:ext uri="{FF2B5EF4-FFF2-40B4-BE49-F238E27FC236}">
                <a16:creationId xmlns:a16="http://schemas.microsoft.com/office/drawing/2014/main" id="{A05C6409-53C0-4EC9-9376-0CAE128A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7339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2B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E2B8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6" name="card-3-bullet-3">
            <a:extLst xmlns:a="http://schemas.openxmlformats.org/drawingml/2006/main">
              <a:ext uri="{FF2B5EF4-FFF2-40B4-BE49-F238E27FC236}">
                <a16:creationId xmlns:a16="http://schemas.microsoft.com/office/drawing/2014/main" id="{90414CF1-F3F8-4FB3-B2D0-A278092E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714875"/>
            <a:ext cx="1914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Underwriter Assignment</a:t>
            </a:r>
          </a:p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77" name="card-3-dot-4">
            <a:extLst xmlns:a="http://schemas.openxmlformats.org/drawingml/2006/main">
              <a:ext uri="{FF2B5EF4-FFF2-40B4-BE49-F238E27FC236}">
                <a16:creationId xmlns:a16="http://schemas.microsoft.com/office/drawing/2014/main" id="{1C1D62E1-8622-4B5F-BA83-98BDFC44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9587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2B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E2B8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8" name="card-3-bullet-4">
            <a:extLst xmlns:a="http://schemas.openxmlformats.org/drawingml/2006/main">
              <a:ext uri="{FF2B5EF4-FFF2-40B4-BE49-F238E27FC236}">
                <a16:creationId xmlns:a16="http://schemas.microsoft.com/office/drawing/2014/main" id="{291875C2-FD42-42B6-BCC0-D4F698EC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76825"/>
            <a:ext cx="1914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Capacity Allocation</a:t>
            </a:r>
          </a:p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79" name="card-3-dot-5">
            <a:extLst xmlns:a="http://schemas.openxmlformats.org/drawingml/2006/main">
              <a:ext uri="{FF2B5EF4-FFF2-40B4-BE49-F238E27FC236}">
                <a16:creationId xmlns:a16="http://schemas.microsoft.com/office/drawing/2014/main" id="{64D4AC94-E96A-4058-A1E6-416C1F39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578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2B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E2B8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0" name="card-3-bullet-5">
            <a:extLst xmlns:a="http://schemas.openxmlformats.org/drawingml/2006/main">
              <a:ext uri="{FF2B5EF4-FFF2-40B4-BE49-F238E27FC236}">
                <a16:creationId xmlns:a16="http://schemas.microsoft.com/office/drawing/2014/main" id="{3F13F832-B6E1-4F16-9E1C-268A8FE3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438775"/>
            <a:ext cx="1914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Pricing Guidance</a:t>
            </a:r>
          </a:p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81" name="card-3-output-box">
            <a:extLst xmlns:a="http://schemas.openxmlformats.org/drawingml/2006/main">
              <a:ext uri="{FF2B5EF4-FFF2-40B4-BE49-F238E27FC236}">
                <a16:creationId xmlns:a16="http://schemas.microsoft.com/office/drawing/2014/main" id="{9E3E70E9-51AB-45AB-82DC-26D6E5B1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670560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7620">
            <a:solidFill>
              <a:srgbClr val="5E2B8A"/>
            </a:solidFill>
            <a:prstDash val="solid"/>
          </a:ln>
        </p:spPr>
      </p:sp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2af5225ec41a1">
            <a:extLst>
              <a:ext uri="{96DAC541-7B7A-43D3-8B79-37D633B846F1}">
                <asvg:svgBlip xmlns:asvg="http://schemas.microsoft.com/office/drawing/2016/SVG/main" r:embed="R2c305fdd41df49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29250" y="6877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83" name="card-3-output-label">
            <a:extLst xmlns:a="http://schemas.openxmlformats.org/drawingml/2006/main">
              <a:ext uri="{FF2B5EF4-FFF2-40B4-BE49-F238E27FC236}">
                <a16:creationId xmlns:a16="http://schemas.microsoft.com/office/drawing/2014/main" id="{9FCD6365-350D-4AFF-9420-6AB40F96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838950"/>
            <a:ext cx="819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E2B8A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5E2B8A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84" name="card-3-output-text">
            <a:extLst xmlns:a="http://schemas.openxmlformats.org/drawingml/2006/main">
              <a:ext uri="{FF2B5EF4-FFF2-40B4-BE49-F238E27FC236}">
                <a16:creationId xmlns:a16="http://schemas.microsoft.com/office/drawing/2014/main" id="{3B6214DA-0227-47D8-A392-5E708EF9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000875"/>
            <a:ext cx="1257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Recommended</a:t>
            </a:r>
          </a:p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85" name="card-4">
            <a:extLst xmlns:a="http://schemas.openxmlformats.org/drawingml/2006/main">
              <a:ext uri="{FF2B5EF4-FFF2-40B4-BE49-F238E27FC236}">
                <a16:creationId xmlns:a16="http://schemas.microsoft.com/office/drawing/2014/main" id="{0D264D61-4BBF-4CA3-92B8-68C1A616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2324100" cy="550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05A00"/>
            </a:solidFill>
            <a:prstDash val="solid"/>
          </a:ln>
        </p:spPr>
      </p:sp>
      <p:sp>
        <p:nvSpPr>
          <p:cNvPr id="86" name="card-4-header">
            <a:extLst xmlns:a="http://schemas.openxmlformats.org/drawingml/2006/main">
              <a:ext uri="{FF2B5EF4-FFF2-40B4-BE49-F238E27FC236}">
                <a16:creationId xmlns:a16="http://schemas.microsoft.com/office/drawing/2014/main" id="{FADB8CCC-DD4F-4C8F-8AC0-E3171C31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2324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F05A00"/>
            </a:solidFill>
            <a:prstDash val="solid"/>
          </a:ln>
        </p:spPr>
      </p:sp>
      <p:sp>
        <p:nvSpPr>
          <p:cNvPr id="87" name="card-4-icon-circle">
            <a:extLst xmlns:a="http://schemas.openxmlformats.org/drawingml/2006/main">
              <a:ext uri="{FF2B5EF4-FFF2-40B4-BE49-F238E27FC236}">
                <a16:creationId xmlns:a16="http://schemas.microsoft.com/office/drawing/2014/main" id="{7C697258-FDA1-43DE-B2C0-C8BD35B5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668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5A00"/>
            </a:solidFill>
            <a:prstDash val="solid"/>
          </a:ln>
        </p:spPr>
      </p:sp>
      <p:pic>
        <p:nvPicPr>
          <p:cNvPr id="2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2615fc87b49a1">
            <a:extLst>
              <a:ext uri="{96DAC541-7B7A-43D3-8B79-37D633B846F1}">
                <asvg:svgBlip xmlns:asvg="http://schemas.microsoft.com/office/drawing/2016/SVG/main" r:embed="R98dd4dfd726a46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29625" y="16668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89" name="card-4-num-circle">
            <a:extLst xmlns:a="http://schemas.openxmlformats.org/drawingml/2006/main">
              <a:ext uri="{FF2B5EF4-FFF2-40B4-BE49-F238E27FC236}">
                <a16:creationId xmlns:a16="http://schemas.microsoft.com/office/drawing/2014/main" id="{20C39906-B2D9-4CFC-938A-A29BB6F6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1935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05A00"/>
            </a:solidFill>
            <a:prstDash val="solid"/>
          </a:ln>
        </p:spPr>
      </p:sp>
      <p:sp>
        <p:nvSpPr>
          <p:cNvPr id="90" name="card-4-num">
            <a:extLst xmlns:a="http://schemas.openxmlformats.org/drawingml/2006/main">
              <a:ext uri="{FF2B5EF4-FFF2-40B4-BE49-F238E27FC236}">
                <a16:creationId xmlns:a16="http://schemas.microsoft.com/office/drawing/2014/main" id="{26D8E756-496C-42D2-B806-4E1925BA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2952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05A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5A0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91" name="card-4-title">
            <a:extLst xmlns:a="http://schemas.openxmlformats.org/drawingml/2006/main">
              <a:ext uri="{FF2B5EF4-FFF2-40B4-BE49-F238E27FC236}">
                <a16:creationId xmlns:a16="http://schemas.microsoft.com/office/drawing/2014/main" id="{992BB93C-31A6-4539-B0E2-50B2D196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47925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ANOMALY DETECTION &amp;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MONITORING</a:t>
            </a:r>
          </a:p>
        </p:txBody>
      </p:sp>
      <p:sp>
        <p:nvSpPr>
          <p:cNvPr id="92" name="card-4-subtitle">
            <a:extLst xmlns:a="http://schemas.openxmlformats.org/drawingml/2006/main">
              <a:ext uri="{FF2B5EF4-FFF2-40B4-BE49-F238E27FC236}">
                <a16:creationId xmlns:a16="http://schemas.microsoft.com/office/drawing/2014/main" id="{1CC27590-9A64-49A5-9321-D1D23712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57525"/>
            <a:ext cx="186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Identify unusual submissions</a:t>
            </a:r>
          </a:p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and patterns</a:t>
            </a:r>
          </a:p>
        </p:txBody>
      </p:sp>
      <p:sp>
        <p:nvSpPr>
          <p:cNvPr id="93" name="card-4-dot-0">
            <a:extLst xmlns:a="http://schemas.openxmlformats.org/drawingml/2006/main">
              <a:ext uri="{FF2B5EF4-FFF2-40B4-BE49-F238E27FC236}">
                <a16:creationId xmlns:a16="http://schemas.microsoft.com/office/drawing/2014/main" id="{A6483B1E-6C87-41BE-8E10-92A0118C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433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00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4" name="card-4-bullet-0">
            <a:extLst xmlns:a="http://schemas.openxmlformats.org/drawingml/2006/main">
              <a:ext uri="{FF2B5EF4-FFF2-40B4-BE49-F238E27FC236}">
                <a16:creationId xmlns:a16="http://schemas.microsoft.com/office/drawing/2014/main" id="{7F0575F5-CB3A-4ABB-BC86-863D6B7A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7242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Outlier Submission Detection</a:t>
            </a:r>
          </a:p>
        </p:txBody>
      </p:sp>
      <p:sp>
        <p:nvSpPr>
          <p:cNvPr id="95" name="card-4-dot-1">
            <a:extLst xmlns:a="http://schemas.openxmlformats.org/drawingml/2006/main">
              <a:ext uri="{FF2B5EF4-FFF2-40B4-BE49-F238E27FC236}">
                <a16:creationId xmlns:a16="http://schemas.microsoft.com/office/drawing/2014/main" id="{B21AD149-4FF6-44C8-9C78-8622E398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100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00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6" name="card-4-bullet-1">
            <a:extLst xmlns:a="http://schemas.openxmlformats.org/drawingml/2006/main">
              <a:ext uri="{FF2B5EF4-FFF2-40B4-BE49-F238E27FC236}">
                <a16:creationId xmlns:a16="http://schemas.microsoft.com/office/drawing/2014/main" id="{BF24A5B5-33A5-4986-9B2B-6CA6EF7F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9909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Broker Behaviour Monitoring</a:t>
            </a:r>
          </a:p>
        </p:txBody>
      </p:sp>
      <p:sp>
        <p:nvSpPr>
          <p:cNvPr id="97" name="card-4-dot-2">
            <a:extLst xmlns:a="http://schemas.openxmlformats.org/drawingml/2006/main">
              <a:ext uri="{FF2B5EF4-FFF2-40B4-BE49-F238E27FC236}">
                <a16:creationId xmlns:a16="http://schemas.microsoft.com/office/drawing/2014/main" id="{7E6BD02A-A030-43B3-B422-37B784D4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767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00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8" name="card-4-bullet-2">
            <a:extLst xmlns:a="http://schemas.openxmlformats.org/drawingml/2006/main">
              <a:ext uri="{FF2B5EF4-FFF2-40B4-BE49-F238E27FC236}">
                <a16:creationId xmlns:a16="http://schemas.microsoft.com/office/drawing/2014/main" id="{8BF7FBC7-4B1E-426C-973C-41E29C42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257675"/>
            <a:ext cx="1914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Exposure Concentration</a:t>
            </a:r>
          </a:p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Detection</a:t>
            </a:r>
          </a:p>
        </p:txBody>
      </p:sp>
      <p:sp>
        <p:nvSpPr>
          <p:cNvPr id="99" name="card-4-dot-3">
            <a:extLst xmlns:a="http://schemas.openxmlformats.org/drawingml/2006/main">
              <a:ext uri="{FF2B5EF4-FFF2-40B4-BE49-F238E27FC236}">
                <a16:creationId xmlns:a16="http://schemas.microsoft.com/office/drawing/2014/main" id="{5C5781C8-91BA-4CF4-82FA-90F28F8B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3867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00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0" name="card-4-bullet-3">
            <a:extLst xmlns:a="http://schemas.openxmlformats.org/drawingml/2006/main">
              <a:ext uri="{FF2B5EF4-FFF2-40B4-BE49-F238E27FC236}">
                <a16:creationId xmlns:a16="http://schemas.microsoft.com/office/drawing/2014/main" id="{85D45F68-46E4-4B3C-A971-BE74B403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61962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Premium Leakage Detection</a:t>
            </a:r>
          </a:p>
        </p:txBody>
      </p:sp>
      <p:sp>
        <p:nvSpPr>
          <p:cNvPr id="101" name="card-4-dot-4">
            <a:extLst xmlns:a="http://schemas.openxmlformats.org/drawingml/2006/main">
              <a:ext uri="{FF2B5EF4-FFF2-40B4-BE49-F238E27FC236}">
                <a16:creationId xmlns:a16="http://schemas.microsoft.com/office/drawing/2014/main" id="{202099A9-2C79-430C-8294-05258851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0537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00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2" name="card-4-bullet-4">
            <a:extLst xmlns:a="http://schemas.openxmlformats.org/drawingml/2006/main">
              <a:ext uri="{FF2B5EF4-FFF2-40B4-BE49-F238E27FC236}">
                <a16:creationId xmlns:a16="http://schemas.microsoft.com/office/drawing/2014/main" id="{9F213370-2902-4420-85A3-91BE88C1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886325"/>
            <a:ext cx="1914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Data Quality Anomaly</a:t>
            </a:r>
          </a:p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Detection</a:t>
            </a:r>
          </a:p>
        </p:txBody>
      </p:sp>
      <p:sp>
        <p:nvSpPr>
          <p:cNvPr id="103" name="card-4-dot-5">
            <a:extLst xmlns:a="http://schemas.openxmlformats.org/drawingml/2006/main">
              <a:ext uri="{FF2B5EF4-FFF2-40B4-BE49-F238E27FC236}">
                <a16:creationId xmlns:a16="http://schemas.microsoft.com/office/drawing/2014/main" id="{0F280AFF-D4D4-45C6-A27D-1896C11A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673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00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4" name="card-4-bullet-5">
            <a:extLst xmlns:a="http://schemas.openxmlformats.org/drawingml/2006/main">
              <a:ext uri="{FF2B5EF4-FFF2-40B4-BE49-F238E27FC236}">
                <a16:creationId xmlns:a16="http://schemas.microsoft.com/office/drawing/2014/main" id="{14925CAE-DE8E-4F84-8F00-B18316A5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2482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High-Risk Portfolio Alerts</a:t>
            </a:r>
          </a:p>
        </p:txBody>
      </p:sp>
      <p:sp>
        <p:nvSpPr>
          <p:cNvPr id="105" name="card-4-output-box">
            <a:extLst xmlns:a="http://schemas.openxmlformats.org/drawingml/2006/main">
              <a:ext uri="{FF2B5EF4-FFF2-40B4-BE49-F238E27FC236}">
                <a16:creationId xmlns:a16="http://schemas.microsoft.com/office/drawing/2014/main" id="{B4F2EBAA-FFFD-4F32-9AB4-6D0F3928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670560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7620">
            <a:solidFill>
              <a:srgbClr val="F05A00"/>
            </a:solidFill>
            <a:prstDash val="solid"/>
          </a:ln>
        </p:spPr>
      </p:sp>
      <p:pic>
        <p:nvPicPr>
          <p:cNvPr id="2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286c020604d02">
            <a:extLst>
              <a:ext uri="{96DAC541-7B7A-43D3-8B79-37D633B846F1}">
                <asvg:svgBlip xmlns:asvg="http://schemas.microsoft.com/office/drawing/2016/SVG/main" r:embed="R483e5074289a49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86700" y="6877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07" name="card-4-output-label">
            <a:extLst xmlns:a="http://schemas.openxmlformats.org/drawingml/2006/main">
              <a:ext uri="{FF2B5EF4-FFF2-40B4-BE49-F238E27FC236}">
                <a16:creationId xmlns:a16="http://schemas.microsoft.com/office/drawing/2014/main" id="{A366E001-4905-44AB-94D6-82B4083B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838950"/>
            <a:ext cx="819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05A00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F05A00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108" name="card-4-output-text">
            <a:extLst xmlns:a="http://schemas.openxmlformats.org/drawingml/2006/main">
              <a:ext uri="{FF2B5EF4-FFF2-40B4-BE49-F238E27FC236}">
                <a16:creationId xmlns:a16="http://schemas.microsoft.com/office/drawing/2014/main" id="{E4ADE8E0-E1F9-4F3E-9402-E301E37F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7000875"/>
            <a:ext cx="1257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Alert / Exception</a:t>
            </a:r>
          </a:p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Flag</a:t>
            </a:r>
          </a:p>
        </p:txBody>
      </p:sp>
      <p:sp>
        <p:nvSpPr>
          <p:cNvPr id="109" name="card-5">
            <a:extLst xmlns:a="http://schemas.openxmlformats.org/drawingml/2006/main">
              <a:ext uri="{FF2B5EF4-FFF2-40B4-BE49-F238E27FC236}">
                <a16:creationId xmlns:a16="http://schemas.microsoft.com/office/drawing/2014/main" id="{06B25662-F62E-4F8C-8147-2E80997F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19300"/>
            <a:ext cx="2324100" cy="550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A2E63"/>
            </a:solidFill>
            <a:prstDash val="solid"/>
          </a:ln>
        </p:spPr>
      </p:sp>
      <p:sp>
        <p:nvSpPr>
          <p:cNvPr id="110" name="card-5-header">
            <a:extLst xmlns:a="http://schemas.openxmlformats.org/drawingml/2006/main">
              <a:ext uri="{FF2B5EF4-FFF2-40B4-BE49-F238E27FC236}">
                <a16:creationId xmlns:a16="http://schemas.microsoft.com/office/drawing/2014/main" id="{77ED39B3-7D30-4D5C-8AC0-ABE3EFBD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19300"/>
            <a:ext cx="2324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E63"/>
          </a:solidFill>
          <a:ln xmlns:a="http://schemas.openxmlformats.org/drawingml/2006/main" w="0">
            <a:solidFill>
              <a:srgbClr val="0A2E63"/>
            </a:solidFill>
            <a:prstDash val="solid"/>
          </a:ln>
        </p:spPr>
      </p:sp>
      <p:sp>
        <p:nvSpPr>
          <p:cNvPr id="111" name="card-5-icon-circle">
            <a:extLst xmlns:a="http://schemas.openxmlformats.org/drawingml/2006/main">
              <a:ext uri="{FF2B5EF4-FFF2-40B4-BE49-F238E27FC236}">
                <a16:creationId xmlns:a16="http://schemas.microsoft.com/office/drawing/2014/main" id="{59C13614-4704-437B-B910-98E602FA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4668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2E63"/>
            </a:solidFill>
            <a:prstDash val="solid"/>
          </a:ln>
        </p:spPr>
      </p:sp>
      <p:pic>
        <p:nvPicPr>
          <p:cNvPr id="2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08a3483c24548">
            <a:extLst>
              <a:ext uri="{96DAC541-7B7A-43D3-8B79-37D633B846F1}">
                <asvg:svgBlip xmlns:asvg="http://schemas.microsoft.com/office/drawing/2016/SVG/main" r:embed="R0f7e4f7535cd48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87075" y="16668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13" name="card-5-num-circle">
            <a:extLst xmlns:a="http://schemas.openxmlformats.org/drawingml/2006/main">
              <a:ext uri="{FF2B5EF4-FFF2-40B4-BE49-F238E27FC236}">
                <a16:creationId xmlns:a16="http://schemas.microsoft.com/office/drawing/2014/main" id="{38924EFA-9496-43D0-873A-21B6262B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1935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A2E63"/>
            </a:solidFill>
            <a:prstDash val="solid"/>
          </a:ln>
        </p:spPr>
      </p:sp>
      <p:sp>
        <p:nvSpPr>
          <p:cNvPr id="114" name="card-5-num">
            <a:extLst xmlns:a="http://schemas.openxmlformats.org/drawingml/2006/main">
              <a:ext uri="{FF2B5EF4-FFF2-40B4-BE49-F238E27FC236}">
                <a16:creationId xmlns:a16="http://schemas.microsoft.com/office/drawing/2014/main" id="{ABE20EE7-E210-44E9-91DD-86B55FDD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2952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2E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2E6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15" name="card-5-title">
            <a:extLst xmlns:a="http://schemas.openxmlformats.org/drawingml/2006/main">
              <a:ext uri="{FF2B5EF4-FFF2-40B4-BE49-F238E27FC236}">
                <a16:creationId xmlns:a16="http://schemas.microsoft.com/office/drawing/2014/main" id="{6979325A-1263-4DD8-9385-98CA3B83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447925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GENERATIVE AI &amp;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EXPLAINABILITY</a:t>
            </a:r>
          </a:p>
        </p:txBody>
      </p:sp>
      <p:sp>
        <p:nvSpPr>
          <p:cNvPr id="116" name="card-5-subtitle">
            <a:extLst xmlns:a="http://schemas.openxmlformats.org/drawingml/2006/main">
              <a:ext uri="{FF2B5EF4-FFF2-40B4-BE49-F238E27FC236}">
                <a16:creationId xmlns:a16="http://schemas.microsoft.com/office/drawing/2014/main" id="{39D5E53F-4CA5-4C3B-9088-5BF8035D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57525"/>
            <a:ext cx="186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Generate business explanations</a:t>
            </a:r>
          </a:p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and insights</a:t>
            </a:r>
          </a:p>
        </p:txBody>
      </p:sp>
      <p:sp>
        <p:nvSpPr>
          <p:cNvPr id="117" name="card-5-dot-0">
            <a:extLst xmlns:a="http://schemas.openxmlformats.org/drawingml/2006/main">
              <a:ext uri="{FF2B5EF4-FFF2-40B4-BE49-F238E27FC236}">
                <a16:creationId xmlns:a16="http://schemas.microsoft.com/office/drawing/2014/main" id="{D7CE33F7-19F9-4990-94C3-2A1BFA31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433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2E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2E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8" name="card-5-bullet-0">
            <a:extLst xmlns:a="http://schemas.openxmlformats.org/drawingml/2006/main">
              <a:ext uri="{FF2B5EF4-FFF2-40B4-BE49-F238E27FC236}">
                <a16:creationId xmlns:a16="http://schemas.microsoft.com/office/drawing/2014/main" id="{FC38D475-FC30-4D39-A07D-CB3C95F4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724275"/>
            <a:ext cx="1914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Submission Evidence</a:t>
            </a:r>
          </a:p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119" name="card-5-dot-1">
            <a:extLst xmlns:a="http://schemas.openxmlformats.org/drawingml/2006/main">
              <a:ext uri="{FF2B5EF4-FFF2-40B4-BE49-F238E27FC236}">
                <a16:creationId xmlns:a16="http://schemas.microsoft.com/office/drawing/2014/main" id="{AD622A23-DE7F-47E7-81CF-D37F3E9C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0527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2E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2E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0" name="card-5-bullet-1">
            <a:extLst xmlns:a="http://schemas.openxmlformats.org/drawingml/2006/main">
              <a:ext uri="{FF2B5EF4-FFF2-40B4-BE49-F238E27FC236}">
                <a16:creationId xmlns:a16="http://schemas.microsoft.com/office/drawing/2014/main" id="{1D370448-8D86-456B-AD2F-C35B86BD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08622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Bound Probability Reasoning</a:t>
            </a:r>
          </a:p>
        </p:txBody>
      </p:sp>
      <p:sp>
        <p:nvSpPr>
          <p:cNvPr id="121" name="card-5-dot-2">
            <a:extLst xmlns:a="http://schemas.openxmlformats.org/drawingml/2006/main">
              <a:ext uri="{FF2B5EF4-FFF2-40B4-BE49-F238E27FC236}">
                <a16:creationId xmlns:a16="http://schemas.microsoft.com/office/drawing/2014/main" id="{AB7EBF3C-3090-4CF3-B91E-DE7CAFAD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7197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2E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2E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2" name="card-5-bullet-2">
            <a:extLst xmlns:a="http://schemas.openxmlformats.org/drawingml/2006/main">
              <a:ext uri="{FF2B5EF4-FFF2-40B4-BE49-F238E27FC236}">
                <a16:creationId xmlns:a16="http://schemas.microsoft.com/office/drawing/2014/main" id="{7B9E3C0F-2D90-4679-BEE5-F9AACDCF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35292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Decline Explanation Generator</a:t>
            </a:r>
          </a:p>
        </p:txBody>
      </p:sp>
      <p:sp>
        <p:nvSpPr>
          <p:cNvPr id="123" name="card-5-dot-3">
            <a:extLst xmlns:a="http://schemas.openxmlformats.org/drawingml/2006/main">
              <a:ext uri="{FF2B5EF4-FFF2-40B4-BE49-F238E27FC236}">
                <a16:creationId xmlns:a16="http://schemas.microsoft.com/office/drawing/2014/main" id="{48C472BC-ECC7-4FB1-9276-82CC5C87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3867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2E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2E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4" name="card-5-bullet-3">
            <a:extLst xmlns:a="http://schemas.openxmlformats.org/drawingml/2006/main">
              <a:ext uri="{FF2B5EF4-FFF2-40B4-BE49-F238E27FC236}">
                <a16:creationId xmlns:a16="http://schemas.microsoft.com/office/drawing/2014/main" id="{13697D48-8A0E-470F-90EB-F703E2DB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61962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Broker Performance Summary</a:t>
            </a:r>
          </a:p>
        </p:txBody>
      </p:sp>
      <p:sp>
        <p:nvSpPr>
          <p:cNvPr id="125" name="card-5-dot-4">
            <a:extLst xmlns:a="http://schemas.openxmlformats.org/drawingml/2006/main">
              <a:ext uri="{FF2B5EF4-FFF2-40B4-BE49-F238E27FC236}">
                <a16:creationId xmlns:a16="http://schemas.microsoft.com/office/drawing/2014/main" id="{725160AA-5E84-47C7-93CB-24EAD4D3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0537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2E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2E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6" name="card-5-bullet-4">
            <a:extLst xmlns:a="http://schemas.openxmlformats.org/drawingml/2006/main">
              <a:ext uri="{FF2B5EF4-FFF2-40B4-BE49-F238E27FC236}">
                <a16:creationId xmlns:a16="http://schemas.microsoft.com/office/drawing/2014/main" id="{D237AAD5-34A0-4597-A845-D6B434E4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88632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Portfolio Risk Summary</a:t>
            </a:r>
          </a:p>
        </p:txBody>
      </p:sp>
      <p:sp>
        <p:nvSpPr>
          <p:cNvPr id="127" name="card-5-dot-5">
            <a:extLst xmlns:a="http://schemas.openxmlformats.org/drawingml/2006/main">
              <a:ext uri="{FF2B5EF4-FFF2-40B4-BE49-F238E27FC236}">
                <a16:creationId xmlns:a16="http://schemas.microsoft.com/office/drawing/2014/main" id="{B6A98C72-02B0-446E-B7DB-774C2A26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17207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2E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2E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8" name="card-5-bullet-5">
            <a:extLst xmlns:a="http://schemas.openxmlformats.org/drawingml/2006/main">
              <a:ext uri="{FF2B5EF4-FFF2-40B4-BE49-F238E27FC236}">
                <a16:creationId xmlns:a16="http://schemas.microsoft.com/office/drawing/2014/main" id="{8A32A223-5FF1-446C-A5D5-D37AB8A3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515302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Underwriter Copilot</a:t>
            </a:r>
          </a:p>
        </p:txBody>
      </p:sp>
      <p:sp>
        <p:nvSpPr>
          <p:cNvPr id="129" name="card-5-output-box">
            <a:extLst xmlns:a="http://schemas.openxmlformats.org/drawingml/2006/main">
              <a:ext uri="{FF2B5EF4-FFF2-40B4-BE49-F238E27FC236}">
                <a16:creationId xmlns:a16="http://schemas.microsoft.com/office/drawing/2014/main" id="{62837F3A-2680-4FA6-9696-A130B32E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70560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7620">
            <a:solidFill>
              <a:srgbClr val="0A2E63"/>
            </a:solidFill>
            <a:prstDash val="solid"/>
          </a:ln>
        </p:spPr>
      </p:sp>
      <p:pic>
        <p:nvPicPr>
          <p:cNvPr id="3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19d0fb4454cd8">
            <a:extLst>
              <a:ext uri="{96DAC541-7B7A-43D3-8B79-37D633B846F1}">
                <asvg:svgBlip xmlns:asvg="http://schemas.microsoft.com/office/drawing/2016/SVG/main" r:embed="Rdc0f3aff33ec4a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44150" y="6877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31" name="card-5-output-label">
            <a:extLst xmlns:a="http://schemas.openxmlformats.org/drawingml/2006/main">
              <a:ext uri="{FF2B5EF4-FFF2-40B4-BE49-F238E27FC236}">
                <a16:creationId xmlns:a16="http://schemas.microsoft.com/office/drawing/2014/main" id="{0E2CB8F5-2A69-4D7F-9BED-F4E7A211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838950"/>
            <a:ext cx="819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A2E63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0A2E63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132" name="card-5-output-text">
            <a:extLst xmlns:a="http://schemas.openxmlformats.org/drawingml/2006/main">
              <a:ext uri="{FF2B5EF4-FFF2-40B4-BE49-F238E27FC236}">
                <a16:creationId xmlns:a16="http://schemas.microsoft.com/office/drawing/2014/main" id="{A5D2261F-6F74-417E-9F85-74DFE2B8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7000875"/>
            <a:ext cx="1257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Natural Language</a:t>
            </a:r>
          </a:p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Insights</a:t>
            </a:r>
          </a:p>
        </p:txBody>
      </p:sp>
      <p:sp>
        <p:nvSpPr>
          <p:cNvPr id="133" name="card-6">
            <a:extLst xmlns:a="http://schemas.openxmlformats.org/drawingml/2006/main">
              <a:ext uri="{FF2B5EF4-FFF2-40B4-BE49-F238E27FC236}">
                <a16:creationId xmlns:a16="http://schemas.microsoft.com/office/drawing/2014/main" id="{E7CFDF70-7B88-4BF4-B5C5-1AE4C57A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019300"/>
            <a:ext cx="2324100" cy="550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66B2A"/>
            </a:solidFill>
            <a:prstDash val="solid"/>
          </a:ln>
        </p:spPr>
      </p:sp>
      <p:sp>
        <p:nvSpPr>
          <p:cNvPr id="134" name="card-6-header">
            <a:extLst xmlns:a="http://schemas.openxmlformats.org/drawingml/2006/main">
              <a:ext uri="{FF2B5EF4-FFF2-40B4-BE49-F238E27FC236}">
                <a16:creationId xmlns:a16="http://schemas.microsoft.com/office/drawing/2014/main" id="{4826DA24-F38F-49A7-A3BA-0062E233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019300"/>
            <a:ext cx="2324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B2A"/>
          </a:solidFill>
          <a:ln xmlns:a="http://schemas.openxmlformats.org/drawingml/2006/main" w="0">
            <a:solidFill>
              <a:srgbClr val="166B2A"/>
            </a:solidFill>
            <a:prstDash val="solid"/>
          </a:ln>
        </p:spPr>
      </p:sp>
      <p:sp>
        <p:nvSpPr>
          <p:cNvPr id="135" name="card-6-icon-circle">
            <a:extLst xmlns:a="http://schemas.openxmlformats.org/drawingml/2006/main">
              <a:ext uri="{FF2B5EF4-FFF2-40B4-BE49-F238E27FC236}">
                <a16:creationId xmlns:a16="http://schemas.microsoft.com/office/drawing/2014/main" id="{05355FEC-D8F7-42CF-B882-3A137D54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14668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6B2A"/>
            </a:solidFill>
            <a:prstDash val="solid"/>
          </a:ln>
        </p:spPr>
      </p:sp>
      <p:pic>
        <p:nvPicPr>
          <p:cNvPr id="3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d429c2b644494">
            <a:extLst>
              <a:ext uri="{96DAC541-7B7A-43D3-8B79-37D633B846F1}">
                <asvg:svgBlip xmlns:asvg="http://schemas.microsoft.com/office/drawing/2016/SVG/main" r:embed="Rb9ae755acb4d43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344525" y="16668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37" name="card-6-num-circle">
            <a:extLst xmlns:a="http://schemas.openxmlformats.org/drawingml/2006/main">
              <a:ext uri="{FF2B5EF4-FFF2-40B4-BE49-F238E27FC236}">
                <a16:creationId xmlns:a16="http://schemas.microsoft.com/office/drawing/2014/main" id="{790B7954-8C3D-48D7-90C0-67BFD032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241935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166B2A"/>
            </a:solidFill>
            <a:prstDash val="solid"/>
          </a:ln>
        </p:spPr>
      </p:sp>
      <p:sp>
        <p:nvSpPr>
          <p:cNvPr id="138" name="card-6-num">
            <a:extLst xmlns:a="http://schemas.openxmlformats.org/drawingml/2006/main">
              <a:ext uri="{FF2B5EF4-FFF2-40B4-BE49-F238E27FC236}">
                <a16:creationId xmlns:a16="http://schemas.microsoft.com/office/drawing/2014/main" id="{502084BE-9678-4689-AB8F-10811472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2476500"/>
            <a:ext cx="2952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6B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6B2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39" name="card-6-title">
            <a:extLst xmlns:a="http://schemas.openxmlformats.org/drawingml/2006/main">
              <a:ext uri="{FF2B5EF4-FFF2-40B4-BE49-F238E27FC236}">
                <a16:creationId xmlns:a16="http://schemas.microsoft.com/office/drawing/2014/main" id="{04133F4C-4B49-40FB-9243-133CFD52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3525" y="2447925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CLUSTERING &amp;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SIMILARITY ANALYTICS</a:t>
            </a:r>
          </a:p>
        </p:txBody>
      </p:sp>
      <p:sp>
        <p:nvSpPr>
          <p:cNvPr id="140" name="card-6-subtitle">
            <a:extLst xmlns:a="http://schemas.openxmlformats.org/drawingml/2006/main">
              <a:ext uri="{FF2B5EF4-FFF2-40B4-BE49-F238E27FC236}">
                <a16:creationId xmlns:a16="http://schemas.microsoft.com/office/drawing/2014/main" id="{5227A0BA-AB99-44C5-9092-4F724B24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057525"/>
            <a:ext cx="186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 similar submissions</a:t>
            </a:r>
          </a:p>
          <a:p xmlns:a="http://schemas.openxmlformats.org/drawingml/2006/main">
            <a:pPr algn="ctr">
              <a:defRPr sz="9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automatically</a:t>
            </a:r>
          </a:p>
        </p:txBody>
      </p:sp>
      <p:sp>
        <p:nvSpPr>
          <p:cNvPr id="141" name="card-6-dot-0">
            <a:extLst xmlns:a="http://schemas.openxmlformats.org/drawingml/2006/main">
              <a:ext uri="{FF2B5EF4-FFF2-40B4-BE49-F238E27FC236}">
                <a16:creationId xmlns:a16="http://schemas.microsoft.com/office/drawing/2014/main" id="{99447A15-D4FC-46D7-9934-8929FC29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7433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6B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6B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2" name="card-6-bullet-0">
            <a:extLst xmlns:a="http://schemas.openxmlformats.org/drawingml/2006/main">
              <a:ext uri="{FF2B5EF4-FFF2-40B4-BE49-F238E27FC236}">
                <a16:creationId xmlns:a16="http://schemas.microsoft.com/office/drawing/2014/main" id="{F391F860-9C96-4F07-82B6-3094CFE4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37242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Similar Submission Finder</a:t>
            </a:r>
          </a:p>
        </p:txBody>
      </p:sp>
      <p:sp>
        <p:nvSpPr>
          <p:cNvPr id="143" name="card-6-dot-1">
            <a:extLst xmlns:a="http://schemas.openxmlformats.org/drawingml/2006/main">
              <a:ext uri="{FF2B5EF4-FFF2-40B4-BE49-F238E27FC236}">
                <a16:creationId xmlns:a16="http://schemas.microsoft.com/office/drawing/2014/main" id="{A21EE836-2FFD-4BAD-86BC-A657B07C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0100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6B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6B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4" name="card-6-bullet-1">
            <a:extLst xmlns:a="http://schemas.openxmlformats.org/drawingml/2006/main">
              <a:ext uri="{FF2B5EF4-FFF2-40B4-BE49-F238E27FC236}">
                <a16:creationId xmlns:a16="http://schemas.microsoft.com/office/drawing/2014/main" id="{5AC81466-6595-4E66-B4B8-E02D9889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39909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Broker Segmentation</a:t>
            </a:r>
          </a:p>
        </p:txBody>
      </p:sp>
      <p:sp>
        <p:nvSpPr>
          <p:cNvPr id="145" name="card-6-dot-2">
            <a:extLst xmlns:a="http://schemas.openxmlformats.org/drawingml/2006/main">
              <a:ext uri="{FF2B5EF4-FFF2-40B4-BE49-F238E27FC236}">
                <a16:creationId xmlns:a16="http://schemas.microsoft.com/office/drawing/2014/main" id="{0193EAFC-9CB5-47C6-B76B-13C3E8C2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2767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6B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6B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6" name="card-6-bullet-2">
            <a:extLst xmlns:a="http://schemas.openxmlformats.org/drawingml/2006/main">
              <a:ext uri="{FF2B5EF4-FFF2-40B4-BE49-F238E27FC236}">
                <a16:creationId xmlns:a16="http://schemas.microsoft.com/office/drawing/2014/main" id="{DAB0E715-A8F3-4AC3-9E6C-13B28E24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2576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Occupancy Segmentation</a:t>
            </a:r>
          </a:p>
        </p:txBody>
      </p:sp>
      <p:sp>
        <p:nvSpPr>
          <p:cNvPr id="147" name="card-6-dot-3">
            <a:extLst xmlns:a="http://schemas.openxmlformats.org/drawingml/2006/main">
              <a:ext uri="{FF2B5EF4-FFF2-40B4-BE49-F238E27FC236}">
                <a16:creationId xmlns:a16="http://schemas.microsoft.com/office/drawing/2014/main" id="{B3FFA7E7-7D7D-4354-92B8-D9ECE662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5434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6B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6B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8" name="card-6-bullet-3">
            <a:extLst xmlns:a="http://schemas.openxmlformats.org/drawingml/2006/main">
              <a:ext uri="{FF2B5EF4-FFF2-40B4-BE49-F238E27FC236}">
                <a16:creationId xmlns:a16="http://schemas.microsoft.com/office/drawing/2014/main" id="{DF264EB6-18B5-43DE-AAE3-1CC4621A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5243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Construction Clustering</a:t>
            </a:r>
          </a:p>
        </p:txBody>
      </p:sp>
      <p:sp>
        <p:nvSpPr>
          <p:cNvPr id="149" name="card-6-dot-4">
            <a:extLst xmlns:a="http://schemas.openxmlformats.org/drawingml/2006/main">
              <a:ext uri="{FF2B5EF4-FFF2-40B4-BE49-F238E27FC236}">
                <a16:creationId xmlns:a16="http://schemas.microsoft.com/office/drawing/2014/main" id="{EBCF0403-D133-4A1F-9A98-52E42327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8101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6B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6B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0" name="card-6-bullet-4">
            <a:extLst xmlns:a="http://schemas.openxmlformats.org/drawingml/2006/main">
              <a:ext uri="{FF2B5EF4-FFF2-40B4-BE49-F238E27FC236}">
                <a16:creationId xmlns:a16="http://schemas.microsoft.com/office/drawing/2014/main" id="{EEC24F0A-0E7C-4B0F-9635-532743D8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7910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Risk Profile Clustering</a:t>
            </a:r>
          </a:p>
        </p:txBody>
      </p:sp>
      <p:sp>
        <p:nvSpPr>
          <p:cNvPr id="151" name="card-6-dot-5">
            <a:extLst xmlns:a="http://schemas.openxmlformats.org/drawingml/2006/main">
              <a:ext uri="{FF2B5EF4-FFF2-40B4-BE49-F238E27FC236}">
                <a16:creationId xmlns:a16="http://schemas.microsoft.com/office/drawing/2014/main" id="{53E52714-2078-40AE-964A-67294414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5076825"/>
            <a:ext cx="13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6B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6B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2" name="card-6-bullet-5">
            <a:extLst xmlns:a="http://schemas.openxmlformats.org/drawingml/2006/main">
              <a:ext uri="{FF2B5EF4-FFF2-40B4-BE49-F238E27FC236}">
                <a16:creationId xmlns:a16="http://schemas.microsoft.com/office/drawing/2014/main" id="{4F484FA2-2169-4B95-AE2F-F9760B78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057775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Portfolio Pattern Discovery</a:t>
            </a:r>
          </a:p>
        </p:txBody>
      </p:sp>
      <p:sp>
        <p:nvSpPr>
          <p:cNvPr id="153" name="card-6-output-box">
            <a:extLst xmlns:a="http://schemas.openxmlformats.org/drawingml/2006/main">
              <a:ext uri="{FF2B5EF4-FFF2-40B4-BE49-F238E27FC236}">
                <a16:creationId xmlns:a16="http://schemas.microsoft.com/office/drawing/2014/main" id="{D3114693-3009-40A6-934A-99CFA0D8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6705600"/>
            <a:ext cx="2152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7620">
            <a:solidFill>
              <a:srgbClr val="166B2A"/>
            </a:solidFill>
            <a:prstDash val="solid"/>
          </a:ln>
        </p:spPr>
      </p:sp>
      <p:pic>
        <p:nvPicPr>
          <p:cNvPr id="3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ee511624c4b23">
            <a:extLst>
              <a:ext uri="{96DAC541-7B7A-43D3-8B79-37D633B846F1}">
                <asvg:svgBlip xmlns:asvg="http://schemas.microsoft.com/office/drawing/2016/SVG/main" r:embed="Rf2def06253484c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801600" y="68770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5" name="card-6-output-label">
            <a:extLst xmlns:a="http://schemas.openxmlformats.org/drawingml/2006/main">
              <a:ext uri="{FF2B5EF4-FFF2-40B4-BE49-F238E27FC236}">
                <a16:creationId xmlns:a16="http://schemas.microsoft.com/office/drawing/2014/main" id="{6C922A6C-8EBA-4B1A-8989-8212D610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6838950"/>
            <a:ext cx="819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6B2A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66B2A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156" name="card-6-output-text">
            <a:extLst xmlns:a="http://schemas.openxmlformats.org/drawingml/2006/main">
              <a:ext uri="{FF2B5EF4-FFF2-40B4-BE49-F238E27FC236}">
                <a16:creationId xmlns:a16="http://schemas.microsoft.com/office/drawing/2014/main" id="{AB179CB7-0F6C-4837-941A-4FAA48F5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7000875"/>
            <a:ext cx="1257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Cluster /</a:t>
            </a:r>
          </a:p>
          <a:p xmlns:a="http://schemas.openxmlformats.org/drawingml/2006/main">
            <a:pPr algn="l">
              <a:defRPr sz="84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Similarity Match</a:t>
            </a:r>
          </a:p>
        </p:txBody>
      </p:sp>
      <p:sp>
        <p:nvSpPr>
          <p:cNvPr id="157" name="footer-box">
            <a:extLst xmlns:a="http://schemas.openxmlformats.org/drawingml/2006/main">
              <a:ext uri="{FF2B5EF4-FFF2-40B4-BE49-F238E27FC236}">
                <a16:creationId xmlns:a16="http://schemas.microsoft.com/office/drawing/2014/main" id="{0E0EB5E5-4193-4CEA-829D-27241F47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734300"/>
            <a:ext cx="143256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C4DB8"/>
            </a:solidFill>
            <a:prstDash val="solid"/>
          </a:ln>
        </p:spPr>
      </p:sp>
      <p:sp>
        <p:nvSpPr>
          <p:cNvPr id="158" name="existing-label-band">
            <a:extLst xmlns:a="http://schemas.openxmlformats.org/drawingml/2006/main">
              <a:ext uri="{FF2B5EF4-FFF2-40B4-BE49-F238E27FC236}">
                <a16:creationId xmlns:a16="http://schemas.microsoft.com/office/drawing/2014/main" id="{9C13C5B8-030C-4306-BE9A-F6FDB0E2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7829550"/>
            <a:ext cx="2457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955"/>
          </a:solidFill>
          <a:ln xmlns:a="http://schemas.openxmlformats.org/drawingml/2006/main" w="0">
            <a:solidFill>
              <a:srgbClr val="061955"/>
            </a:solidFill>
            <a:prstDash val="solid"/>
          </a:ln>
        </p:spPr>
      </p:sp>
      <p:sp>
        <p:nvSpPr>
          <p:cNvPr id="159" name="existing-label">
            <a:extLst xmlns:a="http://schemas.openxmlformats.org/drawingml/2006/main">
              <a:ext uri="{FF2B5EF4-FFF2-40B4-BE49-F238E27FC236}">
                <a16:creationId xmlns:a16="http://schemas.microsoft.com/office/drawing/2014/main" id="{CAA972F3-62AB-4678-8A75-A667B758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7877175"/>
            <a:ext cx="2457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EXISTING  SOLUTIONS</a:t>
            </a:r>
          </a:p>
        </p:txBody>
      </p:sp>
      <p:sp>
        <p:nvSpPr>
          <p:cNvPr id="160" name="future-label-band">
            <a:extLst xmlns:a="http://schemas.openxmlformats.org/drawingml/2006/main">
              <a:ext uri="{FF2B5EF4-FFF2-40B4-BE49-F238E27FC236}">
                <a16:creationId xmlns:a16="http://schemas.microsoft.com/office/drawing/2014/main" id="{2B2A3E2F-CF1B-4D57-A232-8B1652A8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7829550"/>
            <a:ext cx="384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955"/>
          </a:solidFill>
          <a:ln xmlns:a="http://schemas.openxmlformats.org/drawingml/2006/main" w="0">
            <a:solidFill>
              <a:srgbClr val="061955"/>
            </a:solidFill>
            <a:prstDash val="solid"/>
          </a:ln>
        </p:spPr>
      </p:sp>
      <p:sp>
        <p:nvSpPr>
          <p:cNvPr id="161" name="future-label">
            <a:extLst xmlns:a="http://schemas.openxmlformats.org/drawingml/2006/main">
              <a:ext uri="{FF2B5EF4-FFF2-40B4-BE49-F238E27FC236}">
                <a16:creationId xmlns:a16="http://schemas.microsoft.com/office/drawing/2014/main" id="{FBC577D8-7CC3-4A2B-9684-DE37A8EF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7877175"/>
            <a:ext cx="384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FUTURE  ML  OPPORTUNITY  PIPELINE</a:t>
            </a:r>
          </a:p>
        </p:txBody>
      </p:sp>
      <p:sp>
        <p:nvSpPr>
          <p:cNvPr id="162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45227D5-6565-41A8-91EF-3A184697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886700"/>
            <a:ext cx="95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DB8"/>
          </a:solidFill>
          <a:ln xmlns:a="http://schemas.openxmlformats.org/drawingml/2006/main" w="0">
            <a:solidFill>
              <a:srgbClr val="0C4DB8"/>
            </a:solidFill>
            <a:prstDash val="solid"/>
          </a:ln>
        </p:spPr>
      </p:sp>
      <p:sp>
        <p:nvSpPr>
          <p:cNvPr id="163" name="check-circle-0">
            <a:extLst xmlns:a="http://schemas.openxmlformats.org/drawingml/2006/main">
              <a:ext uri="{FF2B5EF4-FFF2-40B4-BE49-F238E27FC236}">
                <a16:creationId xmlns:a16="http://schemas.microsoft.com/office/drawing/2014/main" id="{28BA84E4-E266-42D5-B671-5C054899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B2A"/>
          </a:solidFill>
          <a:ln xmlns:a="http://schemas.openxmlformats.org/drawingml/2006/main" w="0">
            <a:solidFill>
              <a:srgbClr val="166B2A"/>
            </a:solidFill>
            <a:prstDash val="solid"/>
          </a:ln>
        </p:spPr>
      </p:sp>
      <p:sp>
        <p:nvSpPr>
          <p:cNvPr id="164" name="check-0">
            <a:extLst xmlns:a="http://schemas.openxmlformats.org/drawingml/2006/main">
              <a:ext uri="{FF2B5EF4-FFF2-40B4-BE49-F238E27FC236}">
                <a16:creationId xmlns:a16="http://schemas.microsoft.com/office/drawing/2014/main" id="{4920FC92-37D2-4F7A-AD3E-CE5D829E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8382000"/>
            <a:ext cx="171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5" name="solution-0">
            <a:extLst xmlns:a="http://schemas.openxmlformats.org/drawingml/2006/main">
              <a:ext uri="{FF2B5EF4-FFF2-40B4-BE49-F238E27FC236}">
                <a16:creationId xmlns:a16="http://schemas.microsoft.com/office/drawing/2014/main" id="{2C928E9F-2938-4D06-8BFD-533F709E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34375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Bound Probability</a:t>
            </a:r>
          </a:p>
          <a:p xmlns:a="http://schemas.openxmlformats.org/drawingml/2006/main">
            <a:pPr algn="l">
              <a:defRPr sz="863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166" name="check-circle-1">
            <a:extLst xmlns:a="http://schemas.openxmlformats.org/drawingml/2006/main">
              <a:ext uri="{FF2B5EF4-FFF2-40B4-BE49-F238E27FC236}">
                <a16:creationId xmlns:a16="http://schemas.microsoft.com/office/drawing/2014/main" id="{B045939F-9C47-40DC-9BEF-25F58484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83629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B2A"/>
          </a:solidFill>
          <a:ln xmlns:a="http://schemas.openxmlformats.org/drawingml/2006/main" w="0">
            <a:solidFill>
              <a:srgbClr val="166B2A"/>
            </a:solidFill>
            <a:prstDash val="solid"/>
          </a:ln>
        </p:spPr>
      </p:sp>
      <p:sp>
        <p:nvSpPr>
          <p:cNvPr id="167" name="check-1">
            <a:extLst xmlns:a="http://schemas.openxmlformats.org/drawingml/2006/main">
              <a:ext uri="{FF2B5EF4-FFF2-40B4-BE49-F238E27FC236}">
                <a16:creationId xmlns:a16="http://schemas.microsoft.com/office/drawing/2014/main" id="{E73AA804-0C5A-45F1-BEF6-A3D695FD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382000"/>
            <a:ext cx="171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8" name="solution-1">
            <a:extLst xmlns:a="http://schemas.openxmlformats.org/drawingml/2006/main">
              <a:ext uri="{FF2B5EF4-FFF2-40B4-BE49-F238E27FC236}">
                <a16:creationId xmlns:a16="http://schemas.microsoft.com/office/drawing/2014/main" id="{F3AC8876-ADA4-4405-BF64-CCFF18A0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8334375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NTU</a:t>
            </a:r>
          </a:p>
          <a:p xmlns:a="http://schemas.openxmlformats.org/drawingml/2006/main">
            <a:pPr algn="l">
              <a:defRPr sz="863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169" name="solution-divider-1">
            <a:extLst xmlns:a="http://schemas.openxmlformats.org/drawingml/2006/main">
              <a:ext uri="{FF2B5EF4-FFF2-40B4-BE49-F238E27FC236}">
                <a16:creationId xmlns:a16="http://schemas.microsoft.com/office/drawing/2014/main" id="{746B147D-8687-4438-9DC4-71F4BCF7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8305800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E4"/>
          </a:solidFill>
          <a:ln xmlns:a="http://schemas.openxmlformats.org/drawingml/2006/main" w="0">
            <a:solidFill>
              <a:srgbClr val="B9C9E4"/>
            </a:solidFill>
            <a:prstDash val="solid"/>
          </a:ln>
        </p:spPr>
      </p:sp>
      <p:sp>
        <p:nvSpPr>
          <p:cNvPr id="170" name="check-circle-2">
            <a:extLst xmlns:a="http://schemas.openxmlformats.org/drawingml/2006/main">
              <a:ext uri="{FF2B5EF4-FFF2-40B4-BE49-F238E27FC236}">
                <a16:creationId xmlns:a16="http://schemas.microsoft.com/office/drawing/2014/main" id="{6C04DA2F-6766-4FD4-9DBD-E5BAC1C1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3629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B2A"/>
          </a:solidFill>
          <a:ln xmlns:a="http://schemas.openxmlformats.org/drawingml/2006/main" w="0">
            <a:solidFill>
              <a:srgbClr val="166B2A"/>
            </a:solidFill>
            <a:prstDash val="solid"/>
          </a:ln>
        </p:spPr>
      </p:sp>
      <p:sp>
        <p:nvSpPr>
          <p:cNvPr id="171" name="check-2">
            <a:extLst xmlns:a="http://schemas.openxmlformats.org/drawingml/2006/main">
              <a:ext uri="{FF2B5EF4-FFF2-40B4-BE49-F238E27FC236}">
                <a16:creationId xmlns:a16="http://schemas.microsoft.com/office/drawing/2014/main" id="{928C4D84-6FF5-4045-A5A0-00563AD7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382000"/>
            <a:ext cx="171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2" name="solution-2">
            <a:extLst xmlns:a="http://schemas.openxmlformats.org/drawingml/2006/main">
              <a:ext uri="{FF2B5EF4-FFF2-40B4-BE49-F238E27FC236}">
                <a16:creationId xmlns:a16="http://schemas.microsoft.com/office/drawing/2014/main" id="{0099FE60-878E-410B-B2B4-144F883A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8334375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NTU Reason</a:t>
            </a:r>
          </a:p>
          <a:p xmlns:a="http://schemas.openxmlformats.org/drawingml/2006/main">
            <a:pPr algn="l">
              <a:defRPr sz="863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173" name="solution-divider-2">
            <a:extLst xmlns:a="http://schemas.openxmlformats.org/drawingml/2006/main">
              <a:ext uri="{FF2B5EF4-FFF2-40B4-BE49-F238E27FC236}">
                <a16:creationId xmlns:a16="http://schemas.microsoft.com/office/drawing/2014/main" id="{4C2572B0-9336-45CA-9991-C179A487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8305800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E4"/>
          </a:solidFill>
          <a:ln xmlns:a="http://schemas.openxmlformats.org/drawingml/2006/main" w="0">
            <a:solidFill>
              <a:srgbClr val="B9C9E4"/>
            </a:solidFill>
            <a:prstDash val="solid"/>
          </a:ln>
        </p:spPr>
      </p:sp>
      <p:sp>
        <p:nvSpPr>
          <p:cNvPr id="174" name="check-circle-3">
            <a:extLst xmlns:a="http://schemas.openxmlformats.org/drawingml/2006/main">
              <a:ext uri="{FF2B5EF4-FFF2-40B4-BE49-F238E27FC236}">
                <a16:creationId xmlns:a16="http://schemas.microsoft.com/office/drawing/2014/main" id="{3108C714-D7F6-486A-9978-1C2D0BA1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83629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B2A"/>
          </a:solidFill>
          <a:ln xmlns:a="http://schemas.openxmlformats.org/drawingml/2006/main" w="0">
            <a:solidFill>
              <a:srgbClr val="166B2A"/>
            </a:solidFill>
            <a:prstDash val="solid"/>
          </a:ln>
        </p:spPr>
      </p:sp>
      <p:sp>
        <p:nvSpPr>
          <p:cNvPr id="175" name="check-3">
            <a:extLst xmlns:a="http://schemas.openxmlformats.org/drawingml/2006/main">
              <a:ext uri="{FF2B5EF4-FFF2-40B4-BE49-F238E27FC236}">
                <a16:creationId xmlns:a16="http://schemas.microsoft.com/office/drawing/2014/main" id="{4E642DB0-6E52-4987-96A7-6EE6C9E1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8382000"/>
            <a:ext cx="171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6" name="solution-3">
            <a:extLst xmlns:a="http://schemas.openxmlformats.org/drawingml/2006/main">
              <a:ext uri="{FF2B5EF4-FFF2-40B4-BE49-F238E27FC236}">
                <a16:creationId xmlns:a16="http://schemas.microsoft.com/office/drawing/2014/main" id="{53113979-167E-48C8-9F70-221E972A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334375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Decline</a:t>
            </a:r>
          </a:p>
          <a:p xmlns:a="http://schemas.openxmlformats.org/drawingml/2006/main">
            <a:pPr algn="l">
              <a:defRPr sz="863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Reconsideration</a:t>
            </a:r>
          </a:p>
          <a:p xmlns:a="http://schemas.openxmlformats.org/drawingml/2006/main">
            <a:pPr algn="l">
              <a:defRPr sz="863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Engine</a:t>
            </a:r>
          </a:p>
        </p:txBody>
      </p:sp>
      <p:sp>
        <p:nvSpPr>
          <p:cNvPr id="177" name="solution-divider-3">
            <a:extLst xmlns:a="http://schemas.openxmlformats.org/drawingml/2006/main">
              <a:ext uri="{FF2B5EF4-FFF2-40B4-BE49-F238E27FC236}">
                <a16:creationId xmlns:a16="http://schemas.microsoft.com/office/drawing/2014/main" id="{766EDAA9-CF6D-4F65-8EB7-04733A12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8305800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E4"/>
          </a:solidFill>
          <a:ln xmlns:a="http://schemas.openxmlformats.org/drawingml/2006/main" w="0">
            <a:solidFill>
              <a:srgbClr val="B9C9E4"/>
            </a:solidFill>
            <a:prstDash val="solid"/>
          </a:ln>
        </p:spPr>
      </p:sp>
      <p:sp>
        <p:nvSpPr>
          <p:cNvPr id="178" name="rocket-circle">
            <a:extLst xmlns:a="http://schemas.openxmlformats.org/drawingml/2006/main">
              <a:ext uri="{FF2B5EF4-FFF2-40B4-BE49-F238E27FC236}">
                <a16:creationId xmlns:a16="http://schemas.microsoft.com/office/drawing/2014/main" id="{326E54E5-EF3D-48DA-A153-92CC84F9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81057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955"/>
          </a:solidFill>
          <a:ln xmlns:a="http://schemas.openxmlformats.org/drawingml/2006/main" w="0">
            <a:solidFill>
              <a:srgbClr val="061955"/>
            </a:solidFill>
            <a:prstDash val="solid"/>
          </a:ln>
        </p:spPr>
      </p:sp>
      <p:pic>
        <p:nvPicPr>
          <p:cNvPr id="3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b2d5844b54e64">
            <a:extLst>
              <a:ext uri="{96DAC541-7B7A-43D3-8B79-37D633B846F1}">
                <asvg:svgBlip xmlns:asvg="http://schemas.microsoft.com/office/drawing/2016/SVG/main" r:embed="Rd2b8cd6e9a6446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15275" y="83248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80" name="twenty-plus">
            <a:extLst xmlns:a="http://schemas.openxmlformats.org/drawingml/2006/main">
              <a:ext uri="{FF2B5EF4-FFF2-40B4-BE49-F238E27FC236}">
                <a16:creationId xmlns:a16="http://schemas.microsoft.com/office/drawing/2014/main" id="{1631372F-0230-4B2D-959A-D40BC2E9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82677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5A0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05A00"/>
                </a:solidFill>
                <a:latin typeface="Aptos Display"/>
                <a:ea typeface="Aptos Display"/>
                <a:cs typeface="Aptos Display"/>
              </a:rPr>
              <a:t>20+</a:t>
            </a:r>
          </a:p>
        </p:txBody>
      </p:sp>
      <p:sp>
        <p:nvSpPr>
          <p:cNvPr id="181" name="additional-text">
            <a:extLst xmlns:a="http://schemas.openxmlformats.org/drawingml/2006/main">
              <a:ext uri="{FF2B5EF4-FFF2-40B4-BE49-F238E27FC236}">
                <a16:creationId xmlns:a16="http://schemas.microsoft.com/office/drawing/2014/main" id="{F94C5049-A728-4657-B066-3A4F0FC8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838200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13C"/>
                </a:solidFill>
                <a:latin typeface="Aptos"/>
                <a:ea typeface="Aptos"/>
                <a:cs typeface="Aptos"/>
              </a:rPr>
              <a:t>additional Machine Learning use cases</a:t>
            </a:r>
          </a:p>
        </p:txBody>
      </p:sp>
      <p:sp>
        <p:nvSpPr>
          <p:cNvPr id="182" name="future-copy">
            <a:extLst xmlns:a="http://schemas.openxmlformats.org/drawingml/2006/main">
              <a:ext uri="{FF2B5EF4-FFF2-40B4-BE49-F238E27FC236}">
                <a16:creationId xmlns:a16="http://schemas.microsoft.com/office/drawing/2014/main" id="{88190144-871C-450C-8B77-1C2322D5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86296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identified using existing underwriting, broker, exposure,</a:t>
            </a:r>
          </a:p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occupancy, construction and claims data.</a:t>
            </a:r>
          </a:p>
        </p:txBody>
      </p:sp>
      <p:sp>
        <p:nvSpPr>
          <p:cNvPr id="183" name="note">
            <a:extLst xmlns:a="http://schemas.openxmlformats.org/drawingml/2006/main">
              <a:ext uri="{FF2B5EF4-FFF2-40B4-BE49-F238E27FC236}">
                <a16:creationId xmlns:a16="http://schemas.microsoft.com/office/drawing/2014/main" id="{4AEA6DF8-3091-487C-9C40-8157776C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9448800"/>
            <a:ext cx="752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Note: Use cases are indicative and prioritized based on business impact and data availability.</a:t>
            </a:r>
          </a:p>
        </p:txBody>
      </p:sp>
    </p:spTree>
    <p:extLst>
      <p:ext uri="{BB962C8B-B14F-4D97-AF65-F5344CB8AC3E}">
        <p14:creationId xmlns:p14="http://schemas.microsoft.com/office/powerpoint/2010/main" val="976698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2026-06-15T12:50:18.3470000Z</dcterms:created>
  <dcterms:modified xsi:type="dcterms:W3CDTF">2026-06-15T12:50:18.3480000Z</dcterms:modified>
</coreProperties>
</file>